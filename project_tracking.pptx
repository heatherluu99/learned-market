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1"/>
    <p:sldId id="270" r:id="rId22"/>
    <p:sldId id="271" r:id="rId25"/>
    <p:sldId id="272" r:id="rId26"/>
    <p:sldId id="273" r:id="rId27"/>
    <p:sldId id="274" r:id="rId28"/>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1 — Transaction Mechanics</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Homogeneous agents  ·  git tag: phase1-validated  ·  30 seeds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ALL CRITERIA PASS</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80 (homogeneous)  —  budget 5, price-sensitivity 0.5</a:t>
            </a:r>
          </a:p>
          <a:p>
            <a:pPr>
              <a:spcAft>
                <a:spcPts val="200"/>
              </a:spcAft>
            </a:pPr>
            <a:r>
              <a:rPr sz="1300" b="1">
                <a:solidFill>
                  <a:srgbClr val="1E2761"/>
                </a:solidFill>
                <a:latin typeface="Calibri"/>
              </a:rPr>
              <a:t>Sellers: </a:t>
            </a:r>
            <a:r>
              <a:rPr sz="1300" b="0">
                <a:solidFill>
                  <a:srgbClr val="5B5F6E"/>
                </a:solidFill>
                <a:latin typeface="Calibri"/>
              </a:rPr>
              <a:t>4 (homogeneous)  —  price 3, inventory 120</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None — static baseline, single pass per run</a:t>
            </a:r>
          </a:p>
          <a:p>
            <a:pPr>
              <a:spcAft>
                <a:spcPts val="200"/>
              </a:spcAft>
            </a:pPr>
            <a:r>
              <a:rPr sz="1300" b="0">
                <a:solidFill>
                  <a:srgbClr val="5B5F6E"/>
                </a:solidFill>
                <a:latin typeface="Calibri"/>
              </a:rPr>
              <a:t>-  No environment variation, no context, no history</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Rule-based linear utility + sigmoid purchase probability.</a:t>
            </a:r>
          </a:p>
          <a:p>
            <a:pPr>
              <a:spcAft>
                <a:spcPts val="200"/>
              </a:spcAft>
            </a:pPr>
            <a:r>
              <a:rPr sz="1300" b="0">
                <a:solidFill>
                  <a:srgbClr val="5B5F6E"/>
                </a:solidFill>
                <a:latin typeface="Calibri"/>
              </a:rPr>
              <a:t>No LLM, no learning, no adaptation.</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McFadden (1974), </a:t>
            </a:r>
            <a:r>
              <a:rPr sz="1100" b="0">
                <a:solidFill>
                  <a:srgbClr val="5B5F6E"/>
                </a:solidFill>
                <a:latin typeface="Calibri"/>
              </a:rPr>
              <a:t>“Conditional Logit Analysis of Qualitative Choice Behavior” — random-utility basis for the purchase rule.</a:t>
            </a:r>
          </a:p>
          <a:p>
            <a:pPr>
              <a:spcAft>
                <a:spcPts val="600"/>
              </a:spcAft>
            </a:pPr>
            <a:r>
              <a:rPr sz="1100" b="1">
                <a:solidFill>
                  <a:srgbClr val="1E2761"/>
                </a:solidFill>
                <a:latin typeface="Calibri"/>
              </a:rPr>
              <a:t>Gode &amp; Sunder (1993), </a:t>
            </a:r>
            <a:r>
              <a:rPr sz="1100" b="0">
                <a:solidFill>
                  <a:srgbClr val="5B5F6E"/>
                </a:solidFill>
                <a:latin typeface="Calibri"/>
              </a:rPr>
              <a:t>“Allocative Efficiency of Markets with Zero-Intelligence Traders” (JPE) — mechanics tested with minimal agent intelligence.</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64592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Participation rate (0.6–1.0)</a:t>
                      </a:r>
                    </a:p>
                  </a:txBody>
                  <a:tcPr>
                    <a:solidFill>
                      <a:srgbClr val="FFFFFF"/>
                    </a:solidFill>
                  </a:tcPr>
                </a:tc>
                <a:tc>
                  <a:txBody>
                    <a:bodyPr/>
                    <a:lstStyle/>
                    <a:p>
                      <a:r>
                        <a:rPr sz="1100">
                          <a:solidFill>
                            <a:srgbClr val="5B5F6E"/>
                          </a:solidFill>
                          <a:latin typeface="Calibri"/>
                        </a:rPr>
                        <a:t>0.822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Inventory remaining (of 480)</a:t>
                      </a:r>
                    </a:p>
                  </a:txBody>
                  <a:tcPr>
                    <a:solidFill>
                      <a:srgbClr val="F7F8FC"/>
                    </a:solidFill>
                  </a:tcPr>
                </a:tc>
                <a:tc>
                  <a:txBody>
                    <a:bodyPr/>
                    <a:lstStyle/>
                    <a:p>
                      <a:r>
                        <a:rPr sz="1100">
                          <a:solidFill>
                            <a:srgbClr val="5B5F6E"/>
                          </a:solidFill>
                          <a:latin typeface="Calibri"/>
                        </a:rPr>
                        <a:t>414</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Budget-cap invariant violated?</a:t>
                      </a:r>
                    </a:p>
                  </a:txBody>
                  <a:tcPr>
                    <a:solidFill>
                      <a:srgbClr val="FFFFFF"/>
                    </a:solidFill>
                  </a:tcPr>
                </a:tc>
                <a:tc>
                  <a:txBody>
                    <a:bodyPr/>
                    <a:lstStyle/>
                    <a:p>
                      <a:r>
                        <a:rPr sz="1100">
                          <a:solidFill>
                            <a:srgbClr val="5B5F6E"/>
                          </a:solidFill>
                          <a:latin typeface="Calibri"/>
                        </a:rPr>
                        <a:t>0 buyers</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Running means settle by seed 15 (±1 SEM)</a:t>
                      </a:r>
                    </a:p>
                  </a:txBody>
                  <a:tcPr>
                    <a:solidFill>
                      <a:srgbClr val="F7F8FC"/>
                    </a:solidFill>
                  </a:tcPr>
                </a:tc>
                <a:tc>
                  <a:txBody>
                    <a:bodyPr/>
                    <a:lstStyle/>
                    <a:p>
                      <a:r>
                        <a:rPr sz="1100">
                          <a:solidFill>
                            <a:srgbClr val="5B5F6E"/>
                          </a:solidFill>
                          <a:latin typeface="Calibri"/>
                        </a:rPr>
                        <a:t>seed 11</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Stock-blocked sales, pressure run</a:t>
                      </a:r>
                    </a:p>
                  </a:txBody>
                  <a:tcPr>
                    <a:solidFill>
                      <a:srgbClr val="FFFFFF"/>
                    </a:solidFill>
                  </a:tcPr>
                </a:tc>
                <a:tc>
                  <a:txBody>
                    <a:bodyPr/>
                    <a:lstStyle/>
                    <a:p>
                      <a:r>
                        <a:rPr sz="1100">
                          <a:solidFill>
                            <a:srgbClr val="5B5F6E"/>
                          </a:solidFill>
                          <a:latin typeface="Calibri"/>
                        </a:rPr>
                        <a:t>1,101</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 buyers purchase, do sellers sell, does price affect demand, does inventory constrain sales, and are transactions recorded correctly?</a:t>
            </a:r>
          </a:p>
          <a:p>
            <a:pPr>
              <a:spcAft>
                <a:spcPts val="500"/>
              </a:spcAft>
            </a:pPr>
            <a:r>
              <a:rPr sz="1000" b="1">
                <a:solidFill>
                  <a:srgbClr val="1E2761"/>
                </a:solidFill>
                <a:latin typeface="Calibri"/>
              </a:rPr>
              <a:t>Finding: </a:t>
            </a:r>
            <a:r>
              <a:rPr sz="1000" b="0">
                <a:solidFill>
                  <a:srgbClr val="5B5F6E"/>
                </a:solidFill>
                <a:latin typeface="Calibri"/>
              </a:rPr>
              <a:t>Mechanics behave as specified. 82.2% of buyers transact, no buyer ever exceeds budget, and the slowest of the four run-summary metrics' running means settles within 1 SEM by seed 11.</a:t>
            </a:r>
          </a:p>
          <a:p>
            <a:pPr>
              <a:spcAft>
                <a:spcPts val="500"/>
              </a:spcAft>
            </a:pPr>
            <a:r>
              <a:rPr sz="1000" b="1">
                <a:solidFill>
                  <a:srgbClr val="1E2761"/>
                </a:solidFill>
                <a:latin typeface="Calibri"/>
              </a:rPr>
              <a:t>Caveat: </a:t>
            </a:r>
            <a:r>
              <a:rPr sz="1000" b="0">
                <a:solidFill>
                  <a:srgbClr val="5B5F6E"/>
                </a:solidFill>
                <a:latin typeface="Calibri"/>
              </a:rPr>
              <a:t>Inventory cannot bind in the main run — budget 5 against price 3 caps demand at 80 units versus 480 in stock, so the inventory clause of the question is unanswered by it. A paired inventory=15 run blocked 1,101 sales on empty stock, confirming the constraint is enforced when it can bind.</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2 — Linear Consumer Heterogeneity</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Three buyer classes, two seller tiers  ·  git tag: phase2-validated  ·  30 seeds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ALL CRITERIA PASS</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(7:2:1); budget 3/7/10, α 0.85/0.5/0.2</a:t>
            </a:r>
          </a:p>
          <a:p>
            <a:pPr>
              <a:spcAft>
                <a:spcPts val="200"/>
              </a:spcAft>
            </a:pPr>
            <a:r>
              <a:rPr sz="1300" b="1">
                <a:solidFill>
                  <a:srgbClr val="1E2761"/>
                </a:solidFill>
                <a:latin typeface="Calibri"/>
              </a:rPr>
              <a:t>Sellers: </a:t>
            </a:r>
            <a:r>
              <a:rPr sz="1300" b="0">
                <a:solidFill>
                  <a:srgbClr val="5B5F6E"/>
                </a:solidFill>
                <a:latin typeface="Calibri"/>
              </a:rPr>
              <a:t>5 — Slow ×3 (price 2, inv 130) / Shigh ×2 (price 6, inv 70)</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None — static baseline, single pass per run</a:t>
            </a:r>
          </a:p>
          <a:p>
            <a:pPr>
              <a:spcAft>
                <a:spcPts val="200"/>
              </a:spcAft>
            </a:pPr>
            <a:r>
              <a:rPr sz="1300" b="0">
                <a:solidFill>
                  <a:srgbClr val="5B5F6E"/>
                </a:solidFill>
                <a:latin typeface="Calibri"/>
              </a:rPr>
              <a:t>-  No environment variation, no context, no history</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Rule-based linear utility + sigmoid, per-class parameters.</a:t>
            </a:r>
          </a:p>
          <a:p>
            <a:pPr>
              <a:spcAft>
                <a:spcPts val="200"/>
              </a:spcAft>
            </a:pPr>
            <a:r>
              <a:rPr sz="1300" b="0">
                <a:solidFill>
                  <a:srgbClr val="5B5F6E"/>
                </a:solidFill>
                <a:latin typeface="Calibri"/>
              </a:rPr>
              <a:t>price_reference = max(2, 6) = 6, market-wide.</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McFadden (1974), </a:t>
            </a:r>
            <a:r>
              <a:rPr sz="1100" b="0">
                <a:solidFill>
                  <a:srgbClr val="5B5F6E"/>
                </a:solidFill>
                <a:latin typeface="Calibri"/>
              </a:rPr>
              <a:t>“Conditional Logit Analysis of Qualitative Choice Behavior” — the same random-utility framework as Phase 1.</a:t>
            </a:r>
          </a:p>
          <a:p>
            <a:pPr>
              <a:spcAft>
                <a:spcPts val="600"/>
              </a:spcAft>
            </a:pPr>
            <a:r>
              <a:rPr sz="1100" b="1">
                <a:solidFill>
                  <a:srgbClr val="1E2761"/>
                </a:solidFill>
                <a:latin typeface="Calibri"/>
              </a:rPr>
              <a:t>Train, </a:t>
            </a:r>
            <a:r>
              <a:rPr sz="1100" b="0">
                <a:solidFill>
                  <a:srgbClr val="5B5F6E"/>
                </a:solidFill>
                <a:latin typeface="Calibri"/>
              </a:rPr>
              <a:t>“Discrete Choice Methods with Simulation” — heterogeneous per-class parameter extensions of RUM.</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Participation rate (0.6–1.0)</a:t>
                      </a:r>
                    </a:p>
                  </a:txBody>
                  <a:tcPr>
                    <a:solidFill>
                      <a:srgbClr val="FFFFFF"/>
                    </a:solidFill>
                  </a:tcPr>
                </a:tc>
                <a:tc>
                  <a:txBody>
                    <a:bodyPr/>
                    <a:lstStyle/>
                    <a:p>
                      <a:r>
                        <a:rPr sz="1100">
                          <a:solidFill>
                            <a:srgbClr val="5B5F6E"/>
                          </a:solidFill>
                          <a:latin typeface="Calibri"/>
                        </a:rPr>
                        <a:t>0.816</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Stratification: Rich−Middle to Shigh</a:t>
                      </a:r>
                    </a:p>
                  </a:txBody>
                  <a:tcPr>
                    <a:solidFill>
                      <a:srgbClr val="F7F8FC"/>
                    </a:solidFill>
                  </a:tcPr>
                </a:tc>
                <a:tc>
                  <a:txBody>
                    <a:bodyPr/>
                    <a:lstStyle/>
                    <a:p>
                      <a:r>
                        <a:rPr sz="1100">
                          <a:solidFill>
                            <a:srgbClr val="5B5F6E"/>
                          </a:solidFill>
                          <a:latin typeface="Calibri"/>
                        </a:rPr>
                        <a:t>+0.088</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  its 95% CI (must exclude 0)</a:t>
                      </a:r>
                    </a:p>
                  </a:txBody>
                  <a:tcPr>
                    <a:solidFill>
                      <a:srgbClr val="FFFFFF"/>
                    </a:solidFill>
                  </a:tcPr>
                </a:tc>
                <a:tc>
                  <a:txBody>
                    <a:bodyPr/>
                    <a:lstStyle/>
                    <a:p>
                      <a:r>
                        <a:rPr sz="1100">
                          <a:solidFill>
                            <a:srgbClr val="5B5F6E"/>
                          </a:solidFill>
                          <a:latin typeface="Calibri"/>
                        </a:rPr>
                        <a:t>[+0.05, +0.12]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Shigh sellers not sold out</a:t>
                      </a:r>
                    </a:p>
                  </a:txBody>
                  <a:tcPr>
                    <a:solidFill>
                      <a:srgbClr val="F7F8FC"/>
                    </a:solidFill>
                  </a:tcPr>
                </a:tc>
                <a:tc>
                  <a:txBody>
                    <a:bodyPr/>
                    <a:lstStyle/>
                    <a:p>
                      <a:r>
                        <a:rPr sz="1100">
                          <a:solidFill>
                            <a:srgbClr val="5B5F6E"/>
                          </a:solidFill>
                          <a:latin typeface="Calibri"/>
                        </a:rPr>
                        <a:t>min 58</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Middle split to Shigh (no bar)</a:t>
                      </a:r>
                    </a:p>
                  </a:txBody>
                  <a:tcPr>
                    <a:solidFill>
                      <a:srgbClr val="FFFFFF"/>
                    </a:solidFill>
                  </a:tcPr>
                </a:tc>
                <a:tc>
                  <a:txBody>
                    <a:bodyPr/>
                    <a:lstStyle/>
                    <a:p>
                      <a:r>
                        <a:rPr sz="1100">
                          <a:solidFill>
                            <a:srgbClr val="5B5F6E"/>
                          </a:solidFill>
                          <a:latin typeface="Calibri"/>
                        </a:rPr>
                        <a:t>0.232</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Poor to Shigh (affordability wall)</a:t>
                      </a:r>
                    </a:p>
                  </a:txBody>
                  <a:tcPr>
                    <a:solidFill>
                      <a:srgbClr val="F7F8FC"/>
                    </a:solidFill>
                  </a:tcPr>
                </a:tc>
                <a:tc>
                  <a:txBody>
                    <a:bodyPr/>
                    <a:lstStyle/>
                    <a:p>
                      <a:r>
                        <a:rPr sz="1100">
                          <a:solidFill>
                            <a:srgbClr val="5B5F6E"/>
                          </a:solidFill>
                          <a:latin typeface="Calibri"/>
                        </a:rPr>
                        <a:t>0.000</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person-level heterogeneity alone produce different purchasing patterns, and specifically economic stratification?</a:t>
            </a:r>
          </a:p>
          <a:p>
            <a:pPr>
              <a:spcAft>
                <a:spcPts val="500"/>
              </a:spcAft>
            </a:pPr>
            <a:r>
              <a:rPr sz="1000" b="1">
                <a:solidFill>
                  <a:srgbClr val="1E2761"/>
                </a:solidFill>
                <a:latin typeface="Calibri"/>
              </a:rPr>
              <a:t>Finding: </a:t>
            </a:r>
            <a:r>
              <a:rPr sz="1000" b="0">
                <a:solidFill>
                  <a:srgbClr val="5B5F6E"/>
                </a:solidFill>
                <a:latin typeface="Calibri"/>
              </a:rPr>
              <a:t>Yes, but mostly through budgets. Richer buyers reach the premium tier more than poorer ones (+0.088, CI excludes 0), and all 3 graded criteria pass.</a:t>
            </a:r>
          </a:p>
          <a:p>
            <a:pPr>
              <a:spcAft>
                <a:spcPts val="500"/>
              </a:spcAft>
            </a:pPr>
            <a:r>
              <a:rPr sz="1000" b="1">
                <a:solidFill>
                  <a:srgbClr val="1E2761"/>
                </a:solidFill>
                <a:latin typeface="Calibri"/>
              </a:rPr>
              <a:t>Caveat: </a:t>
            </a:r>
            <a:r>
              <a:rPr sz="1000" b="0">
                <a:solidFill>
                  <a:srgbClr val="5B5F6E"/>
                </a:solidFill>
                <a:latin typeface="Calibri"/>
              </a:rPr>
              <a:t>Only ~27% of the gap is price sensitivity: equalizing α across classes leaves +0.065 of it standing, so budget heterogeneity does the rest. Poor's 0.000 Shigh share is an affordability wall (budget 3 &lt; price 6), unchanged by any α, and is not evidence for the price-sensitivity mechanism.</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3 — Person + Environment</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Stall position drives visibility  ·  git tag: phase3-validated  ·  30 seeds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ALL CRITERIA PASS</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unchanged from Phase 2</a:t>
            </a:r>
          </a:p>
          <a:p>
            <a:pPr>
              <a:spcAft>
                <a:spcPts val="200"/>
              </a:spcAft>
            </a:pPr>
            <a:r>
              <a:rPr sz="1300" b="1">
                <a:solidFill>
                  <a:srgbClr val="1E2761"/>
                </a:solidFill>
                <a:latin typeface="Calibri"/>
              </a:rPr>
              <a:t>Sellers: </a:t>
            </a:r>
            <a:r>
              <a:rPr sz="1300" b="0">
                <a:solidFill>
                  <a:srgbClr val="5B5F6E"/>
                </a:solidFill>
                <a:latin typeface="Calibri"/>
              </a:rPr>
              <a:t>5 — Slow ×3 (2 near @0.9, 1 far @0.3) / Shigh ×2 (1 near @0.8, 1 far @0.3)</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Seller position_score → visibility_prob = 0.5 + 0.5 × position</a:t>
            </a:r>
          </a:p>
          <a:p>
            <a:pPr>
              <a:spcAft>
                <a:spcPts val="200"/>
              </a:spcAft>
            </a:pPr>
            <a:r>
              <a:rPr sz="1300" b="0">
                <a:solidFill>
                  <a:srgbClr val="5B5F6E"/>
                </a:solidFill>
                <a:latin typeface="Calibri"/>
              </a:rPr>
              <a:t>-  Unnoticed stalls are skipped, not declined. No context, no history.</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Phase 2's utility and parameters, unchanged, behind a visibility gate.</a:t>
            </a:r>
          </a:p>
          <a:p>
            <a:pPr>
              <a:spcAft>
                <a:spcPts val="200"/>
              </a:spcAft>
            </a:pPr>
            <a:r>
              <a:rPr sz="1300" b="0">
                <a:solidFill>
                  <a:srgbClr val="5B5F6E"/>
                </a:solidFill>
                <a:latin typeface="Calibri"/>
              </a:rPr>
              <a:t>Visibility drawn last, so Phases 1–2 stay reproducible and this pairs with Phase 2.</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Huff (1963, 1964), </a:t>
            </a:r>
            <a:r>
              <a:rPr sz="1100" b="0">
                <a:solidFill>
                  <a:srgbClr val="5B5F6E"/>
                </a:solidFill>
                <a:latin typeface="Calibri"/>
              </a:rPr>
              <a:t>gravity-based retail trade-area model — basis for visibility declining with distance from the entrance.</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64592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Participation rate (0.6–1.0)</a:t>
                      </a:r>
                    </a:p>
                  </a:txBody>
                  <a:tcPr>
                    <a:solidFill>
                      <a:srgbClr val="FFFFFF"/>
                    </a:solidFill>
                  </a:tcPr>
                </a:tc>
                <a:tc>
                  <a:txBody>
                    <a:bodyPr/>
                    <a:lstStyle/>
                    <a:p>
                      <a:r>
                        <a:rPr sz="1100">
                          <a:solidFill>
                            <a:srgbClr val="5B5F6E"/>
                          </a:solidFill>
                          <a:latin typeface="Calibri"/>
                        </a:rPr>
                        <a:t>0.752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Slow: near − far n_sold</a:t>
                      </a:r>
                    </a:p>
                  </a:txBody>
                  <a:tcPr>
                    <a:solidFill>
                      <a:srgbClr val="F7F8FC"/>
                    </a:solidFill>
                  </a:tcPr>
                </a:tc>
                <a:tc>
                  <a:txBody>
                    <a:bodyPr/>
                    <a:lstStyle/>
                    <a:p>
                      <a:r>
                        <a:rPr sz="1100">
                          <a:solidFill>
                            <a:srgbClr val="5B5F6E"/>
                          </a:solidFill>
                          <a:latin typeface="Calibri"/>
                        </a:rPr>
                        <a:t>+8.53</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Shigh: near − far n_sold</a:t>
                      </a:r>
                    </a:p>
                  </a:txBody>
                  <a:tcPr>
                    <a:solidFill>
                      <a:srgbClr val="FFFFFF"/>
                    </a:solidFill>
                  </a:tcPr>
                </a:tc>
                <a:tc>
                  <a:txBody>
                    <a:bodyPr/>
                    <a:lstStyle/>
                    <a:p>
                      <a:r>
                        <a:rPr sz="1100">
                          <a:solidFill>
                            <a:srgbClr val="5B5F6E"/>
                          </a:solidFill>
                          <a:latin typeface="Calibri"/>
                        </a:rPr>
                        <a:t>+2.13</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Class→tier share shift vs Phase 2</a:t>
                      </a:r>
                    </a:p>
                  </a:txBody>
                  <a:tcPr>
                    <a:solidFill>
                      <a:srgbClr val="F7F8FC"/>
                    </a:solidFill>
                  </a:tcPr>
                </a:tc>
                <a:tc>
                  <a:txBody>
                    <a:bodyPr/>
                    <a:lstStyle/>
                    <a:p>
                      <a:r>
                        <a:rPr sz="1100">
                          <a:solidFill>
                            <a:srgbClr val="5B5F6E"/>
                          </a:solidFill>
                          <a:latin typeface="Calibri"/>
                        </a:rPr>
                        <a:t>CI incl. 0</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Participation shift vs Phase 2</a:t>
                      </a:r>
                    </a:p>
                  </a:txBody>
                  <a:tcPr>
                    <a:solidFill>
                      <a:srgbClr val="FFFFFF"/>
                    </a:solidFill>
                  </a:tcPr>
                </a:tc>
                <a:tc>
                  <a:txBody>
                    <a:bodyPr/>
                    <a:lstStyle/>
                    <a:p>
                      <a:r>
                        <a:rPr sz="1100">
                          <a:solidFill>
                            <a:srgbClr val="5B5F6E"/>
                          </a:solidFill>
                          <a:latin typeface="Calibri"/>
                        </a:rPr>
                        <a:t>-0.065</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one environmental feature change purchase distribution beyond what person-level heterogeneity already explains?</a:t>
            </a:r>
          </a:p>
          <a:p>
            <a:pPr>
              <a:spcAft>
                <a:spcPts val="500"/>
              </a:spcAft>
            </a:pPr>
            <a:r>
              <a:rPr sz="1000" b="1">
                <a:solidFill>
                  <a:srgbClr val="1E2761"/>
                </a:solidFill>
                <a:latin typeface="Calibri"/>
              </a:rPr>
              <a:t>Finding: </a:t>
            </a:r>
            <a:r>
              <a:rPr sz="1000" b="0">
                <a:solidFill>
                  <a:srgbClr val="5B5F6E"/>
                </a:solidFill>
                <a:latin typeface="Calibri"/>
              </a:rPr>
              <a:t>It changes which seller, not which tier. Near stalls outsell far ones in both tiers, while class-to-tier sorting is statistically unmoved (every shift's 95% CI contains zero, none wider than ±0.032).</a:t>
            </a:r>
          </a:p>
          <a:p>
            <a:pPr>
              <a:spcAft>
                <a:spcPts val="500"/>
              </a:spcAft>
            </a:pPr>
            <a:r>
              <a:rPr sz="1000" b="1">
                <a:solidFill>
                  <a:srgbClr val="1E2761"/>
                </a:solidFill>
                <a:latin typeface="Calibri"/>
              </a:rPr>
              <a:t>Caveat: </a:t>
            </a:r>
            <a:r>
              <a:rPr sz="1000" b="0">
                <a:solidFill>
                  <a:srgbClr val="5B5F6E"/>
                </a:solidFill>
                <a:latin typeface="Calibri"/>
              </a:rPr>
              <a:t>The null share shift is a pre-registered valid outcome, not a failure. The phase's largest effect is ungraded: participation falls -0.065 (CI [-0.073, -0.056]) because unnoticed stalls cannot be bought from. Note also that this position assignment gives Slow a tier-level visibility edge (0.850 vs 0.775), so a different assignment would move tier shares differently.</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4 — Person + Environment + Context</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Temporary 30% promotion  ·  git tag: phase4-validated  ·  30 seeds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ALL CRITERIA PASS</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unchanged from Phase 2</a:t>
            </a:r>
          </a:p>
          <a:p>
            <a:pPr>
              <a:spcAft>
                <a:spcPts val="200"/>
              </a:spcAft>
            </a:pPr>
            <a:r>
              <a:rPr sz="1300" b="1">
                <a:solidFill>
                  <a:srgbClr val="1E2761"/>
                </a:solidFill>
                <a:latin typeface="Calibri"/>
              </a:rPr>
              <a:t>Sellers: </a:t>
            </a:r>
            <a:r>
              <a:rPr sz="1300" b="0">
                <a:solidFill>
                  <a:srgbClr val="5B5F6E"/>
                </a:solidFill>
                <a:latin typeface="Calibri"/>
              </a:rPr>
              <a:t>5 — Slow ×3 / Shigh ×2, positions unchanged from Phase 3</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Phase 3's position → visibility, unchanged</a:t>
            </a:r>
          </a:p>
          <a:p>
            <a:pPr>
              <a:spcAft>
                <a:spcPts val="200"/>
              </a:spcAft>
            </a:pPr>
            <a:r>
              <a:rPr sz="1300" b="0">
                <a:solidFill>
                  <a:srgbClr val="5B5F6E"/>
                </a:solidFill>
                <a:latin typeface="Calibri"/>
              </a:rPr>
              <a:t>-  Context: 30% discount on one random stall, probability 0.2 per run</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Phase 3's utility, unchanged; discount applies to the posted price.</a:t>
            </a:r>
          </a:p>
          <a:p>
            <a:pPr>
              <a:spcAft>
                <a:spcPts val="200"/>
              </a:spcAft>
            </a:pPr>
            <a:r>
              <a:rPr sz="1300" b="0">
                <a:solidFill>
                  <a:srgbClr val="5B5F6E"/>
                </a:solidFill>
                <a:latin typeface="Calibri"/>
              </a:rPr>
              <a:t>Criteria graded on paired forced-promotion arms, not the 0.2 lottery.</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Belk (1975), </a:t>
            </a:r>
            <a:r>
              <a:rPr sz="1100" b="0">
                <a:solidFill>
                  <a:srgbClr val="5B5F6E"/>
                </a:solidFill>
                <a:latin typeface="Calibri"/>
              </a:rPr>
              <a:t>“Situational Variables and Consumer Behavior” (JCR) — basis for a transient promotion as a situational variable, distinct from stable person or environment features.</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64592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Participation rate (0.6–1.0)</a:t>
                      </a:r>
                    </a:p>
                  </a:txBody>
                  <a:tcPr>
                    <a:solidFill>
                      <a:srgbClr val="FFFFFF"/>
                    </a:solidFill>
                  </a:tcPr>
                </a:tc>
                <a:tc>
                  <a:txBody>
                    <a:bodyPr/>
                    <a:lstStyle/>
                    <a:p>
                      <a:r>
                        <a:rPr sz="1100">
                          <a:solidFill>
                            <a:srgbClr val="5B5F6E"/>
                          </a:solidFill>
                          <a:latin typeface="Calibri"/>
                        </a:rPr>
                        <a:t>0.752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Promotion lift, all 5 sellers</a:t>
                      </a:r>
                    </a:p>
                  </a:txBody>
                  <a:tcPr>
                    <a:solidFill>
                      <a:srgbClr val="F7F8FC"/>
                    </a:solidFill>
                  </a:tcPr>
                </a:tc>
                <a:tc>
                  <a:txBody>
                    <a:bodyPr/>
                    <a:lstStyle/>
                    <a:p>
                      <a:r>
                        <a:rPr sz="1100">
                          <a:solidFill>
                            <a:srgbClr val="5B5F6E"/>
                          </a:solidFill>
                          <a:latin typeface="Calibri"/>
                        </a:rPr>
                        <a:t>+1.97 to +3.37</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Slow promoted → Poor (predicted)</a:t>
                      </a:r>
                    </a:p>
                  </a:txBody>
                  <a:tcPr>
                    <a:solidFill>
                      <a:srgbClr val="FFFFFF"/>
                    </a:solidFill>
                  </a:tcPr>
                </a:tc>
                <a:tc>
                  <a:txBody>
                    <a:bodyPr/>
                    <a:lstStyle/>
                    <a:p>
                      <a:r>
                        <a:rPr sz="1100">
                          <a:solidFill>
                            <a:srgbClr val="5B5F6E"/>
                          </a:solidFill>
                          <a:latin typeface="Calibri"/>
                        </a:rPr>
                        <a:t>+2.57 vs +0.43</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Shigh promoted → Middle (predicted)</a:t>
                      </a:r>
                    </a:p>
                  </a:txBody>
                  <a:tcPr>
                    <a:solidFill>
                      <a:srgbClr val="F7F8FC"/>
                    </a:solidFill>
                  </a:tcPr>
                </a:tc>
                <a:tc>
                  <a:txBody>
                    <a:bodyPr/>
                    <a:lstStyle/>
                    <a:p>
                      <a:r>
                        <a:rPr sz="1100">
                          <a:solidFill>
                            <a:srgbClr val="5B5F6E"/>
                          </a:solidFill>
                          <a:latin typeface="Calibri"/>
                        </a:rPr>
                        <a:t>+2.50 vs +0.43</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Market arm: runs with a promotion</a:t>
                      </a:r>
                    </a:p>
                  </a:txBody>
                  <a:tcPr>
                    <a:solidFill>
                      <a:srgbClr val="FFFFFF"/>
                    </a:solidFill>
                  </a:tcPr>
                </a:tc>
                <a:tc>
                  <a:txBody>
                    <a:bodyPr/>
                    <a:lstStyle/>
                    <a:p>
                      <a:r>
                        <a:rPr sz="1100">
                          <a:solidFill>
                            <a:srgbClr val="5B5F6E"/>
                          </a:solidFill>
                          <a:latin typeface="Calibri"/>
                        </a:rPr>
                        <a:t>6/30</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a transient promotion shift buyer distribution beyond person + environment, and is its effect a level shift or a class interaction?</a:t>
            </a:r>
          </a:p>
          <a:p>
            <a:pPr>
              <a:spcAft>
                <a:spcPts val="500"/>
              </a:spcAft>
            </a:pPr>
            <a:r>
              <a:rPr sz="1000" b="1">
                <a:solidFill>
                  <a:srgbClr val="1E2761"/>
                </a:solidFill>
                <a:latin typeface="Calibri"/>
              </a:rPr>
              <a:t>Finding: </a:t>
            </a:r>
            <a:r>
              <a:rPr sz="1000" b="0">
                <a:solidFill>
                  <a:srgbClr val="5B5F6E"/>
                </a:solidFill>
                <a:latin typeface="Calibri"/>
              </a:rPr>
              <a:t>An interaction, decisively. Lift concentrates in the lowest-budget class that can afford the discounted stall — Poor at Slow (+2.57 vs +0.37 for Rich), Middle at Shigh (+2.50 vs +0.43). Both responders were predicted from the parameters before the runs.</a:t>
            </a:r>
          </a:p>
          <a:p>
            <a:pPr>
              <a:spcAft>
                <a:spcPts val="500"/>
              </a:spcAft>
            </a:pPr>
            <a:r>
              <a:rPr sz="1000" b="1">
                <a:solidFill>
                  <a:srgbClr val="1E2761"/>
                </a:solidFill>
                <a:latin typeface="Calibri"/>
              </a:rPr>
              <a:t>Caveat: </a:t>
            </a:r>
            <a:r>
              <a:rPr sz="1000" b="0">
                <a:solidFill>
                  <a:srgbClr val="5B5F6E"/>
                </a:solidFill>
                <a:latin typeface="Calibri"/>
              </a:rPr>
              <a:t>The specified 0.2 lottery cannot measure this: it fired 6 times in 30 runs, distributed [4, 0, 0, 1, 1], leaving sellers never promoted at all. Criteria are graded on paired forced arms instead; the lottery is kept as the market Phase 5 inherits. Poor's +0.03 at a promoted Shigh stall is arithmetic — 6 × 0.7 = 4.2 still exceeds its budget of 3 — not insensitivity to promotions.</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5 — Nonlinear Behavioural Effects</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Budget cliff vs linear  ·  git tag: phase5-validated  ·  30 seeds (1000 where undecided)</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ROLLBACK TO LINEAR</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unchanged from Phase 2</a:t>
            </a:r>
          </a:p>
          <a:p>
            <a:pPr>
              <a:spcAft>
                <a:spcPts val="200"/>
              </a:spcAft>
            </a:pPr>
            <a:r>
              <a:rPr sz="1300" b="1">
                <a:solidFill>
                  <a:srgbClr val="1E2761"/>
                </a:solidFill>
                <a:latin typeface="Calibri"/>
              </a:rPr>
              <a:t>Sellers: </a:t>
            </a:r>
            <a:r>
              <a:rPr sz="1300" b="0">
                <a:solidFill>
                  <a:srgbClr val="5B5F6E"/>
                </a:solidFill>
                <a:latin typeface="Calibri"/>
              </a:rPr>
              <a:t>5 — Slow ×3 / Shigh ×2, positions and promotion unchanged</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Phase 3 visibility and Phase 4 promotion, both unchanged</a:t>
            </a:r>
          </a:p>
          <a:p>
            <a:pPr>
              <a:spcAft>
                <a:spcPts val="200"/>
              </a:spcAft>
            </a:pPr>
            <a:r>
              <a:rPr sz="1300" b="0">
                <a:solidFill>
                  <a:srgbClr val="5B5F6E"/>
                </a:solidFill>
                <a:latin typeface="Calibri"/>
              </a:rPr>
              <a:t>-  Only how remaining budget enters utility differs across arms</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Cliff: utility −= 1.0 when (budget_remaining − price) &lt; 0.5.</a:t>
            </a:r>
          </a:p>
          <a:p>
            <a:pPr>
              <a:spcAft>
                <a:spcPts val="200"/>
              </a:spcAft>
            </a:pPr>
            <a:r>
              <a:rPr sz="1300" b="0">
                <a:solidFill>
                  <a:srgbClr val="5B5F6E"/>
                </a:solidFill>
                <a:latin typeface="Calibri"/>
              </a:rPr>
              <a:t>Three arms — linear / linear+cliff / cliff-only — same seeds, exactly paired.</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Kahneman &amp; Tversky (1979), </a:t>
            </a:r>
            <a:r>
              <a:rPr sz="1100" b="0">
                <a:solidFill>
                  <a:srgbClr val="5B5F6E"/>
                </a:solidFill>
                <a:latin typeface="Calibri"/>
              </a:rPr>
              <a:t>“Prospect Theory” (Econometrica) — basis for a reference-point penalty near budget exhaustion.</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64592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Participation rate (0.6–1.0)</a:t>
                      </a:r>
                    </a:p>
                  </a:txBody>
                  <a:tcPr>
                    <a:solidFill>
                      <a:srgbClr val="FFFFFF"/>
                    </a:solidFill>
                  </a:tcPr>
                </a:tc>
                <a:tc>
                  <a:txBody>
                    <a:bodyPr/>
                    <a:lstStyle/>
                    <a:p>
                      <a:r>
                        <a:rPr sz="1100">
                          <a:solidFill>
                            <a:srgbClr val="5B5F6E"/>
                          </a:solidFill>
                          <a:latin typeface="Calibri"/>
                        </a:rPr>
                        <a:t>0.739</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linear+cliff: largest share shift</a:t>
                      </a:r>
                    </a:p>
                  </a:txBody>
                  <a:tcPr>
                    <a:solidFill>
                      <a:srgbClr val="F7F8FC"/>
                    </a:solidFill>
                  </a:tcPr>
                </a:tc>
                <a:tc>
                  <a:txBody>
                    <a:bodyPr/>
                    <a:lstStyle/>
                    <a:p>
                      <a:r>
                        <a:rPr sz="1100">
                          <a:solidFill>
                            <a:srgbClr val="5B5F6E"/>
                          </a:solidFill>
                          <a:latin typeface="Calibri"/>
                        </a:rPr>
                        <a:t>-1.64 pp</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  its 95% CI vs ±5 pp margin</a:t>
                      </a:r>
                    </a:p>
                  </a:txBody>
                  <a:tcPr>
                    <a:solidFill>
                      <a:srgbClr val="FFFFFF"/>
                    </a:solidFill>
                  </a:tcPr>
                </a:tc>
                <a:tc>
                  <a:txBody>
                    <a:bodyPr/>
                    <a:lstStyle/>
                    <a:p>
                      <a:r>
                        <a:rPr sz="1100">
                          <a:solidFill>
                            <a:srgbClr val="5B5F6E"/>
                          </a:solidFill>
                          <a:latin typeface="Calibri"/>
                        </a:rPr>
                        <a:t>[-2.4, -0.9]</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cliff-only @1000 seeds: largest shift</a:t>
                      </a:r>
                    </a:p>
                  </a:txBody>
                  <a:tcPr>
                    <a:solidFill>
                      <a:srgbClr val="F7F8FC"/>
                    </a:solidFill>
                  </a:tcPr>
                </a:tc>
                <a:tc>
                  <a:txBody>
                    <a:bodyPr/>
                    <a:lstStyle/>
                    <a:p>
                      <a:r>
                        <a:rPr sz="1100">
                          <a:solidFill>
                            <a:srgbClr val="5B5F6E"/>
                          </a:solidFill>
                          <a:latin typeface="Calibri"/>
                        </a:rPr>
                        <a:t>+1.78 pp</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Purchases that reached the cliff</a:t>
                      </a:r>
                    </a:p>
                  </a:txBody>
                  <a:tcPr>
                    <a:solidFill>
                      <a:srgbClr val="FFFFFF"/>
                    </a:solidFill>
                  </a:tcPr>
                </a:tc>
                <a:tc>
                  <a:txBody>
                    <a:bodyPr/>
                    <a:lstStyle/>
                    <a:p>
                      <a:r>
                        <a:rPr sz="1100">
                          <a:solidFill>
                            <a:srgbClr val="5B5F6E"/>
                          </a:solidFill>
                          <a:latin typeface="Calibri"/>
                        </a:rPr>
                        <a:t>111/2656 (4.2%)</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one nonlinear mechanism — a budget cliff — materially change conclusions versus the linear model used in Phases 2–4?</a:t>
            </a:r>
          </a:p>
          <a:p>
            <a:pPr>
              <a:spcAft>
                <a:spcPts val="500"/>
              </a:spcAft>
            </a:pPr>
            <a:r>
              <a:rPr sz="1000" b="1">
                <a:solidFill>
                  <a:srgbClr val="1E2761"/>
                </a:solidFill>
                <a:latin typeface="Calibri"/>
              </a:rPr>
              <a:t>Finding: </a:t>
            </a:r>
            <a:r>
              <a:rPr sz="1000" b="0">
                <a:solidFill>
                  <a:srgbClr val="5B5F6E"/>
                </a:solidFill>
                <a:latin typeface="Calibri"/>
              </a:rPr>
              <a:t>No, under both readings of the spec. Every tracked class-share shift's 95% CI lies inside ±5 pp, so a material effect is ruled out rather than merely unobserved. The project rolls back to the linear model for Phase 6 onward, not linear-plus-an-inert-threshold.</a:t>
            </a:r>
          </a:p>
          <a:p>
            <a:pPr>
              <a:spcAft>
                <a:spcPts val="500"/>
              </a:spcAft>
            </a:pPr>
            <a:r>
              <a:rPr sz="1000" b="1">
                <a:solidFill>
                  <a:srgbClr val="1E2761"/>
                </a:solidFill>
                <a:latin typeface="Calibri"/>
              </a:rPr>
              <a:t>Caveat: </a:t>
            </a:r>
            <a:r>
              <a:rPr sz="1000" b="0">
                <a:solidFill>
                  <a:srgbClr val="5B5F6E"/>
                </a:solidFill>
                <a:latin typeface="Calibri"/>
              </a:rPr>
              <a:t>The cliff cannot fire on any buyer's first purchase at these parameters (smallest first-purchase gap is 1.0 against a 0.5 threshold), so it reached only 4.2% of purchases. That is why the effect is small here, not evidence that threshold effects are unimportant. The cliff-only arm was undecided at 30 seeds — point estimate 4.68 pp with a CI reaching 6.36 — and needed 1000 seeds to settle at +1.78 pp.</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6 — Repeated Interaction</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22-week season, accumulating memory  ·  git tag: phase6-validated  ·  30 seeds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ALL CRITERIA PASS</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attendance 0.85 / 0.84 / 0.82</a:t>
            </a:r>
          </a:p>
          <a:p>
            <a:pPr>
              <a:spcAft>
                <a:spcPts val="200"/>
              </a:spcAft>
            </a:pPr>
            <a:r>
              <a:rPr sz="1300" b="1">
                <a:solidFill>
                  <a:srgbClr val="1E2761"/>
                </a:solidFill>
                <a:latin typeface="Calibri"/>
              </a:rPr>
              <a:t>Sellers: </a:t>
            </a:r>
            <a:r>
              <a:rPr sz="1300" b="0">
                <a:solidFill>
                  <a:srgbClr val="5B5F6E"/>
                </a:solidFill>
                <a:latin typeface="Calibri"/>
              </a:rPr>
              <a:t>5 — Slow ×3 / Shigh ×2, positions and promotion from Phases 3–4</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Time axis: 22 weeks, one season. Budget and inventory reset weekly.</a:t>
            </a:r>
          </a:p>
          <a:p>
            <a:pPr>
              <a:spcAft>
                <a:spcPts val="200"/>
              </a:spcAft>
            </a:pPr>
            <a:r>
              <a:rPr sz="1300" b="0">
                <a:solidFill>
                  <a:srgbClr val="5B5F6E"/>
                </a:solidFill>
                <a:latin typeface="Calibri"/>
              </a:rPr>
              <a:t>-  Memory persists across weeks, including weeks a buyer sits out.</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Loyalty bonus 0.5 × min(streak, 3), max 1.5 = preference_coef.</a:t>
            </a:r>
          </a:p>
          <a:p>
            <a:pPr>
              <a:spcAft>
                <a:spcPts val="200"/>
              </a:spcAft>
            </a:pPr>
            <a:r>
              <a:rPr sz="1300" b="0">
                <a:solidFill>
                  <a:srgbClr val="5B5F6E"/>
                </a:solidFill>
                <a:latin typeface="Calibri"/>
              </a:rPr>
              <a:t>Linear single-week model, per Phase 5's rollback. Graded vs a no-loyalty control.</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Massy, Montgomery &amp; Morrison (1970), </a:t>
            </a:r>
            <a:r>
              <a:rPr sz="1100" b="0">
                <a:solidFill>
                  <a:srgbClr val="5B5F6E"/>
                </a:solidFill>
                <a:latin typeface="Calibri"/>
              </a:rPr>
              <a:t>“Stochastic Models of Buying Behavior” (MIT Press) — loyalty and switching dynamics in repeated purchasing.</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purchase_rate (0.6–1.0)</a:t>
                      </a:r>
                    </a:p>
                  </a:txBody>
                  <a:tcPr>
                    <a:solidFill>
                      <a:srgbClr val="FFFFFF"/>
                    </a:solidFill>
                  </a:tcPr>
                </a:tc>
                <a:tc>
                  <a:txBody>
                    <a:bodyPr/>
                    <a:lstStyle/>
                    <a:p>
                      <a:r>
                        <a:rPr sz="1100">
                          <a:solidFill>
                            <a:srgbClr val="5B5F6E"/>
                          </a:solidFill>
                          <a:latin typeface="Calibri"/>
                        </a:rPr>
                        <a:t>0.692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attendance_rate (reported)</a:t>
                      </a:r>
                    </a:p>
                  </a:txBody>
                  <a:tcPr>
                    <a:solidFill>
                      <a:srgbClr val="F7F8FC"/>
                    </a:solidFill>
                  </a:tcPr>
                </a:tc>
                <a:tc>
                  <a:txBody>
                    <a:bodyPr/>
                    <a:lstStyle/>
                    <a:p>
                      <a:r>
                        <a:rPr sz="1100">
                          <a:solidFill>
                            <a:srgbClr val="5B5F6E"/>
                          </a:solidFill>
                          <a:latin typeface="Calibri"/>
                        </a:rPr>
                        <a:t>0.845</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Stability vs no-loyalty control</a:t>
                      </a:r>
                    </a:p>
                  </a:txBody>
                  <a:tcPr>
                    <a:solidFill>
                      <a:srgbClr val="FFFFFF"/>
                    </a:solidFill>
                  </a:tcPr>
                </a:tc>
                <a:tc>
                  <a:txBody>
                    <a:bodyPr/>
                    <a:lstStyle/>
                    <a:p>
                      <a:r>
                        <a:rPr sz="1100">
                          <a:solidFill>
                            <a:srgbClr val="5B5F6E"/>
                          </a:solidFill>
                          <a:latin typeface="Calibri"/>
                        </a:rPr>
                        <a:t>+0.109</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its 95% CI</a:t>
                      </a:r>
                    </a:p>
                  </a:txBody>
                  <a:tcPr>
                    <a:solidFill>
                      <a:srgbClr val="F7F8FC"/>
                    </a:solidFill>
                  </a:tcPr>
                </a:tc>
                <a:tc>
                  <a:txBody>
                    <a:bodyPr/>
                    <a:lstStyle/>
                    <a:p>
                      <a:r>
                        <a:rPr sz="1100">
                          <a:solidFill>
                            <a:srgbClr val="5B5F6E"/>
                          </a:solidFill>
                          <a:latin typeface="Calibri"/>
                        </a:rPr>
                        <a:t>[+0.105, +0.112]</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Rise, week 1 → weeks 17–21</a:t>
                      </a:r>
                    </a:p>
                  </a:txBody>
                  <a:tcPr>
                    <a:solidFill>
                      <a:srgbClr val="FFFFFF"/>
                    </a:solidFill>
                  </a:tcPr>
                </a:tc>
                <a:tc>
                  <a:txBody>
                    <a:bodyPr/>
                    <a:lstStyle/>
                    <a:p>
                      <a:r>
                        <a:rPr sz="1100">
                          <a:solidFill>
                            <a:srgbClr val="5B5F6E"/>
                          </a:solidFill>
                          <a:latin typeface="Calibri"/>
                        </a:rPr>
                        <a:t>+0.042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Plateau week</a:t>
                      </a:r>
                    </a:p>
                  </a:txBody>
                  <a:tcPr>
                    <a:solidFill>
                      <a:srgbClr val="F7F8FC"/>
                    </a:solidFill>
                  </a:tcPr>
                </a:tc>
                <a:tc>
                  <a:txBody>
                    <a:bodyPr/>
                    <a:lstStyle/>
                    <a:p>
                      <a:r>
                        <a:rPr sz="1100">
                          <a:solidFill>
                            <a:srgbClr val="5B5F6E"/>
                          </a:solidFill>
                          <a:latin typeface="Calibri"/>
                        </a:rPr>
                        <a:t>week 15</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buyer memory change future behaviour and produce stable buyer–seller relationships over time?</a:t>
            </a:r>
          </a:p>
          <a:p>
            <a:pPr>
              <a:spcAft>
                <a:spcPts val="500"/>
              </a:spcAft>
            </a:pPr>
            <a:r>
              <a:rPr sz="1000" b="1">
                <a:solidFill>
                  <a:srgbClr val="1E2761"/>
                </a:solidFill>
                <a:latin typeface="Calibri"/>
              </a:rPr>
              <a:t>Finding: </a:t>
            </a:r>
            <a:r>
              <a:rPr sz="1000" b="0">
                <a:solidFill>
                  <a:srgbClr val="5B5F6E"/>
                </a:solidFill>
                <a:latin typeface="Calibri"/>
              </a:rPr>
              <a:t>Yes. Memory raises pair stability from 0.316 to 0.425 against an identical no-loyalty control on the same seeds — +0.109, CI [+0.105, +0.112].</a:t>
            </a:r>
          </a:p>
          <a:p>
            <a:pPr>
              <a:spcAft>
                <a:spcPts val="500"/>
              </a:spcAft>
            </a:pPr>
            <a:r>
              <a:rPr sz="1000" b="1">
                <a:solidFill>
                  <a:srgbClr val="1E2761"/>
                </a:solidFill>
                <a:latin typeface="Calibri"/>
              </a:rPr>
              <a:t>Caveat: </a:t>
            </a:r>
            <a:r>
              <a:rPr sz="1000" b="0">
                <a:solidFill>
                  <a:srgbClr val="5B5F6E"/>
                </a:solidFill>
                <a:latin typeface="Calibri"/>
              </a:rPr>
              <a:t>The control's own 0.316 is not memory: unequal seller popularity and season-long fixed preference produce most of it, so the raw level must never be read as a loyalty effect. The within-season rise (+0.042) is weak and window-sensitive — it fails at a weeks 1–2 early window, and its window was narrowed post-hoc after the pre-registered one failed. Lead with the control comparison, not the rise.</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Seller Learning — 7a Heuristic Pricing</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Profit hill-climbing, 3 seasons  ·  git tag: phase7a-validated  ·  30 seeds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ALL CRITERIA PASS</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unchanged from Phase 6</a:t>
            </a:r>
          </a:p>
          <a:p>
            <a:pPr>
              <a:spcAft>
                <a:spcPts val="200"/>
              </a:spcAft>
            </a:pPr>
            <a:r>
              <a:rPr sz="1300" b="1">
                <a:solidFill>
                  <a:srgbClr val="1E2761"/>
                </a:solidFill>
                <a:latin typeface="Calibri"/>
              </a:rPr>
              <a:t>Sellers: </a:t>
            </a:r>
            <a:r>
              <a:rPr sz="1300" b="0">
                <a:solidFill>
                  <a:srgbClr val="5B5F6E"/>
                </a:solidFill>
                <a:latin typeface="Calibri"/>
              </a:rPr>
              <a:t>5 — now with costs: unit cost half the initial price, 10/week fixed</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66 weeks (3 seasons). Price persists across weeks; stock and budget reset.</a:t>
            </a:r>
          </a:p>
          <a:p>
            <a:pPr>
              <a:spcAft>
                <a:spcPts val="200"/>
              </a:spcAft>
            </a:pPr>
            <a:r>
              <a:rPr sz="1300" b="0">
                <a:solidFill>
                  <a:srgbClr val="5B5F6E"/>
                </a:solidFill>
                <a:latin typeface="Calibri"/>
              </a:rPr>
              <a:t>-  Phase 3 visibility, Phase 4 promotion, Phase 6 memory all unchanged.</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Move price ±5% the way it moved last week while profit improves.</a:t>
            </a:r>
          </a:p>
          <a:p>
            <a:pPr>
              <a:spcAft>
                <a:spcPts val="200"/>
              </a:spcAft>
            </a:pPr>
            <a:r>
              <a:rPr sz="1300" b="0">
                <a:solidFill>
                  <a:srgbClr val="5B5F6E"/>
                </a:solidFill>
                <a:latin typeface="Calibri"/>
              </a:rPr>
              <a:t>Act only on a change beyond the seller's own 8-week noise; floor at unit cost.</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den Boer (2015), </a:t>
            </a:r>
            <a:r>
              <a:rPr sz="1100" b="0">
                <a:solidFill>
                  <a:srgbClr val="5B5F6E"/>
                </a:solidFill>
                <a:latin typeface="Calibri"/>
              </a:rPr>
              <a:t>“Dynamic Pricing and Learning” — heuristic, non-optimizing adaptive pricing as the stage before formal learning algorithms.</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purchase_rate (0.6–1.0)</a:t>
                      </a:r>
                    </a:p>
                  </a:txBody>
                  <a:tcPr>
                    <a:solidFill>
                      <a:srgbClr val="FFFFFF"/>
                    </a:solidFill>
                  </a:tcPr>
                </a:tc>
                <a:tc>
                  <a:txBody>
                    <a:bodyPr/>
                    <a:lstStyle/>
                    <a:p>
                      <a:r>
                        <a:rPr sz="1100">
                          <a:solidFill>
                            <a:srgbClr val="5B5F6E"/>
                          </a:solidFill>
                          <a:latin typeface="Calibri"/>
                        </a:rPr>
                        <a:t>0.679</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Final price ÷ initial</a:t>
                      </a:r>
                    </a:p>
                  </a:txBody>
                  <a:tcPr>
                    <a:solidFill>
                      <a:srgbClr val="F7F8FC"/>
                    </a:solidFill>
                  </a:tcPr>
                </a:tc>
                <a:tc>
                  <a:txBody>
                    <a:bodyPr/>
                    <a:lstStyle/>
                    <a:p>
                      <a:r>
                        <a:rPr sz="1100">
                          <a:solidFill>
                            <a:srgbClr val="5B5F6E"/>
                          </a:solidFill>
                          <a:latin typeface="Calibri"/>
                        </a:rPr>
                        <a:t>0.75–1.51×</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Lowest premium price vs Poor's budget</a:t>
                      </a:r>
                    </a:p>
                  </a:txBody>
                  <a:tcPr>
                    <a:solidFill>
                      <a:srgbClr val="FFFFFF"/>
                    </a:solidFill>
                  </a:tcPr>
                </a:tc>
                <a:tc>
                  <a:txBody>
                    <a:bodyPr/>
                    <a:lstStyle/>
                    <a:p>
                      <a:r>
                        <a:rPr sz="1100">
                          <a:solidFill>
                            <a:srgbClr val="5B5F6E"/>
                          </a:solidFill>
                          <a:latin typeface="Calibri"/>
                        </a:rPr>
                        <a:t>4.26 vs 3</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Weekly profit vs fixed price</a:t>
                      </a:r>
                    </a:p>
                  </a:txBody>
                  <a:tcPr>
                    <a:solidFill>
                      <a:srgbClr val="F7F8FC"/>
                    </a:solidFill>
                  </a:tcPr>
                </a:tc>
                <a:tc>
                  <a:txBody>
                    <a:bodyPr/>
                    <a:lstStyle/>
                    <a:p>
                      <a:r>
                        <a:rPr sz="1100">
                          <a:solidFill>
                            <a:srgbClr val="5B5F6E"/>
                          </a:solidFill>
                          <a:latin typeface="Calibri"/>
                        </a:rPr>
                        <a:t>48.4 → 60.9</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  its 95% CI</a:t>
                      </a:r>
                    </a:p>
                  </a:txBody>
                  <a:tcPr>
                    <a:solidFill>
                      <a:srgbClr val="FFFFFF"/>
                    </a:solidFill>
                  </a:tcPr>
                </a:tc>
                <a:tc>
                  <a:txBody>
                    <a:bodyPr/>
                    <a:lstStyle/>
                    <a:p>
                      <a:r>
                        <a:rPr sz="1100">
                          <a:solidFill>
                            <a:srgbClr val="5B5F6E"/>
                          </a:solidFill>
                          <a:latin typeface="Calibri"/>
                        </a:rPr>
                        <a:t>[+10.6, +14.5]</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Slow price reached (optimum 3.00)</a:t>
                      </a:r>
                    </a:p>
                  </a:txBody>
                  <a:tcPr>
                    <a:solidFill>
                      <a:srgbClr val="F7F8FC"/>
                    </a:solidFill>
                  </a:tcPr>
                </a:tc>
                <a:tc>
                  <a:txBody>
                    <a:bodyPr/>
                    <a:lstStyle/>
                    <a:p>
                      <a:r>
                        <a:rPr sz="1100">
                          <a:solidFill>
                            <a:srgbClr val="5B5F6E"/>
                          </a:solidFill>
                          <a:latin typeface="Calibri"/>
                        </a:rPr>
                        <a:t>2.34</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stateful policy learning produce market structures that cannot emerge from myopic bandit optimization? 7a sets the heuristic baseline.</a:t>
            </a:r>
          </a:p>
          <a:p>
            <a:pPr>
              <a:spcAft>
                <a:spcPts val="500"/>
              </a:spcAft>
            </a:pPr>
            <a:r>
              <a:rPr sz="1000" b="1">
                <a:solidFill>
                  <a:srgbClr val="1E2761"/>
                </a:solidFill>
                <a:latin typeface="Calibri"/>
              </a:rPr>
              <a:t>Finding: </a:t>
            </a:r>
            <a:r>
              <a:rPr sz="1000" b="0">
                <a:solidFill>
                  <a:srgbClr val="5B5F6E"/>
                </a:solidFill>
                <a:latin typeface="Calibri"/>
              </a:rPr>
              <a:t>A non-learning heuristic already captures +12.5 profit per week over fixed pricing, CI [+10.6, +14.5], and stops at 2.34 — short of the 3.00 optimum. That gap is what 7b–7d have to win.</a:t>
            </a:r>
          </a:p>
          <a:p>
            <a:pPr>
              <a:spcAft>
                <a:spcPts val="500"/>
              </a:spcAft>
            </a:pPr>
            <a:r>
              <a:rPr sz="1000" b="1">
                <a:solidFill>
                  <a:srgbClr val="1E2761"/>
                </a:solidFill>
                <a:latin typeface="Calibri"/>
              </a:rPr>
              <a:t>Caveat: </a:t>
            </a:r>
            <a:r>
              <a:rPr sz="1000" b="0">
                <a:solidFill>
                  <a:srgbClr val="5B5F6E"/>
                </a:solidFill>
                <a:latin typeface="Calibri"/>
              </a:rPr>
              <a:t>Two rules were rejected first. The specified one — raise if stock ran out, cut if half is left — fired its raise branch 0 times in 330 seller-weeks and collapsed prices to 0.036× initial, fabricating 1,987 Poor purchases at the premium tier. The ungated hill climber drifted a 3-units-a-week stall to 3.5× its price on noise. Since 7b–7d are all graded against 7a, either would have poisoned three gates at once.</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Seller Learning — 7b Multi-Armed Bandit</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Context-blind bandit vs the 7a heuristic  ·  git tag: phase7b-validated  ·  1000 seeds (escalated from 30)</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GRADUATE TO 7c</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unchanged from Phase 6</a:t>
            </a:r>
          </a:p>
          <a:p>
            <a:pPr>
              <a:spcAft>
                <a:spcPts val="200"/>
              </a:spcAft>
            </a:pPr>
            <a:r>
              <a:rPr sz="1300" b="1">
                <a:solidFill>
                  <a:srgbClr val="1E2761"/>
                </a:solidFill>
                <a:latin typeface="Calibri"/>
              </a:rPr>
              <a:t>Sellers: </a:t>
            </a:r>
            <a:r>
              <a:rPr sz="1300" b="0">
                <a:solidFill>
                  <a:srgbClr val="5B5F6E"/>
                </a:solidFill>
                <a:latin typeface="Calibri"/>
              </a:rPr>
              <a:t>5 — costs unchanged from 7a; price chosen from 5 fixed arms</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Arms {0.8, 0.9, 1, 1.1, 1.2} × initial price. Slow ceiling 2.40.</a:t>
            </a:r>
          </a:p>
          <a:p>
            <a:pPr>
              <a:spcAft>
                <a:spcPts val="200"/>
              </a:spcAft>
            </a:pPr>
            <a:r>
              <a:rPr sz="1300" b="0">
                <a:solidFill>
                  <a:srgbClr val="5B5F6E"/>
                </a:solidFill>
                <a:latin typeface="Calibri"/>
              </a:rPr>
              <a:t>-  Deliberately context-blind: no buyer-class or environment information.</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Weekly profit as reward; every arm pulled once before any exploiting.</a:t>
            </a:r>
          </a:p>
          <a:p>
            <a:pPr>
              <a:spcAft>
                <a:spcPts val="200"/>
              </a:spcAft>
            </a:pPr>
            <a:r>
              <a:rPr sz="1300" b="0">
                <a:solidFill>
                  <a:srgbClr val="5B5F6E"/>
                </a:solidFill>
                <a:latin typeface="Calibri"/>
              </a:rPr>
              <a:t>Both ε-greedy and UCB1 run — the spec left the choice open.</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Robbins (1952), </a:t>
            </a:r>
            <a:r>
              <a:rPr sz="1100" b="0">
                <a:solidFill>
                  <a:srgbClr val="5B5F6E"/>
                </a:solidFill>
                <a:latin typeface="Calibri"/>
              </a:rPr>
              <a:t>“Some Aspects of the Sequential Design of Experiments” (Bull. AMS) — origin of the multi-armed bandit problem.</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ε-greedy profit vs 7a</a:t>
                      </a:r>
                    </a:p>
                  </a:txBody>
                  <a:tcPr>
                    <a:solidFill>
                      <a:srgbClr val="FFFFFF"/>
                    </a:solidFill>
                  </a:tcPr>
                </a:tc>
                <a:tc>
                  <a:txBody>
                    <a:bodyPr/>
                    <a:lstStyle/>
                    <a:p>
                      <a:r>
                        <a:rPr sz="1100">
                          <a:solidFill>
                            <a:srgbClr val="5B5F6E"/>
                          </a:solidFill>
                          <a:latin typeface="Calibri"/>
                        </a:rPr>
                        <a:t>+7.9%</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its 95% CI vs ±5% margin</a:t>
                      </a:r>
                    </a:p>
                  </a:txBody>
                  <a:tcPr>
                    <a:solidFill>
                      <a:srgbClr val="F7F8FC"/>
                    </a:solidFill>
                  </a:tcPr>
                </a:tc>
                <a:tc>
                  <a:txBody>
                    <a:bodyPr/>
                    <a:lstStyle/>
                    <a:p>
                      <a:r>
                        <a:rPr sz="1100">
                          <a:solidFill>
                            <a:srgbClr val="5B5F6E"/>
                          </a:solidFill>
                          <a:latin typeface="Calibri"/>
                        </a:rPr>
                        <a:t>[+7.2%, +8.5%]</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UCB1 profit vs 7a</a:t>
                      </a:r>
                    </a:p>
                  </a:txBody>
                  <a:tcPr>
                    <a:solidFill>
                      <a:srgbClr val="FFFFFF"/>
                    </a:solidFill>
                  </a:tcPr>
                </a:tc>
                <a:tc>
                  <a:txBody>
                    <a:bodyPr/>
                    <a:lstStyle/>
                    <a:p>
                      <a:r>
                        <a:rPr sz="1100">
                          <a:solidFill>
                            <a:srgbClr val="5B5F6E"/>
                          </a:solidFill>
                          <a:latin typeface="Calibri"/>
                        </a:rPr>
                        <a:t>+11.2%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its 95% CI vs ±5% margin</a:t>
                      </a:r>
                    </a:p>
                  </a:txBody>
                  <a:tcPr>
                    <a:solidFill>
                      <a:srgbClr val="F7F8FC"/>
                    </a:solidFill>
                  </a:tcPr>
                </a:tc>
                <a:tc>
                  <a:txBody>
                    <a:bodyPr/>
                    <a:lstStyle/>
                    <a:p>
                      <a:r>
                        <a:rPr sz="1100">
                          <a:solidFill>
                            <a:srgbClr val="5B5F6E"/>
                          </a:solidFill>
                          <a:latin typeface="Calibri"/>
                        </a:rPr>
                        <a:t>[+10.5%, +11.9%]</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Class shares vs 7a</a:t>
                      </a:r>
                    </a:p>
                  </a:txBody>
                  <a:tcPr>
                    <a:solidFill>
                      <a:srgbClr val="FFFFFF"/>
                    </a:solidFill>
                  </a:tcPr>
                </a:tc>
                <a:tc>
                  <a:txBody>
                    <a:bodyPr/>
                    <a:lstStyle/>
                    <a:p>
                      <a:r>
                        <a:rPr sz="1100">
                          <a:solidFill>
                            <a:srgbClr val="5B5F6E"/>
                          </a:solidFill>
                          <a:latin typeface="Calibri"/>
                        </a:rPr>
                        <a:t>equivalent</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Slow price reached (optimum 3.00)</a:t>
                      </a:r>
                    </a:p>
                  </a:txBody>
                  <a:tcPr>
                    <a:solidFill>
                      <a:srgbClr val="F7F8FC"/>
                    </a:solidFill>
                  </a:tcPr>
                </a:tc>
                <a:tc>
                  <a:txBody>
                    <a:bodyPr/>
                    <a:lstStyle/>
                    <a:p>
                      <a:r>
                        <a:rPr sz="1100">
                          <a:solidFill>
                            <a:srgbClr val="5B5F6E"/>
                          </a:solidFill>
                          <a:latin typeface="Calibri"/>
                        </a:rPr>
                        <a:t>2.36 vs ceiling 2.40</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treating price choice as a bandit problem outperform the 7a heuristic, without using any market context?</a:t>
            </a:r>
          </a:p>
          <a:p>
            <a:pPr>
              <a:spcAft>
                <a:spcPts val="500"/>
              </a:spcAft>
            </a:pPr>
            <a:r>
              <a:rPr sz="1000" b="1">
                <a:solidFill>
                  <a:srgbClr val="1E2761"/>
                </a:solidFill>
                <a:latin typeface="Calibri"/>
              </a:rPr>
              <a:t>Finding: </a:t>
            </a:r>
            <a:r>
              <a:rPr sz="1000" b="0">
                <a:solidFill>
                  <a:srgbClr val="5B5F6E"/>
                </a:solidFill>
                <a:latin typeface="Calibri"/>
              </a:rPr>
              <a:t>Yes on profit, no on structure. Both algorithms clear the ±5% margin — ε-greedy +7.9%, UCB1 +11.2% — while every class-to-tier share stays equivalent to 7a. Myopic optimization raises the seller's own profit without changing the market.</a:t>
            </a:r>
          </a:p>
          <a:p>
            <a:pPr>
              <a:spcAft>
                <a:spcPts val="500"/>
              </a:spcAft>
            </a:pPr>
            <a:r>
              <a:rPr sz="1000" b="1">
                <a:solidFill>
                  <a:srgbClr val="1E2761"/>
                </a:solidFill>
                <a:latin typeface="Calibri"/>
              </a:rPr>
              <a:t>Caveat: </a:t>
            </a:r>
            <a:r>
              <a:rPr sz="1000" b="0">
                <a:solidFill>
                  <a:srgbClr val="5B5F6E"/>
                </a:solidFill>
                <a:latin typeface="Calibri"/>
              </a:rPr>
              <a:t>The bandit stops at 2.36, its arm ceiling, while the profit optimum is 3.00 — exactly Poor's budget. Its binding limit is the fixed local hypothesis space, not the learning rule, and widening the arms to reach the optimum would encode the answer. What moved the result was initialization, not the algorithm: without an initial sweep ε-greedy swings 12.8/week and appears to lose to 7a.</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Seller Learning — 7d Reinforcement Learning</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Multi-week return vs the myopic bandit  ·  git tag: phase7d-validated  ·  train 1000–1119, evaluate 0–29</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NULL — STOP AT 7b</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dispersed budgets</a:t>
            </a:r>
          </a:p>
          <a:p>
            <a:pPr>
              <a:spcAft>
                <a:spcPts val="200"/>
              </a:spcAft>
            </a:pPr>
            <a:r>
              <a:rPr sz="1300" b="1">
                <a:solidFill>
                  <a:srgbClr val="1E2761"/>
                </a:solidFill>
                <a:latin typeface="Calibri"/>
              </a:rPr>
              <a:t>Sellers: </a:t>
            </a:r>
            <a:r>
              <a:rPr sz="1300" b="0">
                <a:solidFill>
                  <a:srgbClr val="5B5F6E"/>
                </a:solidFill>
                <a:latin typeface="Calibri"/>
              </a:rPr>
              <a:t>5 — same arms and costs as 7b, so only the horizon differs</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66 weeks. Loyalty is a 3-week capped counter that resets on a switch.</a:t>
            </a:r>
          </a:p>
          <a:p>
            <a:pPr>
              <a:spcAft>
                <a:spcPts val="200"/>
              </a:spcAft>
            </a:pPr>
            <a:r>
              <a:rPr sz="1300" b="0">
                <a:solidFill>
                  <a:srgbClr val="5B5F6E"/>
                </a:solidFill>
                <a:latin typeface="Calibri"/>
              </a:rPr>
              <a:t>-  7c skipped: no external market state predicts which arm is best.</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PyTorch Q-network on a 10-week discounted return (γ = 0.9).</a:t>
            </a:r>
          </a:p>
          <a:p>
            <a:pPr>
              <a:spcAft>
                <a:spcPts val="200"/>
              </a:spcAft>
            </a:pPr>
            <a:r>
              <a:rPr sz="1300" b="0">
                <a:solidFill>
                  <a:srgbClr val="5B5F6E"/>
                </a:solidFill>
                <a:latin typeface="Calibri"/>
              </a:rPr>
              <a:t>State is the seller's own loyal count, last arm, last profit, week.</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den Boer &amp; Zwart (2015), </a:t>
            </a:r>
            <a:r>
              <a:rPr sz="1100" b="0">
                <a:solidFill>
                  <a:srgbClr val="5B5F6E"/>
                </a:solidFill>
                <a:latin typeface="Calibri"/>
              </a:rPr>
              <a:t>“Dynamic Pricing and Learning with Finite Inventories” (Op. Res.) — learning to price under a finite-inventory constraint.</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7a heuristic</a:t>
                      </a:r>
                    </a:p>
                  </a:txBody>
                  <a:tcPr>
                    <a:solidFill>
                      <a:srgbClr val="FFFFFF"/>
                    </a:solidFill>
                  </a:tcPr>
                </a:tc>
                <a:tc>
                  <a:txBody>
                    <a:bodyPr/>
                    <a:lstStyle/>
                    <a:p>
                      <a:r>
                        <a:rPr sz="1100">
                          <a:solidFill>
                            <a:srgbClr val="5B5F6E"/>
                          </a:solidFill>
                          <a:latin typeface="Calibri"/>
                        </a:rPr>
                        <a:t>60.9/wk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7b UCB1 bandit</a:t>
                      </a:r>
                    </a:p>
                  </a:txBody>
                  <a:tcPr>
                    <a:solidFill>
                      <a:srgbClr val="F7F8FC"/>
                    </a:solidFill>
                  </a:tcPr>
                </a:tc>
                <a:tc>
                  <a:txBody>
                    <a:bodyPr/>
                    <a:lstStyle/>
                    <a:p>
                      <a:r>
                        <a:rPr sz="1100">
                          <a:solidFill>
                            <a:srgbClr val="5B5F6E"/>
                          </a:solidFill>
                          <a:latin typeface="Calibri"/>
                        </a:rPr>
                        <a:t>66.0/wk</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7d RL, held-out seeds</a:t>
                      </a:r>
                    </a:p>
                  </a:txBody>
                  <a:tcPr>
                    <a:solidFill>
                      <a:srgbClr val="FFFFFF"/>
                    </a:solidFill>
                  </a:tcPr>
                </a:tc>
                <a:tc>
                  <a:txBody>
                    <a:bodyPr/>
                    <a:lstStyle/>
                    <a:p>
                      <a:r>
                        <a:rPr sz="1100">
                          <a:solidFill>
                            <a:srgbClr val="5B5F6E"/>
                          </a:solidFill>
                          <a:latin typeface="Calibri"/>
                        </a:rPr>
                        <a:t>65.2/wk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RL vs bandit</a:t>
                      </a:r>
                    </a:p>
                  </a:txBody>
                  <a:tcPr>
                    <a:solidFill>
                      <a:srgbClr val="F7F8FC"/>
                    </a:solidFill>
                  </a:tcPr>
                </a:tc>
                <a:tc>
                  <a:txBody>
                    <a:bodyPr/>
                    <a:lstStyle/>
                    <a:p>
                      <a:r>
                        <a:rPr sz="1100">
                          <a:solidFill>
                            <a:srgbClr val="5B5F6E"/>
                          </a:solidFill>
                          <a:latin typeface="Calibri"/>
                        </a:rPr>
                        <a:t>-1.3%</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  its 95% CI vs ±5%</a:t>
                      </a:r>
                    </a:p>
                  </a:txBody>
                  <a:tcPr>
                    <a:solidFill>
                      <a:srgbClr val="FFFFFF"/>
                    </a:solidFill>
                  </a:tcPr>
                </a:tc>
                <a:tc>
                  <a:txBody>
                    <a:bodyPr/>
                    <a:lstStyle/>
                    <a:p>
                      <a:r>
                        <a:rPr sz="1100">
                          <a:solidFill>
                            <a:srgbClr val="5B5F6E"/>
                          </a:solidFill>
                          <a:latin typeface="Calibri"/>
                        </a:rPr>
                        <a:t>[-2.8%, +0.1%]</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Week–price correlation</a:t>
                      </a:r>
                    </a:p>
                  </a:txBody>
                  <a:tcPr>
                    <a:solidFill>
                      <a:srgbClr val="F7F8FC"/>
                    </a:solidFill>
                  </a:tcPr>
                </a:tc>
                <a:tc>
                  <a:txBody>
                    <a:bodyPr/>
                    <a:lstStyle/>
                    <a:p>
                      <a:r>
                        <a:rPr sz="1100">
                          <a:solidFill>
                            <a:srgbClr val="5B5F6E"/>
                          </a:solidFill>
                          <a:latin typeface="Calibri"/>
                        </a:rPr>
                        <a:t>RL 0.30 vs bandit 0.42</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optimizing cumulative multi-week reward change pricing behaviour or outcomes relative to per-week optimization?</a:t>
            </a:r>
          </a:p>
          <a:p>
            <a:pPr>
              <a:spcAft>
                <a:spcPts val="500"/>
              </a:spcAft>
            </a:pPr>
            <a:r>
              <a:rPr sz="1000" b="1">
                <a:solidFill>
                  <a:srgbClr val="1E2761"/>
                </a:solidFill>
                <a:latin typeface="Calibri"/>
              </a:rPr>
              <a:t>Finding: </a:t>
            </a:r>
            <a:r>
              <a:rPr sz="1000" b="0">
                <a:solidFill>
                  <a:srgbClr val="5B5F6E"/>
                </a:solidFill>
                <a:latin typeface="Calibri"/>
              </a:rPr>
              <a:t>No — equivalent at -1.3%, CI [-2.8%, +0.1%]. A ten-week horizon converges to what the myopic bandit already found, and the sacrifice-then-recover trajectory is absent (2.24 early vs 2.28 late).</a:t>
            </a:r>
          </a:p>
          <a:p>
            <a:pPr>
              <a:spcAft>
                <a:spcPts val="500"/>
              </a:spcAft>
            </a:pPr>
            <a:r>
              <a:rPr sz="1000" b="1">
                <a:solidFill>
                  <a:srgbClr val="1E2761"/>
                </a:solidFill>
                <a:latin typeface="Calibri"/>
              </a:rPr>
              <a:t>Caveat: </a:t>
            </a:r>
            <a:r>
              <a:rPr sz="1000" b="0">
                <a:solidFill>
                  <a:srgbClr val="5B5F6E"/>
                </a:solidFill>
                <a:latin typeface="Calibri"/>
              </a:rPr>
              <a:t>The pre-registered signature does not measure what it was meant to: any learner climbing toward a better arm produces a rising price path, and the *myopic* bandit scores higher on it (0.42) than the RL agent (0.30). The null itself traces to loyalty_streak_cap = 3 — a bounded counter that resets on one switch is not a stock, so there is nothing to invest in. Phase 7e tests that directly.</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Mechanism Sufficiency — 7e-1 Calibration</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A second environment where loyalty is a stock  ·  git tag: phase7e1-calibrated  ·  30 seeds x 66 weeks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GATE 1 PASSED</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dispersed budgets</a:t>
            </a:r>
          </a:p>
          <a:p>
            <a:pPr>
              <a:spcAft>
                <a:spcPts val="200"/>
              </a:spcAft>
            </a:pPr>
            <a:r>
              <a:rPr sz="1300" b="1">
                <a:solidFill>
                  <a:srgbClr val="1E2761"/>
                </a:solidFill>
                <a:latin typeface="Calibri"/>
              </a:rPr>
              <a:t>Sellers: </a:t>
            </a:r>
            <a:r>
              <a:rPr sz="1300" b="0">
                <a:solidFill>
                  <a:srgbClr val="5B5F6E"/>
                </a:solidFill>
                <a:latin typeface="Calibri"/>
              </a:rPr>
              <a:t>5 — flat prices, so this measures the mechanism not a learner</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Loyalty is a per-pair stock: decays at rho, saturates through tanh,</a:t>
            </a:r>
          </a:p>
          <a:p>
            <a:pPr>
              <a:spcAft>
                <a:spcPts val="200"/>
              </a:spcAft>
            </a:pPr>
            <a:r>
              <a:rPr sz="1300" b="0">
                <a:solidFill>
                  <a:srgbClr val="5B5F6E"/>
                </a:solidFill>
                <a:latin typeface="Calibri"/>
              </a:rPr>
              <a:t>   and accrues more from a cheaper purchase. It never resets to zero.</a:t>
            </a:r>
          </a:p>
          <a:p>
            <a:pPr>
              <a:spcAft>
                <a:spcPts val="200"/>
              </a:spcAft>
            </a:pPr>
            <a:r>
              <a:rPr sz="1300" b="0">
                <a:solidFill>
                  <a:srgbClr val="5B5F6E"/>
                </a:solidFill>
                <a:latin typeface="Calibri"/>
              </a:rPr>
              <a:t>-  The base environment's counter runs alongside as the reference cell.</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L_max is solved per cell so incumbency advantage matches the counter's,</a:t>
            </a:r>
          </a:p>
          <a:p>
            <a:pPr>
              <a:spcAft>
                <a:spcPts val="200"/>
              </a:spcAft>
            </a:pPr>
            <a:r>
              <a:rPr sz="1300" b="0">
                <a:solidFill>
                  <a:srgbClr val="5B5F6E"/>
                </a:solidFill>
                <a:latin typeface="Calibri"/>
              </a:rPr>
              <a:t>then rho is swept with beta holding the steady-state stock fixed.</a:t>
            </a:r>
          </a:p>
          <a:p>
            <a:pPr>
              <a:spcAft>
                <a:spcPts val="200"/>
              </a:spcAft>
            </a:pPr>
            <a:r>
              <a:rPr sz="1300" b="0">
                <a:solidFill>
                  <a:srgbClr val="5B5F6E"/>
                </a:solidFill>
                <a:latin typeface="Calibri"/>
              </a:rPr>
              <a:t>Gate: excess repeat rate at lag 8 vs the memory-OFF twin, same seeds.</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Guadagni &amp; Little (1983), </a:t>
            </a:r>
            <a:r>
              <a:rPr sz="1100" b="0">
                <a:solidFill>
                  <a:srgbClr val="5B5F6E"/>
                </a:solidFill>
                <a:latin typeface="Calibri"/>
              </a:rPr>
              <a:t>“A Logit Model of Brand Choice Calibrated on Scanner Data” (Marketing Science) — exponentially smoothed loyalty in a logit choice model, which is the stock used here.</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Counter, lag-8 memory</a:t>
                      </a:r>
                    </a:p>
                  </a:txBody>
                  <a:tcPr>
                    <a:solidFill>
                      <a:srgbClr val="FFFFFF"/>
                    </a:solidFill>
                  </a:tcPr>
                </a:tc>
                <a:tc>
                  <a:txBody>
                    <a:bodyPr/>
                    <a:lstStyle/>
                    <a:p>
                      <a:r>
                        <a:rPr sz="1100">
                          <a:solidFill>
                            <a:srgbClr val="5B5F6E"/>
                          </a:solidFill>
                          <a:latin typeface="Calibri"/>
                        </a:rPr>
                        <a:t>+0.019</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Stock rho=0.8, lag-8</a:t>
                      </a:r>
                    </a:p>
                  </a:txBody>
                  <a:tcPr>
                    <a:solidFill>
                      <a:srgbClr val="F7F8FC"/>
                    </a:solidFill>
                  </a:tcPr>
                </a:tc>
                <a:tc>
                  <a:txBody>
                    <a:bodyPr/>
                    <a:lstStyle/>
                    <a:p>
                      <a:r>
                        <a:rPr sz="1100">
                          <a:solidFill>
                            <a:srgbClr val="5B5F6E"/>
                          </a:solidFill>
                          <a:latin typeface="Calibri"/>
                        </a:rPr>
                        <a:t>+0.054</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  as a multiple</a:t>
                      </a:r>
                    </a:p>
                  </a:txBody>
                  <a:tcPr>
                    <a:solidFill>
                      <a:srgbClr val="FFFFFF"/>
                    </a:solidFill>
                  </a:tcPr>
                </a:tc>
                <a:tc>
                  <a:txBody>
                    <a:bodyPr/>
                    <a:lstStyle/>
                    <a:p>
                      <a:r>
                        <a:rPr sz="1100">
                          <a:solidFill>
                            <a:srgbClr val="5B5F6E"/>
                          </a:solidFill>
                          <a:latin typeface="Calibri"/>
                        </a:rPr>
                        <a:t>2.83x</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Lock-in, stock vs counter</a:t>
                      </a:r>
                    </a:p>
                  </a:txBody>
                  <a:tcPr>
                    <a:solidFill>
                      <a:srgbClr val="F7F8FC"/>
                    </a:solidFill>
                  </a:tcPr>
                </a:tc>
                <a:tc>
                  <a:txBody>
                    <a:bodyPr/>
                    <a:lstStyle/>
                    <a:p>
                      <a:r>
                        <a:rPr sz="1100">
                          <a:solidFill>
                            <a:srgbClr val="5B5F6E"/>
                          </a:solidFill>
                          <a:latin typeface="Calibri"/>
                        </a:rPr>
                        <a:t>0.81 vs 0.81</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Pair stability</a:t>
                      </a:r>
                    </a:p>
                  </a:txBody>
                  <a:tcPr>
                    <a:solidFill>
                      <a:srgbClr val="FFFFFF"/>
                    </a:solidFill>
                  </a:tcPr>
                </a:tc>
                <a:tc>
                  <a:txBody>
                    <a:bodyPr/>
                    <a:lstStyle/>
                    <a:p>
                      <a:r>
                        <a:rPr sz="1100">
                          <a:solidFill>
                            <a:srgbClr val="5B5F6E"/>
                          </a:solidFill>
                          <a:latin typeface="Calibri"/>
                        </a:rPr>
                        <a:t>0.401 vs 0.430</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Oracle optimum</a:t>
                      </a:r>
                    </a:p>
                  </a:txBody>
                  <a:tcPr>
                    <a:solidFill>
                      <a:srgbClr val="F7F8FC"/>
                    </a:solidFill>
                  </a:tcPr>
                </a:tc>
                <a:tc>
                  <a:txBody>
                    <a:bodyPr/>
                    <a:lstStyle/>
                    <a:p>
                      <a:r>
                        <a:rPr sz="1100">
                          <a:solidFill>
                            <a:srgbClr val="5B5F6E"/>
                          </a:solidFill>
                          <a:latin typeface="Calibri"/>
                        </a:rPr>
                        <a:t>2.65 vs 2.60</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With lock-in strength held equal to the base environment's, does a persistent loyalty stock reach further back in time than a three-week counter?</a:t>
            </a:r>
          </a:p>
          <a:p>
            <a:pPr>
              <a:spcAft>
                <a:spcPts val="500"/>
              </a:spcAft>
            </a:pPr>
            <a:r>
              <a:rPr sz="1000" b="1">
                <a:solidFill>
                  <a:srgbClr val="1E2761"/>
                </a:solidFill>
                <a:latin typeface="Calibri"/>
              </a:rPr>
              <a:t>Finding: </a:t>
            </a:r>
            <a:r>
              <a:rPr sz="1000" b="0">
                <a:solidFill>
                  <a:srgbClr val="5B5F6E"/>
                </a:solidFill>
                <a:latin typeface="Calibri"/>
              </a:rPr>
              <a:t>Yes — 2.8x the counter's memory at a lag of 8 weeks, in all four horizons tested. The counter starts stronger (+0.019 at lag 8 against a lag-1 advantage) and collapses at exactly its 3-week cap; the stock is weaker at lag 1 and still measurable at lag 16. A state now exists for a contextual or multi-week policy to condition on.</a:t>
            </a:r>
          </a:p>
          <a:p>
            <a:pPr>
              <a:spcAft>
                <a:spcPts val="500"/>
              </a:spcAft>
            </a:pPr>
            <a:r>
              <a:rPr sz="1000" b="1">
                <a:solidFill>
                  <a:srgbClr val="1E2761"/>
                </a:solidFill>
                <a:latin typeface="Calibri"/>
              </a:rPr>
              <a:t>Caveat: </a:t>
            </a:r>
            <a:r>
              <a:rPr sz="1000" b="0">
                <a:solidFill>
                  <a:srgbClr val="5B5F6E"/>
                </a:solidFill>
                <a:latin typeface="Calibri"/>
              </a:rPr>
              <a:t>The first grid ran with L_max pinned at Phase 6's ceiling and failed, for a reason worth keeping: a nominal ceiling is not strength. The stock bound about a third as hard as the counter (0.25 vs 0.81) and was the *weaker* mechanism. Its gate 1b threshold was also unreachable — 5 pp below a 4.0% baseline. Both are recorded in the spec. Profit levels are not comparable across the two environments: this one sells more (0.81 vs 0.69), so only within-environment comparisons are drawn.</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Mechanism Sufficiency — 7e-2 Intertemporal Headroom</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Hand-designed schedules vs the best standing price  ·  git tag: phase7e2-headroom  ·  select on 2000–2059, test on 0–29</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GATE 2 PASSED</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dispersed budgets</a:t>
            </a:r>
          </a:p>
          <a:p>
            <a:pPr>
              <a:spcAft>
                <a:spcPts val="200"/>
              </a:spcAft>
            </a:pPr>
            <a:r>
              <a:rPr sz="1300" b="1">
                <a:solidFill>
                  <a:srgbClr val="1E2761"/>
                </a:solidFill>
                <a:latin typeface="Calibri"/>
              </a:rPr>
              <a:t>Sellers: </a:t>
            </a:r>
            <a:r>
              <a:rPr sz="1300" b="0">
                <a:solidFill>
                  <a:srgbClr val="5B5F6E"/>
                </a:solidFill>
                <a:latin typeface="Calibri"/>
              </a:rPr>
              <a:t>5 — one prices on a schedule, the rest hold their list price</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7e-1's calibrated stock: rho = 0.80, L_max = 3.30, half-life 3.1 weeks.</a:t>
            </a:r>
          </a:p>
          <a:p>
            <a:pPr>
              <a:spcAft>
                <a:spcPts val="200"/>
              </a:spcAft>
            </a:pPr>
            <a:r>
              <a:rPr sz="1300" b="0">
                <a:solidFill>
                  <a:srgbClr val="5B5F6E"/>
                </a:solidFill>
                <a:latin typeface="Calibri"/>
              </a:rPr>
              <a:t>-  The scheduling stall's standing price is its own oracle optimum, 2.65,</a:t>
            </a:r>
          </a:p>
          <a:p>
            <a:pPr>
              <a:spcAft>
                <a:spcPts val="200"/>
              </a:spcAft>
            </a:pPr>
            <a:r>
              <a:rPr sz="1300" b="0">
                <a:solidFill>
                  <a:srgbClr val="5B5F6E"/>
                </a:solidFill>
                <a:latin typeface="Calibri"/>
              </a:rPr>
              <a:t>   so the schedule deviates from a price buyers have adapted to.</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36 schedules x 4 deltas: one-shot invest-then-harvest, and cycles.</a:t>
            </a:r>
          </a:p>
          <a:p>
            <a:pPr>
              <a:spcAft>
                <a:spcPts val="200"/>
              </a:spcAft>
            </a:pPr>
            <a:r>
              <a:rPr sz="1300" b="0">
                <a:solidFill>
                  <a:srgbClr val="5B5F6E"/>
                </a:solidFill>
                <a:latin typeface="Calibri"/>
              </a:rPr>
              <a:t>Selected on a discovery seed block, tested on the evaluation block —</a:t>
            </a:r>
          </a:p>
          <a:p>
            <a:pPr>
              <a:spcAft>
                <a:spcPts val="200"/>
              </a:spcAft>
            </a:pPr>
            <a:r>
              <a:rPr sz="1300" b="0">
                <a:solidFill>
                  <a:srgbClr val="5B5F6E"/>
                </a:solidFill>
                <a:latin typeface="Calibri"/>
              </a:rPr>
              <a:t>a maximum over ~150 comparisons is significant by construction.</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Nerlove &amp; Arrow (1962), </a:t>
            </a:r>
            <a:r>
              <a:rPr sz="1100" b="0">
                <a:solidFill>
                  <a:srgbClr val="5B5F6E"/>
                </a:solidFill>
                <a:latin typeface="Calibri"/>
              </a:rPr>
              <a:t>“Optimal Advertising Policy under Dynamic Conditions” (Economica) — goodwill as a depreciating stock bought with current spending, which is the trade-off tested here.</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Flat at the optimum</a:t>
                      </a:r>
                    </a:p>
                  </a:txBody>
                  <a:tcPr>
                    <a:solidFill>
                      <a:srgbClr val="FFFFFF"/>
                    </a:solidFill>
                  </a:tcPr>
                </a:tc>
                <a:tc>
                  <a:txBody>
                    <a:bodyPr/>
                    <a:lstStyle/>
                    <a:p>
                      <a:r>
                        <a:rPr sz="1100">
                          <a:solidFill>
                            <a:srgbClr val="5B5F6E"/>
                          </a:solidFill>
                          <a:latin typeface="Calibri"/>
                        </a:rPr>
                        <a:t>43.2/wk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Selected schedule, held out</a:t>
                      </a:r>
                    </a:p>
                  </a:txBody>
                  <a:tcPr>
                    <a:solidFill>
                      <a:srgbClr val="F7F8FC"/>
                    </a:solidFill>
                  </a:tcPr>
                </a:tc>
                <a:tc>
                  <a:txBody>
                    <a:bodyPr/>
                    <a:lstStyle/>
                    <a:p>
                      <a:r>
                        <a:rPr sz="1100">
                          <a:solidFill>
                            <a:srgbClr val="5B5F6E"/>
                          </a:solidFill>
                          <a:latin typeface="Calibri"/>
                        </a:rPr>
                        <a:t>44.3/wk</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  gain</a:t>
                      </a:r>
                    </a:p>
                  </a:txBody>
                  <a:tcPr>
                    <a:solidFill>
                      <a:srgbClr val="FFFFFF"/>
                    </a:solidFill>
                  </a:tcPr>
                </a:tc>
                <a:tc>
                  <a:txBody>
                    <a:bodyPr/>
                    <a:lstStyle/>
                    <a:p>
                      <a:r>
                        <a:rPr sz="1100">
                          <a:solidFill>
                            <a:srgbClr val="5B5F6E"/>
                          </a:solidFill>
                          <a:latin typeface="Calibri"/>
                        </a:rPr>
                        <a:t>+2.6%</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its 95% CI vs +2%</a:t>
                      </a:r>
                    </a:p>
                  </a:txBody>
                  <a:tcPr>
                    <a:solidFill>
                      <a:srgbClr val="F7F8FC"/>
                    </a:solidFill>
                  </a:tcPr>
                </a:tc>
                <a:tc>
                  <a:txBody>
                    <a:bodyPr/>
                    <a:lstStyle/>
                    <a:p>
                      <a:r>
                        <a:rPr sz="1100">
                          <a:solidFill>
                            <a:srgbClr val="5B5F6E"/>
                          </a:solidFill>
                          <a:latin typeface="Calibri"/>
                        </a:rPr>
                        <a:t>[+2.0%, +3.2%]</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delta = 0 control, same path</a:t>
                      </a:r>
                    </a:p>
                  </a:txBody>
                  <a:tcPr>
                    <a:solidFill>
                      <a:srgbClr val="FFFFFF"/>
                    </a:solidFill>
                  </a:tcPr>
                </a:tc>
                <a:tc>
                  <a:txBody>
                    <a:bodyPr/>
                    <a:lstStyle/>
                    <a:p>
                      <a:r>
                        <a:rPr sz="1100">
                          <a:solidFill>
                            <a:srgbClr val="5B5F6E"/>
                          </a:solidFill>
                          <a:latin typeface="Calibri"/>
                        </a:rPr>
                        <a:t>-1.2%</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Best harvesting schedule</a:t>
                      </a:r>
                    </a:p>
                  </a:txBody>
                  <a:tcPr>
                    <a:solidFill>
                      <a:srgbClr val="F7F8FC"/>
                    </a:solidFill>
                  </a:tcPr>
                </a:tc>
                <a:tc>
                  <a:txBody>
                    <a:bodyPr/>
                    <a:lstStyle/>
                    <a:p>
                      <a:r>
                        <a:rPr sz="1100">
                          <a:solidFill>
                            <a:srgbClr val="5B5F6E"/>
                          </a:solidFill>
                          <a:latin typeface="Calibri"/>
                        </a:rPr>
                        <a:t>-5.5%</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In an environment where loyalty persists as a stock, can any pricing schedule beat the best standing price?</a:t>
            </a:r>
          </a:p>
          <a:p>
            <a:pPr>
              <a:spcAft>
                <a:spcPts val="500"/>
              </a:spcAft>
            </a:pPr>
            <a:r>
              <a:rPr sz="1000" b="1">
                <a:solidFill>
                  <a:srgbClr val="1E2761"/>
                </a:solidFill>
                <a:latin typeface="Calibri"/>
              </a:rPr>
              <a:t>Finding: </a:t>
            </a:r>
            <a:r>
              <a:rPr sz="1000" b="0">
                <a:solidFill>
                  <a:srgbClr val="5B5F6E"/>
                </a:solidFill>
                <a:latin typeface="Calibri"/>
              </a:rPr>
              <a:t>Yes, and the control says why: the winning path is invest 16wk @0.90x -&gt; 1.00x, worth +2.6% on held-out seeds, and the identical path with the investment channel switched off (delta = 0) loses 1.2%. The gain is loyalty, not the price path. But the value is in acquisition, not extraction — every schedule that ever charges above the standing price loses, the best of them by 6%.</a:t>
            </a:r>
          </a:p>
          <a:p>
            <a:pPr>
              <a:spcAft>
                <a:spcPts val="500"/>
              </a:spcAft>
            </a:pPr>
            <a:r>
              <a:rPr sz="1000" b="1">
                <a:solidFill>
                  <a:srgbClr val="1E2761"/>
                </a:solidFill>
                <a:latin typeface="Calibri"/>
              </a:rPr>
              <a:t>Caveat: </a:t>
            </a:r>
            <a:r>
              <a:rPr sz="1000" b="0">
                <a:solidFill>
                  <a:srgbClr val="5B5F6E"/>
                </a:solidFill>
                <a:latin typeface="Calibri"/>
              </a:rPr>
              <a:t>A marginal pass at the edge of the ladder. The CI's lower bound sits on the +2% threshold, and headroom appears only at delta = 1, the strongest investment channel tested; the registered delta = 0.25 gives +0.1% and would have failed. Carrying the best cell into 7e-3 is selection on the outcome, pre-registered as valid for an existence claim and not for effect size. The ladder is not extended to chase a larger effect.</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Mechanism Sufficiency — 7e-3a Does Context Pay?</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7c's question, asked where the state exists  ·  git tag: phase7e3a-context  ·  tune on 2000–2059, test on 0–29</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EQUIVALENT — CONTEXT DOES NOT PAY</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dispersed budgets</a:t>
            </a:r>
          </a:p>
          <a:p>
            <a:pPr>
              <a:spcAft>
                <a:spcPts val="200"/>
              </a:spcAft>
            </a:pPr>
            <a:r>
              <a:rPr sz="1300" b="1">
                <a:solidFill>
                  <a:srgbClr val="1E2761"/>
                </a:solidFill>
                <a:latin typeface="Calibri"/>
              </a:rPr>
              <a:t>Sellers: </a:t>
            </a:r>
            <a:r>
              <a:rPr sz="1300" b="0">
                <a:solidFill>
                  <a:srgbClr val="5B5F6E"/>
                </a:solidFill>
                <a:latin typeface="Calibri"/>
              </a:rPr>
              <a:t>5 — one learns its price, the rest hold their list price</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7e-1's calibrated stock at the cell 7e-2 carried: delta = 1.0,</a:t>
            </a:r>
          </a:p>
          <a:p>
            <a:pPr>
              <a:spcAft>
                <a:spcPts val="200"/>
              </a:spcAft>
            </a:pPr>
            <a:r>
              <a:rPr sz="1300" b="0">
                <a:solidFill>
                  <a:srgbClr val="5B5F6E"/>
                </a:solidFill>
                <a:latin typeface="Calibri"/>
              </a:rPr>
              <a:t>   L_max = 3.30, standing price 2.65, arms at ±20% of it.</a:t>
            </a:r>
          </a:p>
          <a:p>
            <a:pPr>
              <a:spcAft>
                <a:spcPts val="200"/>
              </a:spcAft>
            </a:pPr>
            <a:r>
              <a:rPr sz="1300" b="0">
                <a:solidFill>
                  <a:srgbClr val="5B5F6E"/>
                </a:solidFill>
                <a:latin typeface="Calibri"/>
              </a:rPr>
              <a:t>-  Gate 1 established the state is dispersed and persistent.</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LinUCB on the loyalty stock and the week, against the identical</a:t>
            </a:r>
          </a:p>
          <a:p>
            <a:pPr>
              <a:spcAft>
                <a:spcPts val="200"/>
              </a:spcAft>
            </a:pPr>
            <a:r>
              <a:rPr sz="1300" b="0">
                <a:solidFill>
                  <a:srgbClr val="5B5F6E"/>
                </a:solidFill>
                <a:latin typeface="Calibri"/>
              </a:rPr>
              <a:t>algorithm restricted to an intercept — same exploration mechanics,</a:t>
            </a:r>
          </a:p>
          <a:p>
            <a:pPr>
              <a:spcAft>
                <a:spcPts val="200"/>
              </a:spcAft>
            </a:pPr>
            <a:r>
              <a:rPr sz="1300" b="0">
                <a:solidFill>
                  <a:srgbClr val="5B5F6E"/>
                </a:solidFill>
                <a:latin typeface="Calibri"/>
              </a:rPr>
              <a:t>same initial arm sweep, both tuned on the discovery block.</a:t>
            </a:r>
          </a:p>
          <a:p>
            <a:pPr>
              <a:spcAft>
                <a:spcPts val="200"/>
              </a:spcAft>
            </a:pPr>
            <a:r>
              <a:rPr sz="1300" b="0">
                <a:solidFill>
                  <a:srgbClr val="5B5F6E"/>
                </a:solidFill>
                <a:latin typeface="Calibri"/>
              </a:rPr>
              <a:t>Plus an oracle diagnostic: does the best arm move with the state?</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Li, Chu, Langford &amp; Schapire (2010), </a:t>
            </a:r>
            <a:r>
              <a:rPr sz="1100" b="0">
                <a:solidFill>
                  <a:srgbClr val="5B5F6E"/>
                </a:solidFill>
                <a:latin typeface="Calibri"/>
              </a:rPr>
              <a:t>“A Contextual-Bandit Approach to Personalized News Article Recommendation” (WWW) — LinUCB, used in its original linear form since the state is three interpretable features.</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Oracle best arm, low state</a:t>
                      </a:r>
                    </a:p>
                  </a:txBody>
                  <a:tcPr>
                    <a:solidFill>
                      <a:srgbClr val="FFFFFF"/>
                    </a:solidFill>
                  </a:tcPr>
                </a:tc>
                <a:tc>
                  <a:txBody>
                    <a:bodyPr/>
                    <a:lstStyle/>
                    <a:p>
                      <a:r>
                        <a:rPr sz="1100">
                          <a:solidFill>
                            <a:srgbClr val="5B5F6E"/>
                          </a:solidFill>
                          <a:latin typeface="Calibri"/>
                        </a:rPr>
                        <a:t>1.00x</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Oracle best arm, high state</a:t>
                      </a:r>
                    </a:p>
                  </a:txBody>
                  <a:tcPr>
                    <a:solidFill>
                      <a:srgbClr val="F7F8FC"/>
                    </a:solidFill>
                  </a:tcPr>
                </a:tc>
                <a:tc>
                  <a:txBody>
                    <a:bodyPr/>
                    <a:lstStyle/>
                    <a:p>
                      <a:r>
                        <a:rPr sz="1100">
                          <a:solidFill>
                            <a:srgbClr val="5B5F6E"/>
                          </a:solidFill>
                          <a:latin typeface="Calibri"/>
                        </a:rPr>
                        <a:t>1.00x</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LinUCB blind</a:t>
                      </a:r>
                    </a:p>
                  </a:txBody>
                  <a:tcPr>
                    <a:solidFill>
                      <a:srgbClr val="FFFFFF"/>
                    </a:solidFill>
                  </a:tcPr>
                </a:tc>
                <a:tc>
                  <a:txBody>
                    <a:bodyPr/>
                    <a:lstStyle/>
                    <a:p>
                      <a:r>
                        <a:rPr sz="1100">
                          <a:solidFill>
                            <a:srgbClr val="5B5F6E"/>
                          </a:solidFill>
                          <a:latin typeface="Calibri"/>
                        </a:rPr>
                        <a:t>40.6/wk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LinUCB with context</a:t>
                      </a:r>
                    </a:p>
                  </a:txBody>
                  <a:tcPr>
                    <a:solidFill>
                      <a:srgbClr val="F7F8FC"/>
                    </a:solidFill>
                  </a:tcPr>
                </a:tc>
                <a:tc>
                  <a:txBody>
                    <a:bodyPr/>
                    <a:lstStyle/>
                    <a:p>
                      <a:r>
                        <a:rPr sz="1100">
                          <a:solidFill>
                            <a:srgbClr val="5B5F6E"/>
                          </a:solidFill>
                          <a:latin typeface="Calibri"/>
                        </a:rPr>
                        <a:t>39.7/wk</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  context vs blind</a:t>
                      </a:r>
                    </a:p>
                  </a:txBody>
                  <a:tcPr>
                    <a:solidFill>
                      <a:srgbClr val="FFFFFF"/>
                    </a:solidFill>
                  </a:tcPr>
                </a:tc>
                <a:tc>
                  <a:txBody>
                    <a:bodyPr/>
                    <a:lstStyle/>
                    <a:p>
                      <a:r>
                        <a:rPr sz="1100">
                          <a:solidFill>
                            <a:srgbClr val="5B5F6E"/>
                          </a:solidFill>
                          <a:latin typeface="Calibri"/>
                        </a:rPr>
                        <a:t>-2.3%</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its 95% CI vs ±5%</a:t>
                      </a:r>
                    </a:p>
                  </a:txBody>
                  <a:tcPr>
                    <a:solidFill>
                      <a:srgbClr val="F7F8FC"/>
                    </a:solidFill>
                  </a:tcPr>
                </a:tc>
                <a:tc>
                  <a:txBody>
                    <a:bodyPr/>
                    <a:lstStyle/>
                    <a:p>
                      <a:r>
                        <a:rPr sz="1100">
                          <a:solidFill>
                            <a:srgbClr val="5B5F6E"/>
                          </a:solidFill>
                          <a:latin typeface="Calibri"/>
                        </a:rPr>
                        <a:t>[-3.0%, -1.5%]</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Now that a persistent, dispersed loyalty state exists, does a policy that conditions on it beat one that ignores it?</a:t>
            </a:r>
          </a:p>
          <a:p>
            <a:pPr>
              <a:spcAft>
                <a:spcPts val="500"/>
              </a:spcAft>
            </a:pPr>
            <a:r>
              <a:rPr sz="1000" b="1">
                <a:solidFill>
                  <a:srgbClr val="1E2761"/>
                </a:solidFill>
                <a:latin typeface="Calibri"/>
              </a:rPr>
              <a:t>Finding: </a:t>
            </a:r>
            <a:r>
              <a:rPr sz="1000" b="0">
                <a:solidFill>
                  <a:srgbClr val="5B5F6E"/>
                </a:solidFill>
                <a:latin typeface="Calibri"/>
              </a:rPr>
              <a:t>No, and the oracle says why rather than leaving it ambiguous. Over 460 seller-weeks split at the median loyalty state, the profit-maximizing arm is 1.00x on both sides — a seller with a loyal base and one without want the same price. The learner agrees: -2.3%, CI [-3.0%, -1.5%], equivalent. 7c's finding survives the mechanism change.</a:t>
            </a:r>
          </a:p>
          <a:p>
            <a:pPr>
              <a:spcAft>
                <a:spcPts val="500"/>
              </a:spcAft>
            </a:pPr>
            <a:r>
              <a:rPr sz="1000" b="1">
                <a:solidFill>
                  <a:srgbClr val="1E2761"/>
                </a:solidFill>
                <a:latin typeface="Calibri"/>
              </a:rPr>
              <a:t>Caveat: </a:t>
            </a:r>
            <a:r>
              <a:rPr sz="1000" b="0">
                <a:solidFill>
                  <a:srgbClr val="5B5F6E"/>
                </a:solidFill>
                <a:latin typeface="Calibri"/>
              </a:rPr>
              <a:t>The two measurements together rule out the reading a learned null alone cannot: with hindsight, perfect state measurement and no exploration cost, there is still nothing to condition on. And it connects back — no one-week deviation pays at any state, but 7e-2's sixteen-week one pays 2.6%. The exploitable structure is a sustained commitment, not a weekly state-contingent choice, so a contextual bandit is the wrong instrument by construction. Every learner also loses to flat pricing at the oracle price (43.4/wk), which is not attainable by a learner and bounds rather than enters the comparison.</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7 — Mechanism Sufficiency — 7e-3b Does the Horizon Pay?</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A trade-off known to exist, and a learner sent to find it  ·  git tag: phase7e3b-horizon  ·  train 1000–1119, test 0–29</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GATE 3b NOT PASSED</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dispersed budgets</a:t>
            </a:r>
          </a:p>
          <a:p>
            <a:pPr>
              <a:spcAft>
                <a:spcPts val="200"/>
              </a:spcAft>
            </a:pPr>
            <a:r>
              <a:rPr sz="1300" b="1">
                <a:solidFill>
                  <a:srgbClr val="1E2761"/>
                </a:solidFill>
                <a:latin typeface="Calibri"/>
              </a:rPr>
              <a:t>Sellers: </a:t>
            </a:r>
            <a:r>
              <a:rPr sz="1300" b="0">
                <a:solidFill>
                  <a:srgbClr val="5B5F6E"/>
                </a:solidFill>
                <a:latin typeface="Calibri"/>
              </a:rPr>
              <a:t>5 — one learns its price, the rest hold their list price</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The cell 7e-2 carried: persistent stock, delta = 1.0, L_max = 3.30.</a:t>
            </a:r>
          </a:p>
          <a:p>
            <a:pPr>
              <a:spcAft>
                <a:spcPts val="200"/>
              </a:spcAft>
            </a:pPr>
            <a:r>
              <a:rPr sz="1300" b="0">
                <a:solidFill>
                  <a:srgbClr val="5B5F6E"/>
                </a:solidFill>
                <a:latin typeface="Calibri"/>
              </a:rPr>
              <a:t>-  7e-2 measured a schedule worth +2.6% here before this was built,</a:t>
            </a:r>
          </a:p>
          <a:p>
            <a:pPr>
              <a:spcAft>
                <a:spcPts val="200"/>
              </a:spcAft>
            </a:pPr>
            <a:r>
              <a:rPr sz="1300" b="0">
                <a:solidFill>
                  <a:srgbClr val="5B5F6E"/>
                </a:solidFill>
                <a:latin typeface="Calibri"/>
              </a:rPr>
              <a:t>   so the thing to find is known, priced, and inside the policy class.</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Phase 7d's Q-network on a 10-week discounted return, with the</a:t>
            </a:r>
          </a:p>
          <a:p>
            <a:pPr>
              <a:spcAft>
                <a:spcPts val="200"/>
              </a:spcAft>
            </a:pPr>
            <a:r>
              <a:rPr sz="1300" b="0">
                <a:solidFill>
                  <a:srgbClr val="5B5F6E"/>
                </a:solidFill>
                <a:latin typeface="Calibri"/>
              </a:rPr>
              <a:t>loyalty stock added to its features. Its module is reused and</a:t>
            </a:r>
          </a:p>
          <a:p>
            <a:pPr>
              <a:spcAft>
                <a:spcPts val="200"/>
              </a:spcAft>
            </a:pPr>
            <a:r>
              <a:rPr sz="1300" b="0">
                <a:solidFill>
                  <a:srgbClr val="5B5F6E"/>
                </a:solidFill>
                <a:latin typeface="Calibri"/>
              </a:rPr>
              <a:t>parameterized, so 7d still trains on exactly its own four features.</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Nerlove &amp; Arrow (1962), </a:t>
            </a:r>
            <a:r>
              <a:rPr sz="1100" b="0">
                <a:solidFill>
                  <a:srgbClr val="5B5F6E"/>
                </a:solidFill>
                <a:latin typeface="Calibri"/>
              </a:rPr>
              <a:t>“Optimal Advertising Policy under Dynamic Conditions” (Economica) — goodwill as a depreciating stock bought with current spending, the trade-off the learner is sent after.</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7e-2 schedule (attainable)</a:t>
                      </a:r>
                    </a:p>
                  </a:txBody>
                  <a:tcPr>
                    <a:solidFill>
                      <a:srgbClr val="FFFFFF"/>
                    </a:solidFill>
                  </a:tcPr>
                </a:tc>
                <a:tc>
                  <a:txBody>
                    <a:bodyPr/>
                    <a:lstStyle/>
                    <a:p>
                      <a:r>
                        <a:rPr sz="1100">
                          <a:solidFill>
                            <a:srgbClr val="5B5F6E"/>
                          </a:solidFill>
                          <a:latin typeface="Calibri"/>
                        </a:rPr>
                        <a:t>44.3/wk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flat at the oracle price</a:t>
                      </a:r>
                    </a:p>
                  </a:txBody>
                  <a:tcPr>
                    <a:solidFill>
                      <a:srgbClr val="F7F8FC"/>
                    </a:solidFill>
                  </a:tcPr>
                </a:tc>
                <a:tc>
                  <a:txBody>
                    <a:bodyPr/>
                    <a:lstStyle/>
                    <a:p>
                      <a:r>
                        <a:rPr sz="1100">
                          <a:solidFill>
                            <a:srgbClr val="5B5F6E"/>
                          </a:solidFill>
                          <a:latin typeface="Calibri"/>
                        </a:rPr>
                        <a:t>43.2/wk</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LinUCB blind</a:t>
                      </a:r>
                    </a:p>
                  </a:txBody>
                  <a:tcPr>
                    <a:solidFill>
                      <a:srgbClr val="FFFFFF"/>
                    </a:solidFill>
                  </a:tcPr>
                </a:tc>
                <a:tc>
                  <a:txBody>
                    <a:bodyPr/>
                    <a:lstStyle/>
                    <a:p>
                      <a:r>
                        <a:rPr sz="1100">
                          <a:solidFill>
                            <a:srgbClr val="5B5F6E"/>
                          </a:solidFill>
                          <a:latin typeface="Calibri"/>
                        </a:rPr>
                        <a:t>41.4/wk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Q-network</a:t>
                      </a:r>
                    </a:p>
                  </a:txBody>
                  <a:tcPr>
                    <a:solidFill>
                      <a:srgbClr val="F7F8FC"/>
                    </a:solidFill>
                  </a:tcPr>
                </a:tc>
                <a:tc>
                  <a:txBody>
                    <a:bodyPr/>
                    <a:lstStyle/>
                    <a:p>
                      <a:r>
                        <a:rPr sz="1100">
                          <a:solidFill>
                            <a:srgbClr val="5B5F6E"/>
                          </a:solidFill>
                          <a:latin typeface="Calibri"/>
                        </a:rPr>
                        <a:t>42.3/wk</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  vs the bandit</a:t>
                      </a:r>
                    </a:p>
                  </a:txBody>
                  <a:tcPr>
                    <a:solidFill>
                      <a:srgbClr val="FFFFFF"/>
                    </a:solidFill>
                  </a:tcPr>
                </a:tc>
                <a:tc>
                  <a:txBody>
                    <a:bodyPr/>
                    <a:lstStyle/>
                    <a:p>
                      <a:r>
                        <a:rPr sz="1100">
                          <a:solidFill>
                            <a:srgbClr val="5B5F6E"/>
                          </a:solidFill>
                          <a:latin typeface="Calibri"/>
                        </a:rPr>
                        <a:t>+2.2%</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of the way to the schedule</a:t>
                      </a:r>
                    </a:p>
                  </a:txBody>
                  <a:tcPr>
                    <a:solidFill>
                      <a:srgbClr val="F7F8FC"/>
                    </a:solidFill>
                  </a:tcPr>
                </a:tc>
                <a:tc>
                  <a:txBody>
                    <a:bodyPr/>
                    <a:lstStyle/>
                    <a:p>
                      <a:r>
                        <a:rPr sz="1100">
                          <a:solidFill>
                            <a:srgbClr val="5B5F6E"/>
                          </a:solidFill>
                          <a:latin typeface="Calibri"/>
                        </a:rPr>
                        <a:t>31%</a:t>
                      </a:r>
                    </a:p>
                  </a:txBody>
                  <a:tcPr>
                    <a:solidFill>
                      <a:srgbClr val="F7F8FC"/>
                    </a:solidFill>
                  </a:tcPr>
                </a:tc>
                <a:tc>
                  <a:txBody>
                    <a:bodyPr/>
                    <a:lstStyle/>
                    <a:p>
                      <a:pPr algn="ctr"/>
                      <a:r>
                        <a:rPr sz="1100" b="1">
                          <a:solidFill>
                            <a:srgbClr val="B3262A"/>
                          </a:solidFill>
                          <a:latin typeface="Calibri"/>
                        </a:rPr>
                        <a:t>FAIL</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A sustained investment schedule is known to beat the best standing price here by 2.6%. Can a multi-week learner find it?</a:t>
            </a:r>
          </a:p>
          <a:p>
            <a:pPr>
              <a:spcAft>
                <a:spcPts val="500"/>
              </a:spcAft>
            </a:pPr>
            <a:r>
              <a:rPr sz="1000" b="1">
                <a:solidFill>
                  <a:srgbClr val="1E2761"/>
                </a:solidFill>
                <a:latin typeface="Calibri"/>
              </a:rPr>
              <a:t>Finding: </a:t>
            </a:r>
            <a:r>
              <a:rPr sz="1000" b="0">
                <a:solidFill>
                  <a:srgbClr val="5B5F6E"/>
                </a:solidFill>
                <a:latin typeface="Calibri"/>
              </a:rPr>
              <a:t>The right shape, the right depth, half the duration — and a third of the value. Weeks 0–7 it prices at 2.379 against the hand-found schedule's 2.385; weeks 8–15 it has already returned to 2.635 while the schedule holds at 2.385. It spends 75% of the discount and collects 31% of the gain, because a stock compounds while it is fed. This is 7d's missing sacrifice-then-recover trajectory, appearing for the first time — in the environment built to contain it.</a:t>
            </a:r>
          </a:p>
          <a:p>
            <a:pPr>
              <a:spcAft>
                <a:spcPts val="500"/>
              </a:spcAft>
            </a:pPr>
            <a:r>
              <a:rPr sz="1000" b="1">
                <a:solidFill>
                  <a:srgbClr val="1E2761"/>
                </a:solidFill>
                <a:latin typeface="Calibri"/>
              </a:rPr>
              <a:t>Caveat: </a:t>
            </a:r>
            <a:r>
              <a:rPr sz="1000" b="0">
                <a:solidFill>
                  <a:srgbClr val="5B5F6E"/>
                </a:solidFill>
                <a:latin typeface="Calibri"/>
              </a:rPr>
              <a:t>Gate 3b does not pass: +2.2% is equivalent, not material. And the interval [-0.4%, +4.8%] crosses zero, so the sign of the advantage is not established — 300 seeds would settle it in a minute, but the registered escalation fires only on an interval straddling the materiality boundary, which this one does not. The limitation is reported rather than repaired. Phase 7e's answer: complexity became valuable (gate 2) without becoming learnable — the structure that makes a sophisticated policy worth having is not the structure that makes it findable.</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8 — Endogenous Market Structure</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Entry and exit switched on, nothing else changed  ·  git tag: phase8-validated  ·  300 seeds x 110 weeks</a:t>
            </a:r>
          </a:p>
        </p:txBody>
      </p:sp>
      <p:sp>
        <p:nvSpPr>
          <p:cNvPr id="4" name="Rounded Rectangle 3"/>
          <p:cNvSpPr/>
          <p:nvPr/>
        </p:nvSpPr>
        <p:spPr>
          <a:xfrm>
            <a:off x="9464040" y="365760"/>
            <a:ext cx="2240280" cy="384048"/>
          </a:xfrm>
          <a:prstGeom prst="roundRect">
            <a:avLst/>
          </a:prstGeom>
          <a:solidFill>
            <a:srgbClr val="1E7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DIFFERENTIAL SURVIVAL</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Poor 70 / Middle 20 / Rich 10, dispersed budgets</a:t>
            </a:r>
          </a:p>
          <a:p>
            <a:pPr>
              <a:spcAft>
                <a:spcPts val="200"/>
              </a:spcAft>
            </a:pPr>
            <a:r>
              <a:rPr sz="1300" b="1">
                <a:solidFill>
                  <a:srgbClr val="1E2761"/>
                </a:solidFill>
                <a:latin typeface="Calibri"/>
              </a:rPr>
              <a:t>Sellers: </a:t>
            </a:r>
            <a:r>
              <a:rPr sz="1300" b="0">
                <a:solidFill>
                  <a:srgbClr val="5B5F6E"/>
                </a:solidFill>
                <a:latin typeface="Calibri"/>
              </a:rPr>
              <a:t>5 at week 0 — 3 Slow, 2 Shigh — then whoever survives</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40 fixed slots, drawn at slot width whatever the occupancy, so</a:t>
            </a:r>
          </a:p>
          <a:p>
            <a:pPr>
              <a:spcAft>
                <a:spcPts val="200"/>
              </a:spcAft>
            </a:pPr>
            <a:r>
              <a:rPr sz="1300" b="0">
                <a:solidFill>
                  <a:srgbClr val="5B5F6E"/>
                </a:solidFill>
                <a:latin typeface="Calibri"/>
              </a:rPr>
              <a:t>   arms with different entry histories stay paired on a seed.</a:t>
            </a:r>
          </a:p>
          <a:p>
            <a:pPr>
              <a:spcAft>
                <a:spcPts val="200"/>
              </a:spcAft>
            </a:pPr>
            <a:r>
              <a:rPr sz="1300" b="0">
                <a:solidFill>
                  <a:srgbClr val="5B5F6E"/>
                </a:solidFill>
                <a:latin typeface="Calibri"/>
              </a:rPr>
              <a:t>-  price_reference frozen at the week-0 configuration for all 110 weeks.</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Entry: copy a stall that is making money, after two weeks of mean</a:t>
            </a:r>
          </a:p>
          <a:p>
            <a:pPr>
              <a:spcAft>
                <a:spcPts val="200"/>
              </a:spcAft>
            </a:pPr>
            <a:r>
              <a:rPr sz="1300" b="0">
                <a:solidFill>
                  <a:srgbClr val="5B5F6E"/>
                </a:solidFill>
                <a:latin typeface="Calibri"/>
              </a:rPr>
              <a:t>profit above zero. Exit: capital exhausted, or three losing weeks —</a:t>
            </a:r>
          </a:p>
          <a:p>
            <a:pPr>
              <a:spcAft>
                <a:spcPts val="200"/>
              </a:spcAft>
            </a:pPr>
            <a:r>
              <a:rPr sz="1300" b="0">
                <a:solidFill>
                  <a:srgbClr val="5B5F6E"/>
                </a:solidFill>
                <a:latin typeface="Calibri"/>
              </a:rPr>
              <a:t>both run. Fixed weekly cost swept over 6 / 8 / 10 / 12.</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Schelling (1971), </a:t>
            </a:r>
            <a:r>
              <a:rPr sz="1100" b="0">
                <a:solidFill>
                  <a:srgbClr val="5B5F6E"/>
                </a:solidFill>
                <a:latin typeface="Calibri"/>
              </a:rPr>
              <a:t>“Dynamic Models of Segregation” (J. Math. Sociology) — origin of the encoded-vs-emergent question this phase tests.</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Premium tier, week 0 -&gt; 110</a:t>
                      </a:r>
                    </a:p>
                  </a:txBody>
                  <a:tcPr>
                    <a:solidFill>
                      <a:srgbClr val="FFFFFF"/>
                    </a:solidFill>
                  </a:tcPr>
                </a:tc>
                <a:tc>
                  <a:txBody>
                    <a:bodyPr/>
                    <a:lstStyle/>
                    <a:p>
                      <a:r>
                        <a:rPr sz="1100">
                          <a:solidFill>
                            <a:srgbClr val="5B5F6E"/>
                          </a:solidFill>
                          <a:latin typeface="Calibri"/>
                        </a:rPr>
                        <a:t>40% -&gt; 0%</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Stationary count, F=6 / F=12</a:t>
                      </a:r>
                    </a:p>
                  </a:txBody>
                  <a:tcPr>
                    <a:solidFill>
                      <a:srgbClr val="F7F8FC"/>
                    </a:solidFill>
                  </a:tcPr>
                </a:tc>
                <a:tc>
                  <a:txBody>
                    <a:bodyPr/>
                    <a:lstStyle/>
                    <a:p>
                      <a:r>
                        <a:rPr sz="1100">
                          <a:solidFill>
                            <a:srgbClr val="5B5F6E"/>
                          </a:solidFill>
                          <a:latin typeface="Calibri"/>
                        </a:rPr>
                        <a:t>24.9 / 12.4</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Final-season entry / exit</a:t>
                      </a:r>
                    </a:p>
                  </a:txBody>
                  <a:tcPr>
                    <a:solidFill>
                      <a:srgbClr val="FFFFFF"/>
                    </a:solidFill>
                  </a:tcPr>
                </a:tc>
                <a:tc>
                  <a:txBody>
                    <a:bodyPr/>
                    <a:lstStyle/>
                    <a:p>
                      <a:r>
                        <a:rPr sz="1100">
                          <a:solidFill>
                            <a:srgbClr val="5B5F6E"/>
                          </a:solidFill>
                          <a:latin typeface="Calibri"/>
                        </a:rPr>
                        <a:t>0.10-0.47 per wk</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  firms surviving a season</a:t>
                      </a:r>
                    </a:p>
                  </a:txBody>
                  <a:tcPr>
                    <a:solidFill>
                      <a:srgbClr val="F7F8FC"/>
                    </a:solidFill>
                  </a:tcPr>
                </a:tc>
                <a:tc>
                  <a:txBody>
                    <a:bodyPr/>
                    <a:lstStyle/>
                    <a:p>
                      <a:r>
                        <a:rPr sz="1100">
                          <a:solidFill>
                            <a:srgbClr val="5B5F6E"/>
                          </a:solidFill>
                          <a:latin typeface="Calibri"/>
                        </a:rPr>
                        <a:t>48%-88%</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Turnover, streak vs capital</a:t>
                      </a:r>
                    </a:p>
                  </a:txBody>
                  <a:tcPr>
                    <a:solidFill>
                      <a:srgbClr val="FFFFFF"/>
                    </a:solidFill>
                  </a:tcPr>
                </a:tc>
                <a:tc>
                  <a:txBody>
                    <a:bodyPr/>
                    <a:lstStyle/>
                    <a:p>
                      <a:r>
                        <a:rPr sz="1100">
                          <a:solidFill>
                            <a:srgbClr val="5B5F6E"/>
                          </a:solidFill>
                          <a:latin typeface="Calibri"/>
                        </a:rPr>
                        <a:t>3.7x</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Peak sellers vs capacity</a:t>
                      </a:r>
                    </a:p>
                  </a:txBody>
                  <a:tcPr>
                    <a:solidFill>
                      <a:srgbClr val="F7F8FC"/>
                    </a:solidFill>
                  </a:tcPr>
                </a:tc>
                <a:tc>
                  <a:txBody>
                    <a:bodyPr/>
                    <a:lstStyle/>
                    <a:p>
                      <a:r>
                        <a:rPr sz="1100">
                          <a:solidFill>
                            <a:srgbClr val="5B5F6E"/>
                          </a:solidFill>
                          <a:latin typeface="Calibri"/>
                        </a:rPr>
                        <a:t>28 of 40</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Can repeated micro-level interaction produce macro-level market structure without that structure being programmed in?</a:t>
            </a:r>
          </a:p>
          <a:p>
            <a:pPr>
              <a:spcAft>
                <a:spcPts val="500"/>
              </a:spcAft>
            </a:pPr>
            <a:r>
              <a:rPr sz="1000" b="1">
                <a:solidFill>
                  <a:srgbClr val="1E2761"/>
                </a:solidFill>
                <a:latin typeface="Calibri"/>
              </a:rPr>
              <a:t>Finding: </a:t>
            </a:r>
            <a:r>
              <a:rPr sz="1000" b="0">
                <a:solidFill>
                  <a:srgbClr val="5B5F6E"/>
                </a:solidFill>
                <a:latin typeface="Calibri"/>
              </a:rPr>
              <a:t>Entry/exit dynamics selectively eliminate the premium tier — 40% of stalls to essentially zero in all eight cells — under this population and cost structure. Free entry endogenizes market size and the fixed cost strongly determines its stationary level: 24.9 sellers at a cost of 6, 12.4 at 12. What settles is a *stochastic stationary* structure, not an equilibrium: in the final season entry and exit both run, and under the three-week rule only 48%-62% of firms survive a season while the count does not move.</a:t>
            </a:r>
          </a:p>
          <a:p>
            <a:pPr>
              <a:spcAft>
                <a:spcPts val="500"/>
              </a:spcAft>
            </a:pPr>
            <a:r>
              <a:rPr sz="1000" b="1">
                <a:solidFill>
                  <a:srgbClr val="1E2761"/>
                </a:solidFill>
                <a:latin typeface="Calibri"/>
              </a:rPr>
              <a:t>Caveat: </a:t>
            </a:r>
            <a:r>
              <a:rPr sz="1000" b="0">
                <a:solidFill>
                  <a:srgbClr val="5B5F6E"/>
                </a:solidFill>
                <a:latin typeface="Calibri"/>
              </a:rPr>
              <a:t>Emergent with respect to the decision *rules*, conditional on exogenously specified buyer affordability and seller economics. Swapping the tier names gives a bit-identical run, which proves the outcome is label-invariant — no rule reads a class — but not that the composition is independent of the parameterization: Phase 2 gave 70% of buyers a budget of 3.0 against a premium price of 6.0, and both tiers pay the same rent. The exit rule mainly changes turnover and convergence speed, and the long-run count only modestly (~15%). Season-over-season change 12.7% against the RI DEM reference's 15.2% supports a comparable order of magnitude only — provenance, seller definition and entry/exit definition are unverified, so it is not a reproduction claim.</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9 — Learned Buyer Policy — 9a Distillation</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Distil the hand-written buyer, then deploy it  ·  git tag: phase9a-distilled  ·  train 1000–1119, held out 200–239, deploy 0–29</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GATE PASSED — LOOP DOES NOT COMPOUND</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acting on a fitted policy instead of the rule</a:t>
            </a:r>
          </a:p>
          <a:p>
            <a:pPr>
              <a:spcAft>
                <a:spcPts val="200"/>
              </a:spcAft>
            </a:pPr>
            <a:r>
              <a:rPr sz="1300" b="1">
                <a:solidFill>
                  <a:srgbClr val="1E2761"/>
                </a:solidFill>
                <a:latin typeface="Calibri"/>
              </a:rPr>
              <a:t>Sellers: </a:t>
            </a:r>
            <a:r>
              <a:rPr sz="1300" b="0">
                <a:solidFill>
                  <a:srgbClr val="5B5F6E"/>
                </a:solidFill>
                <a:latin typeface="Calibri"/>
              </a:rPr>
              <a:t>5 — Phase 6's market, unchanged</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22 weeks. The teacher is this project's own hand-coded buyer, so</a:t>
            </a:r>
          </a:p>
          <a:p>
            <a:pPr>
              <a:spcAft>
                <a:spcPts val="200"/>
              </a:spcAft>
            </a:pPr>
            <a:r>
              <a:rPr sz="1300" b="0">
                <a:solidFill>
                  <a:srgbClr val="5B5F6E"/>
                </a:solidFill>
                <a:latin typeface="Calibri"/>
              </a:rPr>
              <a:t>   what is fitted is distillation of a simulator, not human behaviour.</a:t>
            </a:r>
          </a:p>
          <a:p>
            <a:pPr>
              <a:spcAft>
                <a:spcPts val="200"/>
              </a:spcAft>
            </a:pPr>
            <a:r>
              <a:rPr sz="1300" b="0">
                <a:solidFill>
                  <a:srgbClr val="5B5F6E"/>
                </a:solidFill>
                <a:latin typeface="Calibri"/>
              </a:rPr>
              <a:t>-  The student sees 8 observable columns; the season-long taste draw,</a:t>
            </a:r>
          </a:p>
          <a:p>
            <a:pPr>
              <a:spcAft>
                <a:spcPts val="200"/>
              </a:spcAft>
            </a:pPr>
            <a:r>
              <a:rPr sz="1300" b="0">
                <a:solidFill>
                  <a:srgbClr val="5B5F6E"/>
                </a:solidFill>
                <a:latin typeface="Calibri"/>
              </a:rPr>
              <a:t>   the dispersed budget and the exact price sensitivity are hidden.</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Soft labels p_T(s), which the simulator makes available. Scored on</a:t>
            </a:r>
          </a:p>
          <a:p>
            <a:pPr>
              <a:spcAft>
                <a:spcPts val="200"/>
              </a:spcAft>
            </a:pPr>
            <a:r>
              <a:rPr sz="1300" b="0">
                <a:solidFill>
                  <a:srgbClr val="5B5F6E"/>
                </a:solidFill>
                <a:latin typeface="Calibri"/>
              </a:rPr>
              <a:t>E|p_T - p_theta| — under the shared purchase_draw this is the</a:t>
            </a:r>
          </a:p>
          <a:p>
            <a:pPr>
              <a:spcAft>
                <a:spcPts val="200"/>
              </a:spcAft>
            </a:pPr>
            <a:r>
              <a:rPr sz="1300" b="0">
                <a:solidFill>
                  <a:srgbClr val="5B5F6E"/>
                </a:solidFill>
                <a:latin typeface="Calibri"/>
              </a:rPr>
              <a:t>expected TV distance between two Bernoulli policies, not an accuracy.</a:t>
            </a:r>
          </a:p>
          <a:p>
            <a:pPr>
              <a:spcAft>
                <a:spcPts val="200"/>
              </a:spcAft>
            </a:pPr>
            <a:r>
              <a:rPr sz="1300" b="0">
                <a:solidFill>
                  <a:srgbClr val="5B5F6E"/>
                </a:solidFill>
                <a:latin typeface="Calibri"/>
              </a:rPr>
              <a:t>Gate: policy distance + stratified calibration + proper score.</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Ross, Gordon &amp; Bagnell (2011), </a:t>
            </a:r>
            <a:r>
              <a:rPr sz="1100" b="0">
                <a:solidFill>
                  <a:srgbClr val="5B5F6E"/>
                </a:solidFill>
                <a:latin typeface="Calibri"/>
              </a:rPr>
              <a:t>“A Reduction of Imitation Learning and Structured Prediction to No-Regret Online Learning” (AISTATS) — the compounding-error argument this phase measures rather than assumes.</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Constant predictor</a:t>
                      </a:r>
                    </a:p>
                  </a:txBody>
                  <a:tcPr>
                    <a:solidFill>
                      <a:srgbClr val="FFFFFF"/>
                    </a:solidFill>
                  </a:tcPr>
                </a:tc>
                <a:tc>
                  <a:txBody>
                    <a:bodyPr/>
                    <a:lstStyle/>
                    <a:p>
                      <a:r>
                        <a:rPr sz="1100">
                          <a:solidFill>
                            <a:srgbClr val="5B5F6E"/>
                          </a:solidFill>
                          <a:latin typeface="Calibri"/>
                        </a:rPr>
                        <a:t>0.1234</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Observation-set floor</a:t>
                      </a:r>
                    </a:p>
                  </a:txBody>
                  <a:tcPr>
                    <a:solidFill>
                      <a:srgbClr val="F7F8FC"/>
                    </a:solidFill>
                  </a:tcPr>
                </a:tc>
                <a:tc>
                  <a:txBody>
                    <a:bodyPr/>
                    <a:lstStyle/>
                    <a:p>
                      <a:r>
                        <a:rPr sz="1100">
                          <a:solidFill>
                            <a:srgbClr val="5B5F6E"/>
                          </a:solidFill>
                          <a:latin typeface="Calibri"/>
                        </a:rPr>
                        <a:t>0.0832</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Student, held out</a:t>
                      </a:r>
                    </a:p>
                  </a:txBody>
                  <a:tcPr>
                    <a:solidFill>
                      <a:srgbClr val="FFFFFF"/>
                    </a:solidFill>
                  </a:tcPr>
                </a:tc>
                <a:tc>
                  <a:txBody>
                    <a:bodyPr/>
                    <a:lstStyle/>
                    <a:p>
                      <a:r>
                        <a:rPr sz="1100">
                          <a:solidFill>
                            <a:srgbClr val="5B5F6E"/>
                          </a:solidFill>
                          <a:latin typeface="Calibri"/>
                        </a:rPr>
                        <a:t>0.0834</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  worst stratum</a:t>
                      </a:r>
                    </a:p>
                  </a:txBody>
                  <a:tcPr>
                    <a:solidFill>
                      <a:srgbClr val="F7F8FC"/>
                    </a:solidFill>
                  </a:tcPr>
                </a:tc>
                <a:tc>
                  <a:txBody>
                    <a:bodyPr/>
                    <a:lstStyle/>
                    <a:p>
                      <a:r>
                        <a:rPr sz="1100">
                          <a:solidFill>
                            <a:srgbClr val="5B5F6E"/>
                          </a:solidFill>
                          <a:latin typeface="Calibri"/>
                        </a:rPr>
                        <a:t>0.0157</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D_offline -&gt; D_shadow</a:t>
                      </a:r>
                    </a:p>
                  </a:txBody>
                  <a:tcPr>
                    <a:solidFill>
                      <a:srgbClr val="FFFFFF"/>
                    </a:solidFill>
                  </a:tcPr>
                </a:tc>
                <a:tc>
                  <a:txBody>
                    <a:bodyPr/>
                    <a:lstStyle/>
                    <a:p>
                      <a:r>
                        <a:rPr sz="1100">
                          <a:solidFill>
                            <a:srgbClr val="5B5F6E"/>
                          </a:solidFill>
                          <a:latin typeface="Calibri"/>
                        </a:rPr>
                        <a:t>0.0828 -&gt; 0.0886</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  excess, 95% CI</a:t>
                      </a:r>
                    </a:p>
                  </a:txBody>
                  <a:tcPr>
                    <a:solidFill>
                      <a:srgbClr val="F7F8FC"/>
                    </a:solidFill>
                  </a:tcPr>
                </a:tc>
                <a:tc>
                  <a:txBody>
                    <a:bodyPr/>
                    <a:lstStyle/>
                    <a:p>
                      <a:r>
                        <a:rPr sz="1100">
                          <a:solidFill>
                            <a:srgbClr val="5B5F6E"/>
                          </a:solidFill>
                          <a:latin typeface="Calibri"/>
                        </a:rPr>
                        <a:t>[+0.0055, +0.0060]</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Can a learned policy recover the conditional behaviour of the rule-based buyer it replaces, and does that one-step fidelity survive endogenous distribution shift in closed loop?</a:t>
            </a:r>
          </a:p>
          <a:p>
            <a:pPr>
              <a:spcAft>
                <a:spcPts val="500"/>
              </a:spcAft>
            </a:pPr>
            <a:r>
              <a:rPr sz="1000" b="1">
                <a:solidFill>
                  <a:srgbClr val="1E2761"/>
                </a:solidFill>
                <a:latin typeface="Calibri"/>
              </a:rPr>
              <a:t>Finding: </a:t>
            </a:r>
            <a:r>
              <a:rPr sz="1000" b="0">
                <a:solidFill>
                  <a:srgbClr val="5B5F6E"/>
                </a:solidFill>
                <a:latin typeface="Calibri"/>
              </a:rPr>
              <a:t>The loop is real and it does not compound. D_shadow exceeds D_offline by +0.0057, CI [+0.0055, +0.0060] — the same student is measurably worse at imitating the teacher on the states *it* brings about. But the amplification is 1.07x, the largest state drift is a Wasserstein-1 of 0.0100, and all six class-to-tier shares return equivalent. Capacity confirms the floor is the observation set: 16x the parameters buys 0.0005.</a:t>
            </a:r>
          </a:p>
          <a:p>
            <a:pPr>
              <a:spcAft>
                <a:spcPts val="500"/>
              </a:spcAft>
            </a:pPr>
            <a:r>
              <a:rPr sz="1000" b="1">
                <a:solidFill>
                  <a:srgbClr val="1E2761"/>
                </a:solidFill>
                <a:latin typeface="Calibri"/>
              </a:rPr>
              <a:t>Caveat: </a:t>
            </a:r>
            <a:r>
              <a:rPr sz="1000" b="0">
                <a:solidFill>
                  <a:srgbClr val="5B5F6E"/>
                </a:solidFill>
                <a:latin typeface="Calibri"/>
              </a:rPr>
              <a:t>The explanation is the teacher's own stochasticity, and it bounds the claim rather than settling it: per decision the teacher's noise has an sd of 0.475 against the student's systematic deviation of 0.083, so the bias is 17% of the coin-flip the market already runs on. Compounding imitation error needs a near-deterministic teacher — the regime a temperature-0 LLM agent occupies — which is why this null is a reason to expect a different answer at 9b. Soft labels matter for calibration, not fit: sampled labels cost 0.0009 in mean distance and reach 0.0338 at worst stratum, which fails the gate.</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9 — Teacher Entropy Sweep — 9b</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When does one-step imitation error compound?  ·  git tag: phase9b-entropy  ·  5 regimes x 30 deployment seeds</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MONOTONE — NOT YET MATERIAL</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a distilled policy deployed against the rule</a:t>
            </a:r>
          </a:p>
          <a:p>
            <a:pPr>
              <a:spcAft>
                <a:spcPts val="200"/>
              </a:spcAft>
            </a:pPr>
            <a:r>
              <a:rPr sz="1300" b="1">
                <a:solidFill>
                  <a:srgbClr val="1E2761"/>
                </a:solidFill>
                <a:latin typeface="Calibri"/>
              </a:rPr>
              <a:t>Sellers: </a:t>
            </a:r>
            <a:r>
              <a:rPr sz="1300" b="0">
                <a:solidFill>
                  <a:srgbClr val="5B5F6E"/>
                </a:solidFill>
                <a:latin typeface="Calibri"/>
              </a:rPr>
              <a:t>5 — Phase 6's market, unchanged in every regime</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Teacher logit temperature over 2.0 / 1.0 / 0.5 / 0.25 / 0.1,</a:t>
            </a:r>
          </a:p>
          <a:p>
            <a:pPr>
              <a:spcAft>
                <a:spcPts val="200"/>
              </a:spcAft>
            </a:pPr>
            <a:r>
              <a:rPr sz="1300" b="0">
                <a:solidFill>
                  <a:srgbClr val="5B5F6E"/>
                </a:solidFill>
                <a:latin typeface="Calibri"/>
              </a:rPr>
              <a:t>   sharpening the same preference ordering rather than changing it.</a:t>
            </a:r>
          </a:p>
          <a:p>
            <a:pPr>
              <a:spcAft>
                <a:spcPts val="200"/>
              </a:spcAft>
            </a:pPr>
            <a:r>
              <a:rPr sz="1300" b="0">
                <a:solidFill>
                  <a:srgbClr val="5B5F6E"/>
                </a:solidFill>
                <a:latin typeface="Calibri"/>
              </a:rPr>
              <a:t>-  The sigmoid offset is re-solved at each so the mean purchase</a:t>
            </a:r>
          </a:p>
          <a:p>
            <a:pPr>
              <a:spcAft>
                <a:spcPts val="200"/>
              </a:spcAft>
            </a:pPr>
            <a:r>
              <a:rPr sz="1300" b="0">
                <a:solidFill>
                  <a:srgbClr val="5B5F6E"/>
                </a:solidFill>
                <a:latin typeface="Calibri"/>
              </a:rPr>
              <a:t>   probability holds at 0.4594: entropy moves, the level does not.</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Per regime: fit up a capacity ladder, deploy the smallest student</a:t>
            </a:r>
          </a:p>
          <a:p>
            <a:pPr>
              <a:spcAft>
                <a:spcPts val="200"/>
              </a:spcAft>
            </a:pPr>
            <a:r>
              <a:rPr sz="1300" b="0">
                <a:solidFill>
                  <a:srgbClr val="5B5F6E"/>
                </a:solidFill>
                <a:latin typeface="Calibri"/>
              </a:rPr>
              <a:t>that clears Gate 9a against that regime's own floor, then measure</a:t>
            </a:r>
          </a:p>
          <a:p>
            <a:pPr>
              <a:spcAft>
                <a:spcPts val="200"/>
              </a:spcAft>
            </a:pPr>
            <a:r>
              <a:rPr sz="1300" b="0">
                <a:solidFill>
                  <a:srgbClr val="5B5F6E"/>
                </a:solidFill>
                <a:latin typeface="Calibri"/>
              </a:rPr>
              <a:t>D_offline, D_shadow, state drift and behavioural divergence.</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Ross, Gordon &amp; Bagnell (2011), </a:t>
            </a:r>
            <a:r>
              <a:rPr sz="1100" b="0">
                <a:solidFill>
                  <a:srgbClr val="5B5F6E"/>
                </a:solidFill>
                <a:latin typeface="Calibri"/>
              </a:rPr>
              <a:t>“A Reduction of Imitation Learning and Structured Prediction to No-Regret Online Learning” (AISTATS) — a bound driven by the per-step error rate and silent on the environment's own noise, which is the gap this sweep measures.</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Entropy swept</a:t>
                      </a:r>
                    </a:p>
                  </a:txBody>
                  <a:tcPr>
                    <a:solidFill>
                      <a:srgbClr val="FFFFFF"/>
                    </a:solidFill>
                  </a:tcPr>
                </a:tc>
                <a:tc>
                  <a:txBody>
                    <a:bodyPr/>
                    <a:lstStyle/>
                    <a:p>
                      <a:r>
                        <a:rPr sz="1100">
                          <a:solidFill>
                            <a:srgbClr val="5B5F6E"/>
                          </a:solidFill>
                          <a:latin typeface="Calibri"/>
                        </a:rPr>
                        <a:t>0.98 → 0.02 bits</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Error / noise ratio R</a:t>
                      </a:r>
                    </a:p>
                  </a:txBody>
                  <a:tcPr>
                    <a:solidFill>
                      <a:srgbClr val="F7F8FC"/>
                    </a:solidFill>
                  </a:tcPr>
                </a:tc>
                <a:tc>
                  <a:txBody>
                    <a:bodyPr/>
                    <a:lstStyle/>
                    <a:p>
                      <a:r>
                        <a:rPr sz="1100">
                          <a:solidFill>
                            <a:srgbClr val="5B5F6E"/>
                          </a:solidFill>
                          <a:latin typeface="Calibri"/>
                        </a:rPr>
                        <a:t>9% → 319%</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Amplification</a:t>
                      </a:r>
                    </a:p>
                  </a:txBody>
                  <a:tcPr>
                    <a:solidFill>
                      <a:srgbClr val="FFFFFF"/>
                    </a:solidFill>
                  </a:tcPr>
                </a:tc>
                <a:tc>
                  <a:txBody>
                    <a:bodyPr/>
                    <a:lstStyle/>
                    <a:p>
                      <a:r>
                        <a:rPr sz="1100">
                          <a:solidFill>
                            <a:srgbClr val="5B5F6E"/>
                          </a:solidFill>
                          <a:latin typeface="Calibri"/>
                        </a:rPr>
                        <a:t>1.02x → 1.78x</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  Spearman vs entropy</a:t>
                      </a:r>
                    </a:p>
                  </a:txBody>
                  <a:tcPr>
                    <a:solidFill>
                      <a:srgbClr val="F7F8FC"/>
                    </a:solidFill>
                  </a:tcPr>
                </a:tc>
                <a:tc>
                  <a:txBody>
                    <a:bodyPr/>
                    <a:lstStyle/>
                    <a:p>
                      <a:r>
                        <a:rPr sz="1100">
                          <a:solidFill>
                            <a:srgbClr val="5B5F6E"/>
                          </a:solidFill>
                          <a:latin typeface="Calibri"/>
                        </a:rPr>
                        <a:t>-1.00</a:t>
                      </a:r>
                    </a:p>
                  </a:txBody>
                  <a:tcPr>
                    <a:solidFill>
                      <a:srgbClr val="F7F8FC"/>
                    </a:solidFill>
                  </a:tcPr>
                </a:tc>
                <a:tc>
                  <a:txBody>
                    <a:bodyPr/>
                    <a:lstStyle/>
                    <a:p>
                      <a:pPr algn="ctr"/>
                      <a:r>
                        <a:rPr sz="1100" b="1">
                          <a:solidFill>
                            <a:srgbClr val="1E7A4D"/>
                          </a:solidFill>
                          <a:latin typeface="Calibri"/>
                        </a:rPr>
                        <a:t>PASS</a:t>
                      </a:r>
                    </a:p>
                  </a:txBody>
                  <a:tcPr>
                    <a:solidFill>
                      <a:srgbClr val="F7F8FC"/>
                    </a:solidFill>
                  </a:tcPr>
                </a:tc>
              </a:tr>
              <a:tr h="274320">
                <a:tc>
                  <a:txBody>
                    <a:bodyPr/>
                    <a:lstStyle/>
                    <a:p>
                      <a:r>
                        <a:rPr sz="1100">
                          <a:solidFill>
                            <a:srgbClr val="1E2761"/>
                          </a:solidFill>
                          <a:latin typeface="Calibri"/>
                        </a:rPr>
                        <a:t>State drift, Spearman</a:t>
                      </a:r>
                    </a:p>
                  </a:txBody>
                  <a:tcPr>
                    <a:solidFill>
                      <a:srgbClr val="FFFFFF"/>
                    </a:solidFill>
                  </a:tcPr>
                </a:tc>
                <a:tc>
                  <a:txBody>
                    <a:bodyPr/>
                    <a:lstStyle/>
                    <a:p>
                      <a:r>
                        <a:rPr sz="1100">
                          <a:solidFill>
                            <a:srgbClr val="5B5F6E"/>
                          </a:solidFill>
                          <a:latin typeface="Calibri"/>
                        </a:rPr>
                        <a:t>-0.98</a:t>
                      </a:r>
                    </a:p>
                  </a:txBody>
                  <a:tcPr>
                    <a:solidFill>
                      <a:srgbClr val="FFFFFF"/>
                    </a:solidFill>
                  </a:tcPr>
                </a:tc>
                <a:tc>
                  <a:txBody>
                    <a:bodyPr/>
                    <a:lstStyle/>
                    <a:p>
                      <a:pPr algn="ctr"/>
                      <a:r>
                        <a:rPr sz="1100" b="1">
                          <a:solidFill>
                            <a:srgbClr val="1E7A4D"/>
                          </a:solidFill>
                          <a:latin typeface="Calibri"/>
                        </a:rPr>
                        <a:t>PASS</a:t>
                      </a:r>
                    </a:p>
                  </a:txBody>
                  <a:tcPr>
                    <a:solidFill>
                      <a:srgbClr val="FFFFFF"/>
                    </a:solidFill>
                  </a:tcPr>
                </a:tc>
              </a:tr>
              <a:tr h="274320">
                <a:tc>
                  <a:txBody>
                    <a:bodyPr/>
                    <a:lstStyle/>
                    <a:p>
                      <a:r>
                        <a:rPr sz="1100">
                          <a:solidFill>
                            <a:srgbClr val="1E2761"/>
                          </a:solidFill>
                          <a:latin typeface="Calibri"/>
                        </a:rPr>
                        <a:t>Shares equivalent</a:t>
                      </a:r>
                    </a:p>
                  </a:txBody>
                  <a:tcPr>
                    <a:solidFill>
                      <a:srgbClr val="F7F8FC"/>
                    </a:solidFill>
                  </a:tcPr>
                </a:tc>
                <a:tc>
                  <a:txBody>
                    <a:bodyPr/>
                    <a:lstStyle/>
                    <a:p>
                      <a:r>
                        <a:rPr sz="1100">
                          <a:solidFill>
                            <a:srgbClr val="5B5F6E"/>
                          </a:solidFill>
                          <a:latin typeface="Calibri"/>
                        </a:rPr>
                        <a:t>48 of 48</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Does the ratio of systematic policy error to intrinsic teacher stochasticity govern whether one-step imitation error compounds into trajectory divergence?</a:t>
            </a:r>
          </a:p>
          <a:p>
            <a:pPr>
              <a:spcAft>
                <a:spcPts val="500"/>
              </a:spcAft>
            </a:pPr>
            <a:r>
              <a:rPr sz="1000" b="1">
                <a:solidFill>
                  <a:srgbClr val="1E2761"/>
                </a:solidFill>
                <a:latin typeface="Calibri"/>
              </a:rPr>
              <a:t>Finding: </a:t>
            </a:r>
            <a:r>
              <a:rPr sz="1000" b="0">
                <a:solidFill>
                  <a:srgbClr val="5B5F6E"/>
                </a:solidFill>
                <a:latin typeface="Calibri"/>
              </a:rPr>
              <a:t>Yes for the amplification, exactly. As entropy falls from 0.98 to 0.02 bits with the market level held fixed, R rises 9% → 319% and the amplification rises 1.02x → 1.78x — Spearman -1.00, with the excess growing 160-fold and every interval excluding zero. State drift is equally monotone at -0.98.</a:t>
            </a:r>
          </a:p>
          <a:p>
            <a:pPr>
              <a:spcAft>
                <a:spcPts val="500"/>
              </a:spcAft>
            </a:pPr>
            <a:r>
              <a:rPr sz="1000" b="1">
                <a:solidFill>
                  <a:srgbClr val="1E2761"/>
                </a:solidFill>
                <a:latin typeface="Calibri"/>
              </a:rPr>
              <a:t>Caveat: </a:t>
            </a:r>
            <a:r>
              <a:rPr sz="1000" b="0">
                <a:solidFill>
                  <a:srgbClr val="5B5F6E"/>
                </a:solidFill>
                <a:latin typeface="Calibri"/>
              </a:rPr>
              <a:t>The fourth link is not reached. Behavioural divergence peaks at 3.71 pp against a ±5 pp margin, and all 48 class-to-tier shares return equivalent in every regime including the sharpest. Teacher stochasticity governs amplification and does not, alone, carry it through to material behaviour — what remains between them is the environment, which 9c ablates. Two corrections this sweep forced: criterion 3's absolute threshold exceeded the entire available range at high entropy, and a fixed architecture would have read 'this model stopped fitting' as 'the environment amplifies error'.</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9 — Stabilizer Ablation — 9c</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Which environment characteristic carries the divergence?  ·  git tag: phase9c-stabilizers  ·  5 cells x 30 deployment seeds</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FRAMING REVERSED</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a distilled policy deployed against the rule</a:t>
            </a:r>
          </a:p>
          <a:p>
            <a:pPr>
              <a:spcAft>
                <a:spcPts val="200"/>
              </a:spcAft>
            </a:pPr>
            <a:r>
              <a:rPr sz="1300" b="1">
                <a:solidFill>
                  <a:srgbClr val="1E2761"/>
                </a:solidFill>
                <a:latin typeface="Calibri"/>
              </a:rPr>
              <a:t>Sellers: </a:t>
            </a:r>
            <a:r>
              <a:rPr sz="1300" b="0">
                <a:solidFill>
                  <a:srgbClr val="5B5F6E"/>
                </a:solidFill>
                <a:latin typeface="Calibri"/>
              </a:rPr>
              <a:t>5 — Phase 6's market, unchanged in every cell</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Budget wall removed by raising Poor's budget 3.0 -&gt; 8.0, which</a:t>
            </a:r>
          </a:p>
          <a:p>
            <a:pPr>
              <a:spcAft>
                <a:spcPts val="200"/>
              </a:spcAft>
            </a:pPr>
            <a:r>
              <a:rPr sz="1300" b="0">
                <a:solidFill>
                  <a:srgbClr val="5B5F6E"/>
                </a:solidFill>
                <a:latin typeface="Calibri"/>
              </a:rPr>
              <a:t>   opens the premium tier: 0% -&gt; 22% of Poor's encounters.</a:t>
            </a:r>
          </a:p>
          <a:p>
            <a:pPr>
              <a:spcAft>
                <a:spcPts val="200"/>
              </a:spcAft>
            </a:pPr>
            <a:r>
              <a:rPr sz="1300" b="0">
                <a:solidFill>
                  <a:srgbClr val="5B5F6E"/>
                </a:solidFill>
                <a:latin typeface="Calibri"/>
              </a:rPr>
              <a:t>-  Season-long taste removed by redrawing preference every week.</a:t>
            </a:r>
          </a:p>
          <a:p>
            <a:pPr>
              <a:spcAft>
                <a:spcPts val="200"/>
              </a:spcAft>
            </a:pPr>
            <a:r>
              <a:rPr sz="1300" b="0">
                <a:solidFill>
                  <a:srgbClr val="5B5F6E"/>
                </a:solidFill>
                <a:latin typeface="Calibri"/>
              </a:rPr>
              <a:t>-  One at a time and then together, at the sharpest entropy 9b saw.</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Every cell's offset re-solved to hold the purchase level at 0.4594,</a:t>
            </a:r>
          </a:p>
          <a:p>
            <a:pPr>
              <a:spcAft>
                <a:spcPts val="200"/>
              </a:spcAft>
            </a:pPr>
            <a:r>
              <a:rPr sz="1300" b="0">
                <a:solidFill>
                  <a:srgbClr val="5B5F6E"/>
                </a:solidFill>
                <a:latin typeface="Calibri"/>
              </a:rPr>
              <a:t>so an ablation opens the action space without changing how much</a:t>
            </a:r>
          </a:p>
          <a:p>
            <a:pPr>
              <a:spcAft>
                <a:spcPts val="200"/>
              </a:spcAft>
            </a:pPr>
            <a:r>
              <a:rPr sz="1300" b="0">
                <a:solidFill>
                  <a:srgbClr val="5B5F6E"/>
                </a:solidFill>
                <a:latin typeface="Calibri"/>
              </a:rPr>
              <a:t>buying happens. Each cell trains up its own capacity ladder to</a:t>
            </a:r>
          </a:p>
          <a:p>
            <a:pPr>
              <a:spcAft>
                <a:spcPts val="200"/>
              </a:spcAft>
            </a:pPr>
            <a:r>
              <a:rPr sz="1300" b="0">
                <a:solidFill>
                  <a:srgbClr val="5B5F6E"/>
                </a:solidFill>
                <a:latin typeface="Calibri"/>
              </a:rPr>
              <a:t>Gate 9a before it is deployed.</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Ross, Gordon &amp; Bagnell (2011), </a:t>
            </a:r>
            <a:r>
              <a:rPr sz="1100" b="0">
                <a:solidFill>
                  <a:srgbClr val="5B5F6E"/>
                </a:solidFill>
                <a:latin typeface="Calibri"/>
              </a:rPr>
              <a:t>“A Reduction of Imitation Learning and Structured Prediction to No-Regret Online Learning” (AISTATS) — whose compounding bound assumes a state that persists to be compounded over.</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Baseline amplification</a:t>
                      </a:r>
                    </a:p>
                  </a:txBody>
                  <a:tcPr>
                    <a:solidFill>
                      <a:srgbClr val="FFFFFF"/>
                    </a:solidFill>
                  </a:tcPr>
                </a:tc>
                <a:tc>
                  <a:txBody>
                    <a:bodyPr/>
                    <a:lstStyle/>
                    <a:p>
                      <a:r>
                        <a:rPr sz="1100">
                          <a:solidFill>
                            <a:srgbClr val="5B5F6E"/>
                          </a:solidFill>
                          <a:latin typeface="Calibri"/>
                        </a:rPr>
                        <a:t>1.67x</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  budget wall removed</a:t>
                      </a:r>
                    </a:p>
                  </a:txBody>
                  <a:tcPr>
                    <a:solidFill>
                      <a:srgbClr val="F7F8FC"/>
                    </a:solidFill>
                  </a:tcPr>
                </a:tc>
                <a:tc>
                  <a:txBody>
                    <a:bodyPr/>
                    <a:lstStyle/>
                    <a:p>
                      <a:r>
                        <a:rPr sz="1100">
                          <a:solidFill>
                            <a:srgbClr val="5B5F6E"/>
                          </a:solidFill>
                          <a:latin typeface="Calibri"/>
                        </a:rPr>
                        <a:t>1.59x</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  fixed taste removed</a:t>
                      </a:r>
                    </a:p>
                  </a:txBody>
                  <a:tcPr>
                    <a:solidFill>
                      <a:srgbClr val="FFFFFF"/>
                    </a:solidFill>
                  </a:tcPr>
                </a:tc>
                <a:tc>
                  <a:txBody>
                    <a:bodyPr/>
                    <a:lstStyle/>
                    <a:p>
                      <a:r>
                        <a:rPr sz="1100">
                          <a:solidFill>
                            <a:srgbClr val="5B5F6E"/>
                          </a:solidFill>
                          <a:latin typeface="Calibri"/>
                        </a:rPr>
                        <a:t>1.00x</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State drift, baseline -&gt; weekly</a:t>
                      </a:r>
                    </a:p>
                  </a:txBody>
                  <a:tcPr>
                    <a:solidFill>
                      <a:srgbClr val="F7F8FC"/>
                    </a:solidFill>
                  </a:tcPr>
                </a:tc>
                <a:tc>
                  <a:txBody>
                    <a:bodyPr/>
                    <a:lstStyle/>
                    <a:p>
                      <a:r>
                        <a:rPr sz="1100">
                          <a:solidFill>
                            <a:srgbClr val="5B5F6E"/>
                          </a:solidFill>
                          <a:latin typeface="Calibri"/>
                        </a:rPr>
                        <a:t>0.0883 -&gt; 0.0072</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r h="274320">
                <a:tc>
                  <a:txBody>
                    <a:bodyPr/>
                    <a:lstStyle/>
                    <a:p>
                      <a:r>
                        <a:rPr sz="1100">
                          <a:solidFill>
                            <a:srgbClr val="1E2761"/>
                          </a:solidFill>
                          <a:latin typeface="Calibri"/>
                        </a:rPr>
                        <a:t>R, baseline -&gt; weekly</a:t>
                      </a:r>
                    </a:p>
                  </a:txBody>
                  <a:tcPr>
                    <a:solidFill>
                      <a:srgbClr val="FFFFFF"/>
                    </a:solidFill>
                  </a:tcPr>
                </a:tc>
                <a:tc>
                  <a:txBody>
                    <a:bodyPr/>
                    <a:lstStyle/>
                    <a:p>
                      <a:r>
                        <a:rPr sz="1100">
                          <a:solidFill>
                            <a:srgbClr val="5B5F6E"/>
                          </a:solidFill>
                          <a:latin typeface="Calibri"/>
                        </a:rPr>
                        <a:t>85% -&gt; 117%</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Worst behavioural, any cell</a:t>
                      </a:r>
                    </a:p>
                  </a:txBody>
                  <a:tcPr>
                    <a:solidFill>
                      <a:srgbClr val="F7F8FC"/>
                    </a:solidFill>
                  </a:tcPr>
                </a:tc>
                <a:tc>
                  <a:txBody>
                    <a:bodyPr/>
                    <a:lstStyle/>
                    <a:p>
                      <a:r>
                        <a:rPr sz="1100">
                          <a:solidFill>
                            <a:srgbClr val="5B5F6E"/>
                          </a:solidFill>
                          <a:latin typeface="Calibri"/>
                        </a:rPr>
                        <a:t>2.49 pp</a:t>
                      </a:r>
                    </a:p>
                  </a:txBody>
                  <a:tcPr>
                    <a:solidFill>
                      <a:srgbClr val="F7F8FC"/>
                    </a:solidFill>
                  </a:tcPr>
                </a:tc>
                <a:tc>
                  <a:txBody>
                    <a:bodyPr/>
                    <a:lstStyle/>
                    <a:p>
                      <a:pPr algn="ctr"/>
                      <a:r>
                        <a:rPr sz="1100" b="1">
                          <a:solidFill>
                            <a:srgbClr val="5B5F6E"/>
                          </a:solidFill>
                          <a:latin typeface="Calibri"/>
                        </a:rPr>
                        <a:t>—</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Which environment characteristics suppress the trajectory divergence that imitation error would otherwise produce?</a:t>
            </a:r>
          </a:p>
          <a:p>
            <a:pPr>
              <a:spcAft>
                <a:spcPts val="500"/>
              </a:spcAft>
            </a:pPr>
            <a:r>
              <a:rPr sz="1000" b="1">
                <a:solidFill>
                  <a:srgbClr val="1E2761"/>
                </a:solidFill>
                <a:latin typeface="Calibri"/>
              </a:rPr>
              <a:t>Finding: </a:t>
            </a:r>
            <a:r>
              <a:rPr sz="1000" b="0">
                <a:solidFill>
                  <a:srgbClr val="5B5F6E"/>
                </a:solidFill>
                <a:latin typeface="Calibri"/>
              </a:rPr>
              <a:t>Neither — one of them was *carrying* it. Removing the budget wall barely moves the amplification (1.67x → 1.59x). Removing season-long taste collapses it to 1.00x — no amplification at all — and takes the state drift with it (0.0883 → 0.0072). Amplification needs a carrier: an early error has to move the buyer into a state that *persists* long enough to be inhabited.</a:t>
            </a:r>
          </a:p>
          <a:p>
            <a:pPr>
              <a:spcAft>
                <a:spcPts val="500"/>
              </a:spcAft>
            </a:pPr>
            <a:r>
              <a:rPr sz="1000" b="1">
                <a:solidFill>
                  <a:srgbClr val="1E2761"/>
                </a:solidFill>
                <a:latin typeface="Calibri"/>
              </a:rPr>
              <a:t>Caveat: </a:t>
            </a:r>
            <a:r>
              <a:rPr sz="1000" b="0">
                <a:solidFill>
                  <a:srgbClr val="5B5F6E"/>
                </a:solidFill>
                <a:latin typeface="Calibri"/>
              </a:rPr>
              <a:t>This reverses 9a's own framing, which called fixed taste a stabilizer that would suppress divergence. Both readings are the same mechanism: persistence stabilizes the trajectory and carries the error. It also shows R alone does not govern amplification — the weekly cells have the largest systematic error in the study (117% against 85%) and amplify by exactly 1.00x. Nothing across 9a–9c reached materiality: the worst behavioural divergence anywhere is 2.49 pp against ±5, and every share in every cell is equivalent. One cell fails Gate 9a; its twin passes and shows the same result.</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9 — Synthetic Agent Users — 9d</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What does an LLM buyer change, against a policy trained on the same rule?  ·  git tag: phase9d-agents  ·  8 seeds, 3 mechanisms in one market</a:t>
            </a:r>
          </a:p>
        </p:txBody>
      </p:sp>
      <p:sp>
        <p:nvSpPr>
          <p:cNvPr id="4" name="Rounded Rectangle 3"/>
          <p:cNvSpPr/>
          <p:nvPr/>
        </p:nvSpPr>
        <p:spPr>
          <a:xfrm>
            <a:off x="9464040" y="365760"/>
            <a:ext cx="2240280" cy="384048"/>
          </a:xfrm>
          <a:prstGeom prst="roundRect">
            <a:avLst/>
          </a:prstGeom>
          <a:solidFill>
            <a:srgbClr val="C99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ORDINALLY RIGHT, CARDINALLY WRONG</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Buyers: </a:t>
            </a:r>
            <a:r>
              <a:rPr sz="1300" b="0">
                <a:solidFill>
                  <a:srgbClr val="5B5F6E"/>
                </a:solidFill>
                <a:latin typeface="Calibri"/>
              </a:rPr>
              <a:t>100 — 30 Agent, 35 Phase 9a policy, 35 hand-written rule, stratified within class</a:t>
            </a:r>
          </a:p>
          <a:p>
            <a:pPr>
              <a:spcAft>
                <a:spcPts val="200"/>
              </a:spcAft>
            </a:pPr>
            <a:r>
              <a:rPr sz="1300" b="1">
                <a:solidFill>
                  <a:srgbClr val="1E2761"/>
                </a:solidFill>
                <a:latin typeface="Calibri"/>
              </a:rPr>
              <a:t>Sellers: </a:t>
            </a:r>
            <a:r>
              <a:rPr sz="1300" b="0">
                <a:solidFill>
                  <a:srgbClr val="5B5F6E"/>
                </a:solidFill>
                <a:latin typeface="Calibri"/>
              </a:rPr>
              <a:t>5 — Phase 6's market, unchanged</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gpt-oss:20b run locally, temperature 0, think=low, frozen.</a:t>
            </a:r>
          </a:p>
          <a:p>
            <a:pPr>
              <a:spcAft>
                <a:spcPts val="200"/>
              </a:spcAft>
            </a:pPr>
            <a:r>
              <a:rPr sz="1300" b="0">
                <a:solidFill>
                  <a:srgbClr val="5B5F6E"/>
                </a:solidFill>
                <a:latin typeface="Calibri"/>
              </a:rPr>
              <a:t>-  Arms stratified inside each class: ids 0-69 are Poor, so</a:t>
            </a:r>
          </a:p>
          <a:p>
            <a:pPr>
              <a:spcAft>
                <a:spcPts val="200"/>
              </a:spcAft>
            </a:pPr>
            <a:r>
              <a:rPr sz="1300" b="0">
                <a:solidFill>
                  <a:srgbClr val="5B5F6E"/>
                </a:solidFill>
                <a:latin typeface="Calibri"/>
              </a:rPr>
              <a:t>   'the first 30' would have been an all-Poor Agent arm.</a:t>
            </a:r>
          </a:p>
          <a:p>
            <a:pPr>
              <a:spcAft>
                <a:spcPts val="200"/>
              </a:spcAft>
            </a:pPr>
            <a:r>
              <a:rPr sz="1300" b="0">
                <a:solidFill>
                  <a:srgbClr val="5B5F6E"/>
                </a:solidFill>
                <a:latin typeface="Calibri"/>
              </a:rPr>
              <a:t>-  The control is the smallest capacity that passes 9a's own</a:t>
            </a:r>
          </a:p>
          <a:p>
            <a:pPr>
              <a:spcAft>
                <a:spcPts val="200"/>
              </a:spcAft>
            </a:pPr>
            <a:r>
              <a:rPr sz="1300" b="0">
                <a:solidFill>
                  <a:srgbClr val="5B5F6E"/>
                </a:solidFill>
                <a:latin typeface="Calibri"/>
              </a:rPr>
              <a:t>   offline gate, not one chosen here.</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Two comparisons. Between-arm, as registered; and within-buyer,</a:t>
            </a:r>
          </a:p>
          <a:p>
            <a:pPr>
              <a:spcAft>
                <a:spcPts val="200"/>
              </a:spcAft>
            </a:pPr>
            <a:r>
              <a:rPr sz="1300" b="0">
                <a:solidFill>
                  <a:srgbClr val="5B5F6E"/>
                </a:solidFill>
                <a:latin typeface="Calibri"/>
              </a:rPr>
              <a:t>re-running the market with everyone on the rule on the same seeds</a:t>
            </a:r>
          </a:p>
          <a:p>
            <a:pPr>
              <a:spcAft>
                <a:spcPts val="200"/>
              </a:spcAft>
            </a:pPr>
            <a:r>
              <a:rPr sz="1300" b="0">
                <a:solidFill>
                  <a:srgbClr val="5B5F6E"/>
                </a:solidFill>
                <a:latin typeface="Calibri"/>
              </a:rPr>
              <a:t>down to the draw. D_offline / D_shadow then splits the Agent's own</a:t>
            </a:r>
          </a:p>
          <a:p>
            <a:pPr>
              <a:spcAft>
                <a:spcPts val="200"/>
              </a:spcAft>
            </a:pPr>
            <a:r>
              <a:rPr sz="1300" b="0">
                <a:solidFill>
                  <a:srgbClr val="5B5F6E"/>
                </a:solidFill>
                <a:latin typeface="Calibri"/>
              </a:rPr>
              <a:t>error from what the closed loop does to it.</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Park et al. (2023), </a:t>
            </a:r>
            <a:r>
              <a:rPr sz="1100" b="0">
                <a:solidFill>
                  <a:srgbClr val="5B5F6E"/>
                </a:solidFill>
                <a:latin typeface="Calibri"/>
              </a:rPr>
              <a:t>“Generative Agents: Interactive Simulacra of Human Behavior” (UIST) — the LLM-agent architecture this phase instantiates at population scale.</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219456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Agent purchase rate</a:t>
                      </a:r>
                    </a:p>
                  </a:txBody>
                  <a:tcPr>
                    <a:solidFill>
                      <a:srgbClr val="FFFFFF"/>
                    </a:solidFill>
                  </a:tcPr>
                </a:tc>
                <a:tc>
                  <a:txBody>
                    <a:bodyPr/>
                    <a:lstStyle/>
                    <a:p>
                      <a:r>
                        <a:rPr sz="1100">
                          <a:solidFill>
                            <a:srgbClr val="5B5F6E"/>
                          </a:solidFill>
                          <a:latin typeface="Calibri"/>
                        </a:rPr>
                        <a:t>0.2031</a:t>
                      </a:r>
                    </a:p>
                  </a:txBody>
                  <a:tcPr>
                    <a:solidFill>
                      <a:srgbClr val="FFFFFF"/>
                    </a:solidFill>
                  </a:tcPr>
                </a:tc>
                <a:tc>
                  <a:txBody>
                    <a:bodyPr/>
                    <a:lstStyle/>
                    <a:p>
                      <a:pPr algn="ctr"/>
                      <a:r>
                        <a:rPr sz="1100" b="1">
                          <a:solidFill>
                            <a:srgbClr val="5B5F6E"/>
                          </a:solidFill>
                          <a:latin typeface="Calibri"/>
                        </a:rPr>
                        <a:t>rule 0.8109</a:t>
                      </a:r>
                    </a:p>
                  </a:txBody>
                  <a:tcPr>
                    <a:solidFill>
                      <a:srgbClr val="FFFFFF"/>
                    </a:solidFill>
                  </a:tcPr>
                </a:tc>
              </a:tr>
              <a:tr h="274320">
                <a:tc>
                  <a:txBody>
                    <a:bodyPr/>
                    <a:lstStyle/>
                    <a:p>
                      <a:r>
                        <a:rPr sz="1100">
                          <a:solidFill>
                            <a:srgbClr val="1E2761"/>
                          </a:solidFill>
                          <a:latin typeface="Calibri"/>
                        </a:rPr>
                        <a:t>  paired against the same buyers</a:t>
                      </a:r>
                    </a:p>
                  </a:txBody>
                  <a:tcPr>
                    <a:solidFill>
                      <a:srgbClr val="F7F8FC"/>
                    </a:solidFill>
                  </a:tcPr>
                </a:tc>
                <a:tc>
                  <a:txBody>
                    <a:bodyPr/>
                    <a:lstStyle/>
                    <a:p>
                      <a:r>
                        <a:rPr sz="1100">
                          <a:solidFill>
                            <a:srgbClr val="5B5F6E"/>
                          </a:solidFill>
                          <a:latin typeface="Calibri"/>
                        </a:rPr>
                        <a:t>-0.6214</a:t>
                      </a:r>
                    </a:p>
                  </a:txBody>
                  <a:tcPr>
                    <a:solidFill>
                      <a:srgbClr val="F7F8FC"/>
                    </a:solidFill>
                  </a:tcPr>
                </a:tc>
                <a:tc>
                  <a:txBody>
                    <a:bodyPr/>
                    <a:lstStyle/>
                    <a:p>
                      <a:pPr algn="ctr"/>
                      <a:r>
                        <a:rPr sz="1100" b="1">
                          <a:solidFill>
                            <a:srgbClr val="5B5F6E"/>
                          </a:solidFill>
                          <a:latin typeface="Calibri"/>
                        </a:rPr>
                        <a:t>[-0.6370, -0.6058]</a:t>
                      </a:r>
                    </a:p>
                  </a:txBody>
                  <a:tcPr>
                    <a:solidFill>
                      <a:srgbClr val="F7F8FC"/>
                    </a:solidFill>
                  </a:tcPr>
                </a:tc>
              </a:tr>
              <a:tr h="274320">
                <a:tc>
                  <a:txBody>
                    <a:bodyPr/>
                    <a:lstStyle/>
                    <a:p>
                      <a:r>
                        <a:rPr sz="1100">
                          <a:solidFill>
                            <a:srgbClr val="1E2761"/>
                          </a:solidFill>
                          <a:latin typeface="Calibri"/>
                        </a:rPr>
                        <a:t>Mechanism directions</a:t>
                      </a:r>
                    </a:p>
                  </a:txBody>
                  <a:tcPr>
                    <a:solidFill>
                      <a:srgbClr val="FFFFFF"/>
                    </a:solidFill>
                  </a:tcPr>
                </a:tc>
                <a:tc>
                  <a:txBody>
                    <a:bodyPr/>
                    <a:lstStyle/>
                    <a:p>
                      <a:r>
                        <a:rPr sz="1100">
                          <a:solidFill>
                            <a:srgbClr val="5B5F6E"/>
                          </a:solidFill>
                          <a:latin typeface="Calibri"/>
                        </a:rPr>
                        <a:t>all correct</a:t>
                      </a:r>
                    </a:p>
                  </a:txBody>
                  <a:tcPr>
                    <a:solidFill>
                      <a:srgbClr val="FFFFFF"/>
                    </a:solidFill>
                  </a:tcPr>
                </a:tc>
                <a:tc>
                  <a:txBody>
                    <a:bodyPr/>
                    <a:lstStyle/>
                    <a:p>
                      <a:pPr algn="ctr"/>
                      <a:r>
                        <a:rPr sz="1100" b="1">
                          <a:solidFill>
                            <a:srgbClr val="5B5F6E"/>
                          </a:solidFill>
                          <a:latin typeface="Calibri"/>
                        </a:rPr>
                        <a:t>—</a:t>
                      </a:r>
                    </a:p>
                  </a:txBody>
                  <a:tcPr>
                    <a:solidFill>
                      <a:srgbClr val="FFFFFF"/>
                    </a:solidFill>
                  </a:tcPr>
                </a:tc>
              </a:tr>
              <a:tr h="274320">
                <a:tc>
                  <a:txBody>
                    <a:bodyPr/>
                    <a:lstStyle/>
                    <a:p>
                      <a:r>
                        <a:rPr sz="1100">
                          <a:solidFill>
                            <a:srgbClr val="1E2761"/>
                          </a:solidFill>
                          <a:latin typeface="Calibri"/>
                        </a:rPr>
                        <a:t>D_offline → D_shadow</a:t>
                      </a:r>
                    </a:p>
                  </a:txBody>
                  <a:tcPr>
                    <a:solidFill>
                      <a:srgbClr val="F7F8FC"/>
                    </a:solidFill>
                  </a:tcPr>
                </a:tc>
                <a:tc>
                  <a:txBody>
                    <a:bodyPr/>
                    <a:lstStyle/>
                    <a:p>
                      <a:r>
                        <a:rPr sz="1100">
                          <a:solidFill>
                            <a:srgbClr val="5B5F6E"/>
                          </a:solidFill>
                          <a:latin typeface="Calibri"/>
                        </a:rPr>
                        <a:t>0.2621 → 0.3712</a:t>
                      </a:r>
                    </a:p>
                  </a:txBody>
                  <a:tcPr>
                    <a:solidFill>
                      <a:srgbClr val="F7F8FC"/>
                    </a:solidFill>
                  </a:tcPr>
                </a:tc>
                <a:tc>
                  <a:txBody>
                    <a:bodyPr/>
                    <a:lstStyle/>
                    <a:p>
                      <a:pPr algn="ctr"/>
                      <a:r>
                        <a:rPr sz="1100" b="1">
                          <a:solidFill>
                            <a:srgbClr val="5B5F6E"/>
                          </a:solidFill>
                          <a:latin typeface="Calibri"/>
                        </a:rPr>
                        <a:t>1.42x</a:t>
                      </a:r>
                    </a:p>
                  </a:txBody>
                  <a:tcPr>
                    <a:solidFill>
                      <a:srgbClr val="F7F8FC"/>
                    </a:solidFill>
                  </a:tcPr>
                </a:tc>
              </a:tr>
              <a:tr h="274320">
                <a:tc>
                  <a:txBody>
                    <a:bodyPr/>
                    <a:lstStyle/>
                    <a:p>
                      <a:r>
                        <a:rPr sz="1100">
                          <a:solidFill>
                            <a:srgbClr val="1E2761"/>
                          </a:solidFill>
                          <a:latin typeface="Calibri"/>
                        </a:rPr>
                        <a:t>Offline fit against the rule</a:t>
                      </a:r>
                    </a:p>
                  </a:txBody>
                  <a:tcPr>
                    <a:solidFill>
                      <a:srgbClr val="FFFFFF"/>
                    </a:solidFill>
                  </a:tcPr>
                </a:tc>
                <a:tc>
                  <a:txBody>
                    <a:bodyPr/>
                    <a:lstStyle/>
                    <a:p>
                      <a:r>
                        <a:rPr sz="1100">
                          <a:solidFill>
                            <a:srgbClr val="5B5F6E"/>
                          </a:solidFill>
                          <a:latin typeface="Calibri"/>
                        </a:rPr>
                        <a:t>slope 0.954, intercept −0.219</a:t>
                      </a:r>
                    </a:p>
                  </a:txBody>
                  <a:tcPr>
                    <a:solidFill>
                      <a:srgbClr val="FFFFFF"/>
                    </a:solidFill>
                  </a:tcPr>
                </a:tc>
                <a:tc>
                  <a:txBody>
                    <a:bodyPr/>
                    <a:lstStyle/>
                    <a:p>
                      <a:pPr algn="ctr"/>
                      <a:r>
                        <a:rPr sz="1100" b="1">
                          <a:solidFill>
                            <a:srgbClr val="5B5F6E"/>
                          </a:solidFill>
                          <a:latin typeface="Calibri"/>
                        </a:rPr>
                        <a:t>r +0.64</a:t>
                      </a:r>
                    </a:p>
                  </a:txBody>
                  <a:tcPr>
                    <a:solidFill>
                      <a:srgbClr val="FFFFFF"/>
                    </a:solidFill>
                  </a:tcPr>
                </a:tc>
              </a:tr>
              <a:tr h="274320">
                <a:tc>
                  <a:txBody>
                    <a:bodyPr/>
                    <a:lstStyle/>
                    <a:p>
                      <a:r>
                        <a:rPr sz="1100">
                          <a:solidFill>
                            <a:srgbClr val="1E2761"/>
                          </a:solidFill>
                          <a:latin typeface="Calibri"/>
                        </a:rPr>
                        <a:t>Intercept correction recovers</a:t>
                      </a:r>
                    </a:p>
                  </a:txBody>
                  <a:tcPr>
                    <a:solidFill>
                      <a:srgbClr val="F7F8FC"/>
                    </a:solidFill>
                  </a:tcPr>
                </a:tc>
                <a:tc>
                  <a:txBody>
                    <a:bodyPr/>
                    <a:lstStyle/>
                    <a:p>
                      <a:r>
                        <a:rPr sz="1100">
                          <a:solidFill>
                            <a:srgbClr val="5B5F6E"/>
                          </a:solidFill>
                          <a:latin typeface="Calibri"/>
                        </a:rPr>
                        <a:t>0.6487 of 0.8109</a:t>
                      </a:r>
                    </a:p>
                  </a:txBody>
                  <a:tcPr>
                    <a:solidFill>
                      <a:srgbClr val="F7F8FC"/>
                    </a:solidFill>
                  </a:tcPr>
                </a:tc>
                <a:tc>
                  <a:txBody>
                    <a:bodyPr/>
                    <a:lstStyle/>
                    <a:p>
                      <a:pPr algn="ctr"/>
                      <a:r>
                        <a:rPr sz="1100" b="1">
                          <a:solidFill>
                            <a:srgbClr val="5B5F6E"/>
                          </a:solidFill>
                          <a:latin typeface="Calibri"/>
                        </a:rPr>
                        <a:t>71.6%</a:t>
                      </a:r>
                    </a:p>
                  </a:txBody>
                  <a:tcPr>
                    <a:solidFill>
                      <a:srgbClr val="F7F8FC"/>
                    </a:solidFill>
                  </a:tcPr>
                </a:tc>
              </a:tr>
              <a:tr h="274320">
                <a:tc>
                  <a:txBody>
                    <a:bodyPr/>
                    <a:lstStyle/>
                    <a:p>
                      <a:r>
                        <a:rPr sz="1100">
                          <a:solidFill>
                            <a:srgbClr val="1E2761"/>
                          </a:solidFill>
                          <a:latin typeface="Calibri"/>
                        </a:rPr>
                        <a:t>Speed, study against study</a:t>
                      </a:r>
                    </a:p>
                  </a:txBody>
                  <a:tcPr>
                    <a:solidFill>
                      <a:srgbClr val="FFFFFF"/>
                    </a:solidFill>
                  </a:tcPr>
                </a:tc>
                <a:tc>
                  <a:txBody>
                    <a:bodyPr/>
                    <a:lstStyle/>
                    <a:p>
                      <a:r>
                        <a:rPr sz="1100">
                          <a:solidFill>
                            <a:srgbClr val="5B5F6E"/>
                          </a:solidFill>
                          <a:latin typeface="Calibri"/>
                        </a:rPr>
                        <a:t>3,754x–48,262x</a:t>
                      </a:r>
                    </a:p>
                  </a:txBody>
                  <a:tcPr>
                    <a:solidFill>
                      <a:srgbClr val="FFFFFF"/>
                    </a:solidFill>
                  </a:tcPr>
                </a:tc>
                <a:tc>
                  <a:txBody>
                    <a:bodyPr/>
                    <a:lstStyle/>
                    <a:p>
                      <a:pPr algn="ctr"/>
                      <a:r>
                        <a:rPr sz="1100" b="1">
                          <a:solidFill>
                            <a:srgbClr val="5B5F6E"/>
                          </a:solidFill>
                          <a:latin typeface="Calibri"/>
                        </a:rPr>
                        <a:t>cost ratio: not quoted</a:t>
                      </a:r>
                    </a:p>
                  </a:txBody>
                  <a:tcPr>
                    <a:solidFill>
                      <a:srgbClr val="FFFFFF"/>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What does replacing the buyer decision function with an LLM-driven Agent change, holding the rest of the simulation fixed?</a:t>
            </a:r>
          </a:p>
          <a:p>
            <a:pPr>
              <a:spcAft>
                <a:spcPts val="500"/>
              </a:spcAft>
            </a:pPr>
            <a:r>
              <a:rPr sz="1000" b="1">
                <a:solidFill>
                  <a:srgbClr val="1E2761"/>
                </a:solidFill>
                <a:latin typeface="Calibri"/>
              </a:rPr>
              <a:t>Finding: </a:t>
            </a:r>
            <a:r>
              <a:rPr sz="1000" b="0">
                <a:solidFill>
                  <a:srgbClr val="5B5F6E"/>
                </a:solidFill>
                <a:latin typeface="Calibri"/>
              </a:rPr>
              <a:t>Every mechanism direction right and the level a quarter of the truth. The Agent buys 0.2031 against the rule's 0.8109. Fitting it on the rule's own states gives slope 0.954 with intercept −0.219 — not compression, a line of the right gradient sitting low — and adding that one number back recovers 71.6% of the collapse. The loop supplies the rest, amplifying 1.42x against 1.07x for a distilled network.</a:t>
            </a:r>
          </a:p>
          <a:p>
            <a:pPr>
              <a:spcAft>
                <a:spcPts val="500"/>
              </a:spcAft>
            </a:pPr>
            <a:r>
              <a:rPr sz="1000" b="1">
                <a:solidFill>
                  <a:srgbClr val="1E2761"/>
                </a:solidFill>
                <a:latin typeface="Calibri"/>
              </a:rPr>
              <a:t>Caveat: </a:t>
            </a:r>
            <a:r>
              <a:rPr sz="1000" b="0">
                <a:solidFill>
                  <a:srgbClr val="5B5F6E"/>
                </a:solidFill>
                <a:latin typeface="Calibri"/>
              </a:rPr>
              <a:t>The apparent stickiness was selection: pair stability fell from 0.585 to 0.376 under correction, without the memory mechanism being touched. What survives correction is a class-differential bias — +0.121 for high-income buyers against −0.063 for low-budget ones — which recalibration does not fix and which is Phase 11's subject arriving early. The cost ratio is not quoted: verified per-respondent figures span 15,000x, so its denominator is a choice of source rather than a measurement.</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lIns="0" rIns="0" tIns="0" bIns="0">
            <a:spAutoFit/>
          </a:bodyPr>
          <a:lstStyle/>
          <a:p>
            <a:pPr>
              <a:spcAft>
                <a:spcPts val="200"/>
              </a:spcAft>
            </a:pPr>
            <a:r>
              <a:rPr sz="3200" b="1">
                <a:solidFill>
                  <a:srgbClr val="1E2761"/>
                </a:solidFill>
                <a:latin typeface="Cambria"/>
              </a:rPr>
              <a:t>Phase 10 — Human vs Agent</a:t>
            </a:r>
          </a:p>
        </p:txBody>
      </p:sp>
      <p:sp>
        <p:nvSpPr>
          <p:cNvPr id="3" name="TextBox 2"/>
          <p:cNvSpPr txBox="1"/>
          <p:nvPr/>
        </p:nvSpPr>
        <p:spPr>
          <a:xfrm>
            <a:off x="457200" y="868680"/>
            <a:ext cx="8229600" cy="274320"/>
          </a:xfrm>
          <a:prstGeom prst="rect">
            <a:avLst/>
          </a:prstGeom>
          <a:noFill/>
        </p:spPr>
        <p:txBody>
          <a:bodyPr wrap="square" lIns="0" rIns="0" tIns="0" bIns="0">
            <a:spAutoFit/>
          </a:bodyPr>
          <a:lstStyle/>
          <a:p>
            <a:pPr>
              <a:spcAft>
                <a:spcPts val="200"/>
              </a:spcAft>
            </a:pPr>
            <a:r>
              <a:rPr sz="1200" b="0">
                <a:solidFill>
                  <a:srgbClr val="5B5F6E"/>
                </a:solidFill>
                <a:latin typeface="Calibri"/>
              </a:rPr>
              <a:t>Same choice sets, same household history  ·  git tag: phase10-human-comparison  ·  3,289 occasions, Ecdat::Cracker</a:t>
            </a:r>
          </a:p>
        </p:txBody>
      </p:sp>
      <p:sp>
        <p:nvSpPr>
          <p:cNvPr id="4" name="Rounded Rectangle 3"/>
          <p:cNvSpPr/>
          <p:nvPr/>
        </p:nvSpPr>
        <p:spPr>
          <a:xfrm>
            <a:off x="9464040" y="365760"/>
            <a:ext cx="2240280" cy="384048"/>
          </a:xfrm>
          <a:prstGeom prst="roundRect">
            <a:avLst/>
          </a:prstGeom>
          <a:solidFill>
            <a:srgbClr val="B32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Calibri"/>
              </a:rPr>
              <a:t>WORSE THAN THE FLOOR</a:t>
            </a:r>
          </a:p>
        </p:txBody>
      </p:sp>
      <p:sp>
        <p:nvSpPr>
          <p:cNvPr id="5" name="Rectangle 4"/>
          <p:cNvSpPr/>
          <p:nvPr/>
        </p:nvSpPr>
        <p:spPr>
          <a:xfrm>
            <a:off x="4572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38988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AGENTS</a:t>
            </a:r>
          </a:p>
        </p:txBody>
      </p:sp>
      <p:sp>
        <p:nvSpPr>
          <p:cNvPr id="7" name="TextBox 6"/>
          <p:cNvSpPr txBox="1"/>
          <p:nvPr/>
        </p:nvSpPr>
        <p:spPr>
          <a:xfrm>
            <a:off x="868680" y="1828800"/>
            <a:ext cx="4617720" cy="566928"/>
          </a:xfrm>
          <a:prstGeom prst="rect">
            <a:avLst/>
          </a:prstGeom>
          <a:noFill/>
        </p:spPr>
        <p:txBody>
          <a:bodyPr wrap="square" lIns="0" rIns="0" tIns="0" bIns="0">
            <a:spAutoFit/>
          </a:bodyPr>
          <a:lstStyle/>
          <a:p>
            <a:pPr>
              <a:spcAft>
                <a:spcPts val="200"/>
              </a:spcAft>
            </a:pPr>
            <a:r>
              <a:rPr sz="1300" b="1">
                <a:solidFill>
                  <a:srgbClr val="1E2761"/>
                </a:solidFill>
                <a:latin typeface="Calibri"/>
              </a:rPr>
              <a:t>Households: </a:t>
            </a:r>
            <a:r>
              <a:rPr sz="1300" b="0">
                <a:solidFill>
                  <a:srgbClr val="5B5F6E"/>
                </a:solidFill>
                <a:latin typeface="Calibri"/>
              </a:rPr>
              <a:t>136 real households, 3,289 purchase occasions</a:t>
            </a:r>
          </a:p>
          <a:p>
            <a:pPr>
              <a:spcAft>
                <a:spcPts val="200"/>
              </a:spcAft>
            </a:pPr>
            <a:r>
              <a:rPr sz="1300" b="1">
                <a:solidFill>
                  <a:srgbClr val="1E2761"/>
                </a:solidFill>
                <a:latin typeface="Calibri"/>
              </a:rPr>
              <a:t>Arms: </a:t>
            </a:r>
            <a:r>
              <a:rPr sz="1300" b="0">
                <a:solidFill>
                  <a:srgbClr val="5B5F6E"/>
                </a:solidFill>
                <a:latin typeface="Calibri"/>
              </a:rPr>
              <a:t>marginal shares, conditional model, this project's simulator, and an LLM Agent</a:t>
            </a:r>
          </a:p>
        </p:txBody>
      </p:sp>
      <p:sp>
        <p:nvSpPr>
          <p:cNvPr id="8" name="Rectangle 7"/>
          <p:cNvSpPr/>
          <p:nvPr/>
        </p:nvSpPr>
        <p:spPr>
          <a:xfrm>
            <a:off x="457200" y="26517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62432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ENVIRONMENT &amp; CONTEXT</a:t>
            </a:r>
          </a:p>
        </p:txBody>
      </p:sp>
      <p:sp>
        <p:nvSpPr>
          <p:cNvPr id="10" name="TextBox 9"/>
          <p:cNvSpPr txBox="1"/>
          <p:nvPr/>
        </p:nvSpPr>
        <p:spPr>
          <a:xfrm>
            <a:off x="868680" y="3063240"/>
            <a:ext cx="4617720" cy="548640"/>
          </a:xfrm>
          <a:prstGeom prst="rect">
            <a:avLst/>
          </a:prstGeom>
          <a:noFill/>
        </p:spPr>
        <p:txBody>
          <a:bodyPr wrap="square" lIns="0" rIns="0" tIns="0" bIns="0">
            <a:spAutoFit/>
          </a:bodyPr>
          <a:lstStyle/>
          <a:p>
            <a:pPr>
              <a:spcAft>
                <a:spcPts val="200"/>
              </a:spcAft>
            </a:pPr>
            <a:r>
              <a:rPr sz="1300" b="0">
                <a:solidFill>
                  <a:srgbClr val="5B5F6E"/>
                </a:solidFill>
                <a:latin typeface="Calibri"/>
              </a:rPr>
              <a:t>-  Ecdat::Cracker scanner panel: four brands, real prices,</a:t>
            </a:r>
          </a:p>
          <a:p>
            <a:pPr>
              <a:spcAft>
                <a:spcPts val="200"/>
              </a:spcAft>
            </a:pPr>
            <a:r>
              <a:rPr sz="1300" b="0">
                <a:solidFill>
                  <a:srgbClr val="5B5F6E"/>
                </a:solidFill>
                <a:latin typeface="Calibri"/>
              </a:rPr>
              <a:t>   display and feature, conditioned on participation.</a:t>
            </a:r>
          </a:p>
          <a:p>
            <a:pPr>
              <a:spcAft>
                <a:spcPts val="200"/>
              </a:spcAft>
            </a:pPr>
            <a:r>
              <a:rPr sz="1300" b="0">
                <a:solidFill>
                  <a:srgbClr val="5B5F6E"/>
                </a:solidFill>
                <a:latin typeface="Calibri"/>
              </a:rPr>
              <a:t>-  The identical choice set is given to every non-human arm.</a:t>
            </a:r>
          </a:p>
          <a:p>
            <a:pPr>
              <a:spcAft>
                <a:spcPts val="200"/>
              </a:spcAft>
            </a:pPr>
            <a:r>
              <a:rPr sz="1300" b="0">
                <a:solidFill>
                  <a:srgbClr val="5B5F6E"/>
                </a:solidFill>
                <a:latin typeface="Calibri"/>
              </a:rPr>
              <a:t>-  openai/gpt-oss-120b, temperature 0, reasoning_effort low,</a:t>
            </a:r>
          </a:p>
          <a:p>
            <a:pPr>
              <a:spcAft>
                <a:spcPts val="200"/>
              </a:spcAft>
            </a:pPr>
            <a:r>
              <a:rPr sz="1300" b="0">
                <a:solidFill>
                  <a:srgbClr val="5B5F6E"/>
                </a:solidFill>
                <a:latin typeface="Calibri"/>
              </a:rPr>
              <a:t>   frozen before any comparison. 2,212 distinct prompts.</a:t>
            </a:r>
          </a:p>
        </p:txBody>
      </p:sp>
      <p:sp>
        <p:nvSpPr>
          <p:cNvPr id="11" name="Rectangle 10"/>
          <p:cNvSpPr/>
          <p:nvPr/>
        </p:nvSpPr>
        <p:spPr>
          <a:xfrm>
            <a:off x="457200" y="3886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3858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METHOD</a:t>
            </a:r>
          </a:p>
        </p:txBody>
      </p:sp>
      <p:sp>
        <p:nvSpPr>
          <p:cNvPr id="13" name="TextBox 12"/>
          <p:cNvSpPr txBox="1"/>
          <p:nvPr/>
        </p:nvSpPr>
        <p:spPr>
          <a:xfrm>
            <a:off x="868680" y="4297680"/>
            <a:ext cx="4617720" cy="594360"/>
          </a:xfrm>
          <a:prstGeom prst="rect">
            <a:avLst/>
          </a:prstGeom>
          <a:noFill/>
        </p:spPr>
        <p:txBody>
          <a:bodyPr wrap="square" lIns="0" rIns="0" tIns="0" bIns="0">
            <a:spAutoFit/>
          </a:bodyPr>
          <a:lstStyle/>
          <a:p>
            <a:pPr>
              <a:spcAft>
                <a:spcPts val="200"/>
              </a:spcAft>
            </a:pPr>
            <a:r>
              <a:rPr sz="1300" b="0">
                <a:solidFill>
                  <a:srgbClr val="5B5F6E"/>
                </a:solidFill>
                <a:latin typeface="Calibri"/>
              </a:rPr>
              <a:t>Jensen-Shannon between distributions within a scenario, never per</a:t>
            </a:r>
          </a:p>
          <a:p>
            <a:pPr>
              <a:spcAft>
                <a:spcPts val="200"/>
              </a:spcAft>
            </a:pPr>
            <a:r>
              <a:rPr sz="1300" b="0">
                <a:solidFill>
                  <a:srgbClr val="5B5F6E"/>
                </a:solidFill>
                <a:latin typeface="Calibri"/>
              </a:rPr>
              <a:t>occasion, plus four pre-registered sign contrasts that must agree</a:t>
            </a:r>
          </a:p>
          <a:p>
            <a:pPr>
              <a:spcAft>
                <a:spcPts val="200"/>
              </a:spcAft>
            </a:pPr>
            <a:r>
              <a:rPr sz="1300" b="0">
                <a:solidFill>
                  <a:srgbClr val="5B5F6E"/>
                </a:solidFill>
                <a:latin typeface="Calibri"/>
              </a:rPr>
              <a:t>before any magnitude is discussed. The S arm is scored on held-out</a:t>
            </a:r>
          </a:p>
          <a:p>
            <a:pPr>
              <a:spcAft>
                <a:spcPts val="200"/>
              </a:spcAft>
            </a:pPr>
            <a:r>
              <a:rPr sz="1300" b="0">
                <a:solidFill>
                  <a:srgbClr val="5B5F6E"/>
                </a:solidFill>
                <a:latin typeface="Calibri"/>
              </a:rPr>
              <a:t>occasions only, since its utility is B1's fit plus a memory term.</a:t>
            </a:r>
          </a:p>
        </p:txBody>
      </p:sp>
      <p:sp>
        <p:nvSpPr>
          <p:cNvPr id="14" name="Rectangle 13"/>
          <p:cNvSpPr/>
          <p:nvPr/>
        </p:nvSpPr>
        <p:spPr>
          <a:xfrm>
            <a:off x="457200" y="502920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68680" y="5001768"/>
            <a:ext cx="461772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LITERATURE BASIS</a:t>
            </a:r>
          </a:p>
        </p:txBody>
      </p:sp>
      <p:sp>
        <p:nvSpPr>
          <p:cNvPr id="16" name="TextBox 15"/>
          <p:cNvSpPr txBox="1"/>
          <p:nvPr/>
        </p:nvSpPr>
        <p:spPr>
          <a:xfrm>
            <a:off x="868680" y="5440680"/>
            <a:ext cx="4617720" cy="1005840"/>
          </a:xfrm>
          <a:prstGeom prst="rect">
            <a:avLst/>
          </a:prstGeom>
          <a:noFill/>
        </p:spPr>
        <p:txBody>
          <a:bodyPr wrap="square" lIns="0" rIns="0" tIns="0" bIns="0">
            <a:spAutoFit/>
          </a:bodyPr>
          <a:lstStyle/>
          <a:p>
            <a:pPr>
              <a:spcAft>
                <a:spcPts val="600"/>
              </a:spcAft>
            </a:pPr>
            <a:r>
              <a:rPr sz="1100" b="1">
                <a:solidFill>
                  <a:srgbClr val="1E2761"/>
                </a:solidFill>
                <a:latin typeface="Calibri"/>
              </a:rPr>
              <a:t>Guadagni &amp; Little (1983), </a:t>
            </a:r>
            <a:r>
              <a:rPr sz="1100" b="0">
                <a:solidFill>
                  <a:srgbClr val="5B5F6E"/>
                </a:solidFill>
                <a:latin typeface="Calibri"/>
              </a:rPr>
              <a:t>“A Logit Model of Brand Choice Calibrated on Scanner Data” (Marketing Science) — the loyalty stock this project rebuilt independently and now measures against.</a:t>
            </a:r>
          </a:p>
        </p:txBody>
      </p:sp>
      <p:sp>
        <p:nvSpPr>
          <p:cNvPr id="17" name="Rectangle 16"/>
          <p:cNvSpPr/>
          <p:nvPr/>
        </p:nvSpPr>
        <p:spPr>
          <a:xfrm>
            <a:off x="5943600" y="141732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138988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KEY RESULTS</a:t>
            </a:r>
          </a:p>
        </p:txBody>
      </p:sp>
      <p:graphicFrame>
        <p:nvGraphicFramePr>
          <p:cNvPr id="19" name="Table 18"/>
          <p:cNvGraphicFramePr>
            <a:graphicFrameLocks noGrp="1"/>
          </p:cNvGraphicFramePr>
          <p:nvPr/>
        </p:nvGraphicFramePr>
        <p:xfrm>
          <a:off x="5943600" y="1874519"/>
          <a:ext cx="5760720" cy="1920240"/>
        </p:xfrm>
        <a:graphic>
          <a:graphicData uri="http://schemas.openxmlformats.org/drawingml/2006/table">
            <a:tbl>
              <a:tblPr firstRow="1" bandRow="1">
                <a:tableStyleId>{5C22544A-7EE6-4342-B048-85BDC9FD1C3A}</a:tableStyleId>
              </a:tblPr>
              <a:tblGrid>
                <a:gridCol w="3200400"/>
                <a:gridCol w="1463040"/>
                <a:gridCol w="1097280"/>
              </a:tblGrid>
              <a:tr h="274320">
                <a:tc>
                  <a:txBody>
                    <a:bodyPr/>
                    <a:lstStyle/>
                    <a:p>
                      <a:r>
                        <a:rPr sz="1100" b="1">
                          <a:solidFill>
                            <a:srgbClr val="FFFFFF"/>
                          </a:solidFill>
                          <a:latin typeface="Calibri"/>
                        </a:rPr>
                        <a:t>Metric</a:t>
                      </a:r>
                    </a:p>
                  </a:txBody>
                  <a:tcPr>
                    <a:solidFill>
                      <a:srgbClr val="1E2761"/>
                    </a:solidFill>
                  </a:tcPr>
                </a:tc>
                <a:tc>
                  <a:txBody>
                    <a:bodyPr/>
                    <a:lstStyle/>
                    <a:p>
                      <a:r>
                        <a:rPr sz="1100" b="1">
                          <a:solidFill>
                            <a:srgbClr val="FFFFFF"/>
                          </a:solidFill>
                          <a:latin typeface="Calibri"/>
                        </a:rPr>
                        <a:t>Value</a:t>
                      </a:r>
                    </a:p>
                  </a:txBody>
                  <a:tcPr>
                    <a:solidFill>
                      <a:srgbClr val="1E2761"/>
                    </a:solidFill>
                  </a:tcPr>
                </a:tc>
                <a:tc>
                  <a:txBody>
                    <a:bodyPr/>
                    <a:lstStyle/>
                    <a:p>
                      <a:r>
                        <a:rPr sz="1100" b="1">
                          <a:solidFill>
                            <a:srgbClr val="FFFFFF"/>
                          </a:solidFill>
                          <a:latin typeface="Calibri"/>
                        </a:rPr>
                        <a:t/>
                      </a:r>
                    </a:p>
                  </a:txBody>
                  <a:tcPr>
                    <a:solidFill>
                      <a:srgbClr val="1E2761"/>
                    </a:solidFill>
                  </a:tcPr>
                </a:tc>
              </a:tr>
              <a:tr h="274320">
                <a:tc>
                  <a:txBody>
                    <a:bodyPr/>
                    <a:lstStyle/>
                    <a:p>
                      <a:r>
                        <a:rPr sz="1100">
                          <a:solidFill>
                            <a:srgbClr val="1E2761"/>
                          </a:solidFill>
                          <a:latin typeface="Calibri"/>
                        </a:rPr>
                        <a:t>Marginal shares (floor)</a:t>
                      </a:r>
                    </a:p>
                  </a:txBody>
                  <a:tcPr>
                    <a:solidFill>
                      <a:srgbClr val="FFFFFF"/>
                    </a:solidFill>
                  </a:tcPr>
                </a:tc>
                <a:tc>
                  <a:txBody>
                    <a:bodyPr/>
                    <a:lstStyle/>
                    <a:p>
                      <a:r>
                        <a:rPr sz="1100">
                          <a:solidFill>
                            <a:srgbClr val="5B5F6E"/>
                          </a:solidFill>
                          <a:latin typeface="Calibri"/>
                        </a:rPr>
                        <a:t>JS 0.1256</a:t>
                      </a:r>
                    </a:p>
                  </a:txBody>
                  <a:tcPr>
                    <a:solidFill>
                      <a:srgbClr val="FFFFFF"/>
                    </a:solidFill>
                  </a:tcPr>
                </a:tc>
                <a:tc>
                  <a:txBody>
                    <a:bodyPr/>
                    <a:lstStyle/>
                    <a:p>
                      <a:pPr algn="ctr"/>
                      <a:r>
                        <a:rPr sz="1100" b="1">
                          <a:solidFill>
                            <a:srgbClr val="5B5F6E"/>
                          </a:solidFill>
                          <a:latin typeface="Calibri"/>
                        </a:rPr>
                        <a:t>1.0696 nats</a:t>
                      </a:r>
                    </a:p>
                  </a:txBody>
                  <a:tcPr>
                    <a:solidFill>
                      <a:srgbClr val="FFFFFF"/>
                    </a:solidFill>
                  </a:tcPr>
                </a:tc>
              </a:tr>
              <a:tr h="274320">
                <a:tc>
                  <a:txBody>
                    <a:bodyPr/>
                    <a:lstStyle/>
                    <a:p>
                      <a:r>
                        <a:rPr sz="1100">
                          <a:solidFill>
                            <a:srgbClr val="1E2761"/>
                          </a:solidFill>
                          <a:latin typeface="Calibri"/>
                        </a:rPr>
                        <a:t>Conditional model</a:t>
                      </a:r>
                    </a:p>
                  </a:txBody>
                  <a:tcPr>
                    <a:solidFill>
                      <a:srgbClr val="F7F8FC"/>
                    </a:solidFill>
                  </a:tcPr>
                </a:tc>
                <a:tc>
                  <a:txBody>
                    <a:bodyPr/>
                    <a:lstStyle/>
                    <a:p>
                      <a:r>
                        <a:rPr sz="1100">
                          <a:solidFill>
                            <a:srgbClr val="5B5F6E"/>
                          </a:solidFill>
                          <a:latin typeface="Calibri"/>
                        </a:rPr>
                        <a:t>JS 0.0404</a:t>
                      </a:r>
                    </a:p>
                  </a:txBody>
                  <a:tcPr>
                    <a:solidFill>
                      <a:srgbClr val="F7F8FC"/>
                    </a:solidFill>
                  </a:tcPr>
                </a:tc>
                <a:tc>
                  <a:txBody>
                    <a:bodyPr/>
                    <a:lstStyle/>
                    <a:p>
                      <a:pPr algn="ctr"/>
                      <a:r>
                        <a:rPr sz="1100" b="1">
                          <a:solidFill>
                            <a:srgbClr val="5B5F6E"/>
                          </a:solidFill>
                          <a:latin typeface="Calibri"/>
                        </a:rPr>
                        <a:t>0.7739 nats</a:t>
                      </a:r>
                    </a:p>
                  </a:txBody>
                  <a:tcPr>
                    <a:solidFill>
                      <a:srgbClr val="F7F8FC"/>
                    </a:solidFill>
                  </a:tcPr>
                </a:tc>
              </a:tr>
              <a:tr h="274320">
                <a:tc>
                  <a:txBody>
                    <a:bodyPr/>
                    <a:lstStyle/>
                    <a:p>
                      <a:r>
                        <a:rPr sz="1100">
                          <a:solidFill>
                            <a:srgbClr val="1E2761"/>
                          </a:solidFill>
                          <a:latin typeface="Calibri"/>
                        </a:rPr>
                        <a:t>LLM Agent</a:t>
                      </a:r>
                    </a:p>
                  </a:txBody>
                  <a:tcPr>
                    <a:solidFill>
                      <a:srgbClr val="FFFFFF"/>
                    </a:solidFill>
                  </a:tcPr>
                </a:tc>
                <a:tc>
                  <a:txBody>
                    <a:bodyPr/>
                    <a:lstStyle/>
                    <a:p>
                      <a:r>
                        <a:rPr sz="1100">
                          <a:solidFill>
                            <a:srgbClr val="5B5F6E"/>
                          </a:solidFill>
                          <a:latin typeface="Calibri"/>
                        </a:rPr>
                        <a:t>JS 0.2448</a:t>
                      </a:r>
                    </a:p>
                  </a:txBody>
                  <a:tcPr>
                    <a:solidFill>
                      <a:srgbClr val="FFFFFF"/>
                    </a:solidFill>
                  </a:tcPr>
                </a:tc>
                <a:tc>
                  <a:txBody>
                    <a:bodyPr/>
                    <a:lstStyle/>
                    <a:p>
                      <a:pPr algn="ctr"/>
                      <a:r>
                        <a:rPr sz="1100" b="1">
                          <a:solidFill>
                            <a:srgbClr val="5B5F6E"/>
                          </a:solidFill>
                          <a:latin typeface="Calibri"/>
                        </a:rPr>
                        <a:t>1.8966 nats</a:t>
                      </a:r>
                    </a:p>
                  </a:txBody>
                  <a:tcPr>
                    <a:solidFill>
                      <a:srgbClr val="FFFFFF"/>
                    </a:solidFill>
                  </a:tcPr>
                </a:tc>
              </a:tr>
              <a:tr h="274320">
                <a:tc>
                  <a:txBody>
                    <a:bodyPr/>
                    <a:lstStyle/>
                    <a:p>
                      <a:r>
                        <a:rPr sz="1100">
                          <a:solidFill>
                            <a:srgbClr val="1E2761"/>
                          </a:solidFill>
                          <a:latin typeface="Calibri"/>
                        </a:rPr>
                        <a:t>Mechanism directions</a:t>
                      </a:r>
                    </a:p>
                  </a:txBody>
                  <a:tcPr>
                    <a:solidFill>
                      <a:srgbClr val="F7F8FC"/>
                    </a:solidFill>
                  </a:tcPr>
                </a:tc>
                <a:tc>
                  <a:txBody>
                    <a:bodyPr/>
                    <a:lstStyle/>
                    <a:p>
                      <a:r>
                        <a:rPr sz="1100">
                          <a:solidFill>
                            <a:srgbClr val="5B5F6E"/>
                          </a:solidFill>
                          <a:latin typeface="Calibri"/>
                        </a:rPr>
                        <a:t>4/4 for every arm</a:t>
                      </a:r>
                    </a:p>
                  </a:txBody>
                  <a:tcPr>
                    <a:solidFill>
                      <a:srgbClr val="F7F8FC"/>
                    </a:solidFill>
                  </a:tcPr>
                </a:tc>
                <a:tc>
                  <a:txBody>
                    <a:bodyPr/>
                    <a:lstStyle/>
                    <a:p>
                      <a:pPr algn="ctr"/>
                      <a:r>
                        <a:rPr sz="1100" b="1">
                          <a:solidFill>
                            <a:srgbClr val="5B5F6E"/>
                          </a:solidFill>
                          <a:latin typeface="Calibri"/>
                        </a:rPr>
                        <a:t>including the floor</a:t>
                      </a:r>
                    </a:p>
                  </a:txBody>
                  <a:tcPr>
                    <a:solidFill>
                      <a:srgbClr val="F7F8FC"/>
                    </a:solidFill>
                  </a:tcPr>
                </a:tc>
              </a:tr>
              <a:tr h="274320">
                <a:tc>
                  <a:txBody>
                    <a:bodyPr/>
                    <a:lstStyle/>
                    <a:p>
                      <a:r>
                        <a:rPr sz="1100">
                          <a:solidFill>
                            <a:srgbClr val="1E2761"/>
                          </a:solidFill>
                          <a:latin typeface="Calibri"/>
                        </a:rPr>
                        <a:t>Simulator memory over B1</a:t>
                      </a:r>
                    </a:p>
                  </a:txBody>
                  <a:tcPr>
                    <a:solidFill>
                      <a:srgbClr val="FFFFFF"/>
                    </a:solidFill>
                  </a:tcPr>
                </a:tc>
                <a:tc>
                  <a:txBody>
                    <a:bodyPr/>
                    <a:lstStyle/>
                    <a:p>
                      <a:r>
                        <a:rPr sz="1100">
                          <a:solidFill>
                            <a:srgbClr val="5B5F6E"/>
                          </a:solidFill>
                          <a:latin typeface="Calibri"/>
                        </a:rPr>
                        <a:t>-0.0049 nats</a:t>
                      </a:r>
                    </a:p>
                  </a:txBody>
                  <a:tcPr>
                    <a:solidFill>
                      <a:srgbClr val="FFFFFF"/>
                    </a:solidFill>
                  </a:tcPr>
                </a:tc>
                <a:tc>
                  <a:txBody>
                    <a:bodyPr/>
                    <a:lstStyle/>
                    <a:p>
                      <a:pPr algn="ctr"/>
                      <a:r>
                        <a:rPr sz="1100" b="1">
                          <a:solidFill>
                            <a:srgbClr val="5B5F6E"/>
                          </a:solidFill>
                          <a:latin typeface="Calibri"/>
                        </a:rPr>
                        <a:t>[-0.0101, +0.0006]</a:t>
                      </a:r>
                    </a:p>
                  </a:txBody>
                  <a:tcPr>
                    <a:solidFill>
                      <a:srgbClr val="FFFFFF"/>
                    </a:solidFill>
                  </a:tcPr>
                </a:tc>
              </a:tr>
              <a:tr h="274320">
                <a:tc>
                  <a:txBody>
                    <a:bodyPr/>
                    <a:lstStyle/>
                    <a:p>
                      <a:r>
                        <a:rPr sz="1100">
                          <a:solidFill>
                            <a:srgbClr val="1E2761"/>
                          </a:solidFill>
                          <a:latin typeface="Calibri"/>
                        </a:rPr>
                        <a:t>Free-running closed loop</a:t>
                      </a:r>
                    </a:p>
                  </a:txBody>
                  <a:tcPr>
                    <a:solidFill>
                      <a:srgbClr val="F7F8FC"/>
                    </a:solidFill>
                  </a:tcPr>
                </a:tc>
                <a:tc>
                  <a:txBody>
                    <a:bodyPr/>
                    <a:lstStyle/>
                    <a:p>
                      <a:r>
                        <a:rPr sz="1100">
                          <a:solidFill>
                            <a:srgbClr val="5B5F6E"/>
                          </a:solidFill>
                          <a:latin typeface="Calibri"/>
                        </a:rPr>
                        <a:t>1.09x</a:t>
                      </a:r>
                    </a:p>
                  </a:txBody>
                  <a:tcPr>
                    <a:solidFill>
                      <a:srgbClr val="F7F8FC"/>
                    </a:solidFill>
                  </a:tcPr>
                </a:tc>
                <a:tc>
                  <a:txBody>
                    <a:bodyPr/>
                    <a:lstStyle/>
                    <a:p>
                      <a:pPr algn="ctr"/>
                      <a:r>
                        <a:rPr sz="1100" b="1">
                          <a:solidFill>
                            <a:srgbClr val="5B5F6E"/>
                          </a:solidFill>
                          <a:latin typeface="Calibri"/>
                        </a:rPr>
                        <a:t>no trend by depth</a:t>
                      </a:r>
                    </a:p>
                  </a:txBody>
                  <a:tcPr>
                    <a:solidFill>
                      <a:srgbClr val="F7F8FC"/>
                    </a:solidFill>
                  </a:tcPr>
                </a:tc>
              </a:tr>
            </a:tbl>
          </a:graphicData>
        </a:graphic>
      </p:graphicFrame>
      <p:sp>
        <p:nvSpPr>
          <p:cNvPr id="20" name="Rectangle 19"/>
          <p:cNvSpPr/>
          <p:nvPr/>
        </p:nvSpPr>
        <p:spPr>
          <a:xfrm>
            <a:off x="5943600" y="4023360"/>
            <a:ext cx="292608"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995928"/>
            <a:ext cx="5349240" cy="347472"/>
          </a:xfrm>
          <a:prstGeom prst="rect">
            <a:avLst/>
          </a:prstGeom>
          <a:noFill/>
        </p:spPr>
        <p:txBody>
          <a:bodyPr wrap="square" lIns="0" rIns="0" tIns="0" bIns="0">
            <a:spAutoFit/>
          </a:bodyPr>
          <a:lstStyle/>
          <a:p>
            <a:pPr>
              <a:spcAft>
                <a:spcPts val="200"/>
              </a:spcAft>
            </a:pPr>
            <a:r>
              <a:rPr sz="1500" b="1">
                <a:solidFill>
                  <a:srgbClr val="1E2761"/>
                </a:solidFill>
                <a:latin typeface="Calibri"/>
              </a:rPr>
              <a:t>RESEARCH QUESTION</a:t>
            </a:r>
          </a:p>
        </p:txBody>
      </p:sp>
      <p:sp>
        <p:nvSpPr>
          <p:cNvPr id="22" name="Rectangle 21"/>
          <p:cNvSpPr/>
          <p:nvPr/>
        </p:nvSpPr>
        <p:spPr>
          <a:xfrm>
            <a:off x="5943600" y="4434840"/>
            <a:ext cx="5760720" cy="196596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4572000"/>
            <a:ext cx="5212080" cy="1737360"/>
          </a:xfrm>
          <a:prstGeom prst="rect">
            <a:avLst/>
          </a:prstGeom>
          <a:noFill/>
        </p:spPr>
        <p:txBody>
          <a:bodyPr wrap="square" lIns="0" rIns="0" tIns="0" bIns="0">
            <a:spAutoFit/>
          </a:bodyPr>
          <a:lstStyle/>
          <a:p>
            <a:pPr>
              <a:spcAft>
                <a:spcPts val="500"/>
              </a:spcAft>
            </a:pPr>
            <a:r>
              <a:rPr sz="1000" b="0">
                <a:solidFill>
                  <a:srgbClr val="5B5F6E"/>
                </a:solidFill>
                <a:latin typeface="Calibri"/>
              </a:rPr>
              <a:t>Given the same choice sets and the same household history, does an LLM Agent recover sequential structure that a conditional choice model does not already capture?</a:t>
            </a:r>
          </a:p>
          <a:p>
            <a:pPr>
              <a:spcAft>
                <a:spcPts val="500"/>
              </a:spcAft>
            </a:pPr>
            <a:r>
              <a:rPr sz="1000" b="1">
                <a:solidFill>
                  <a:srgbClr val="1E2761"/>
                </a:solidFill>
                <a:latin typeface="Calibri"/>
              </a:rPr>
              <a:t>Finding: </a:t>
            </a:r>
            <a:r>
              <a:rPr sz="1000" b="0">
                <a:solidFill>
                  <a:srgbClr val="5B5F6E"/>
                </a:solidFill>
                <a:latin typeface="Calibri"/>
              </a:rPr>
              <a:t>No — it does not recover what the marginal shares capture. The Agent sits at JS 0.2448 against the floor's 0.1256 and the conditional model's 0.0404, roughly twice as far from the panel as knowing nothing but brand shares. Every arm gets all four pre-registered directions right, the floor included, so sign agreement separates none of them.</a:t>
            </a:r>
          </a:p>
          <a:p>
            <a:pPr>
              <a:spcAft>
                <a:spcPts val="500"/>
              </a:spcAft>
            </a:pPr>
            <a:r>
              <a:rPr sz="1000" b="1">
                <a:solidFill>
                  <a:srgbClr val="1E2761"/>
                </a:solidFill>
                <a:latin typeface="Calibri"/>
              </a:rPr>
              <a:t>Caveat: </a:t>
            </a:r>
            <a:r>
              <a:rPr sz="1000" b="0">
                <a:solidFill>
                  <a:srgbClr val="5B5F6E"/>
                </a:solidFill>
                <a:latin typeface="Calibri"/>
              </a:rPr>
              <a:t>The simulator's own memory adds nothing distinguishable to a model that already knows the household: -0.0049 nats, CI spanning zero. And a model knowing no individual matches the aggregate almost as well as one that does while being twice as wrong per household — so aggregate fidelity and sign agreement are jointly insufficient. A 3.4x loyalty claim made earlier was withdrawn: it compared an upper bound against a causal quantity.</a:t>
            </a:r>
          </a:p>
        </p:txBody>
      </p:sp>
      <p:sp>
        <p:nvSpPr>
          <p:cNvPr id="24" name="TextBox 23"/>
          <p:cNvSpPr txBox="1"/>
          <p:nvPr/>
        </p:nvSpPr>
        <p:spPr>
          <a:xfrm>
            <a:off x="457200" y="6446520"/>
            <a:ext cx="11247120" cy="274320"/>
          </a:xfrm>
          <a:prstGeom prst="rect">
            <a:avLst/>
          </a:prstGeom>
          <a:noFill/>
        </p:spPr>
        <p:txBody>
          <a:bodyPr wrap="square" lIns="0" rIns="0" tIns="0" bIns="0">
            <a:spAutoFit/>
          </a:bodyPr>
          <a:lstStyle/>
          <a:p>
            <a:pPr>
              <a:spcAft>
                <a:spcPts val="200"/>
              </a:spcAft>
            </a:pPr>
            <a:r>
              <a:rPr sz="950" b="0">
                <a:solidFill>
                  <a:srgbClr val="5B5F6E"/>
                </a:solidFill>
                <a:latin typeface="Calibri"/>
              </a:rPr>
              <a:t>Generated automatically at phase completion  ·  Phase Completion Deliverable  ·  market-sim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