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7e-1 Calibration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second environment where loyalty is a stock  ·  git tag: phase7e1-calibrated  ·  30 seeds x 66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1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flat prices, so this measures the mechanism not a learner</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Loyalty is a per-pair stock: decays at rho, saturates through tanh,</a:t>
            </a:r>
          </a:p>
          <a:p>
            <a:pPr>
              <a:spcAft>
                <a:spcPts val="200"/>
              </a:spcAft>
            </a:pPr>
            <a:r>
              <a:rPr sz="1300" b="0">
                <a:solidFill>
                  <a:srgbClr val="5B5F6E"/>
                </a:solidFill>
                <a:latin typeface="Calibri"/>
              </a:rPr>
              <a:t>   and accrues more from a cheaper purchase. It never resets to zero.</a:t>
            </a:r>
          </a:p>
          <a:p>
            <a:pPr>
              <a:spcAft>
                <a:spcPts val="200"/>
              </a:spcAft>
            </a:pPr>
            <a:r>
              <a:rPr sz="1300" b="0">
                <a:solidFill>
                  <a:srgbClr val="5B5F6E"/>
                </a:solidFill>
                <a:latin typeface="Calibri"/>
              </a:rPr>
              <a:t>-  The base environment's counter runs alongside as the reference cell.</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L_max is solved per cell so incumbency advantage matches the counter's,</a:t>
            </a:r>
          </a:p>
          <a:p>
            <a:pPr>
              <a:spcAft>
                <a:spcPts val="200"/>
              </a:spcAft>
            </a:pPr>
            <a:r>
              <a:rPr sz="1300" b="0">
                <a:solidFill>
                  <a:srgbClr val="5B5F6E"/>
                </a:solidFill>
                <a:latin typeface="Calibri"/>
              </a:rPr>
              <a:t>then rho is swept with beta holding the steady-state stock fixed.</a:t>
            </a:r>
          </a:p>
          <a:p>
            <a:pPr>
              <a:spcAft>
                <a:spcPts val="200"/>
              </a:spcAft>
            </a:pPr>
            <a:r>
              <a:rPr sz="1300" b="0">
                <a:solidFill>
                  <a:srgbClr val="5B5F6E"/>
                </a:solidFill>
                <a:latin typeface="Calibri"/>
              </a:rPr>
              <a:t>Gate: excess repeat rate at lag 8 vs the memory-OFF twin, same seeds.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Guadagni &amp; Little (1983), </a:t>
            </a:r>
            <a:r>
              <a:rPr sz="1100" b="0">
                <a:solidFill>
                  <a:srgbClr val="5B5F6E"/>
                </a:solidFill>
                <a:latin typeface="Calibri"/>
              </a:rPr>
              <a:t>“A Logit Model of Brand Choice Calibrated on Scanner Data” (Marketing Science) — exponentially smoothed loyalty in a logit choice model, which is the stock used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Counter, lag-8 memory</a:t>
                      </a:r>
                    </a:p>
                  </a:txBody>
                  <a:tcPr>
                    <a:solidFill>
                      <a:srgbClr val="FFFFFF"/>
                    </a:solidFill>
                  </a:tcPr>
                </a:tc>
                <a:tc>
                  <a:txBody>
                    <a:bodyPr/>
                    <a:lstStyle/>
                    <a:p>
                      <a:r>
                        <a:rPr sz="1100">
                          <a:solidFill>
                            <a:srgbClr val="5B5F6E"/>
                          </a:solidFill>
                          <a:latin typeface="Calibri"/>
                        </a:rPr>
                        <a:t>+0.019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Stock rho=0.8, lag-8</a:t>
                      </a:r>
                    </a:p>
                  </a:txBody>
                  <a:tcPr>
                    <a:solidFill>
                      <a:srgbClr val="F7F8FC"/>
                    </a:solidFill>
                  </a:tcPr>
                </a:tc>
                <a:tc>
                  <a:txBody>
                    <a:bodyPr/>
                    <a:lstStyle/>
                    <a:p>
                      <a:r>
                        <a:rPr sz="1100">
                          <a:solidFill>
                            <a:srgbClr val="5B5F6E"/>
                          </a:solidFill>
                          <a:latin typeface="Calibri"/>
                        </a:rPr>
                        <a:t>+0.054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as a multiple</a:t>
                      </a:r>
                    </a:p>
                  </a:txBody>
                  <a:tcPr>
                    <a:solidFill>
                      <a:srgbClr val="FFFFFF"/>
                    </a:solidFill>
                  </a:tcPr>
                </a:tc>
                <a:tc>
                  <a:txBody>
                    <a:bodyPr/>
                    <a:lstStyle/>
                    <a:p>
                      <a:r>
                        <a:rPr sz="1100">
                          <a:solidFill>
                            <a:srgbClr val="5B5F6E"/>
                          </a:solidFill>
                          <a:latin typeface="Calibri"/>
                        </a:rPr>
                        <a:t>2.83x</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Lock-in, stock vs counter</a:t>
                      </a:r>
                    </a:p>
                  </a:txBody>
                  <a:tcPr>
                    <a:solidFill>
                      <a:srgbClr val="F7F8FC"/>
                    </a:solidFill>
                  </a:tcPr>
                </a:tc>
                <a:tc>
                  <a:txBody>
                    <a:bodyPr/>
                    <a:lstStyle/>
                    <a:p>
                      <a:r>
                        <a:rPr sz="1100">
                          <a:solidFill>
                            <a:srgbClr val="5B5F6E"/>
                          </a:solidFill>
                          <a:latin typeface="Calibri"/>
                        </a:rPr>
                        <a:t>0.81 vs 0.81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Pair stability</a:t>
                      </a:r>
                    </a:p>
                  </a:txBody>
                  <a:tcPr>
                    <a:solidFill>
                      <a:srgbClr val="FFFFFF"/>
                    </a:solidFill>
                  </a:tcPr>
                </a:tc>
                <a:tc>
                  <a:txBody>
                    <a:bodyPr/>
                    <a:lstStyle/>
                    <a:p>
                      <a:r>
                        <a:rPr sz="1100">
                          <a:solidFill>
                            <a:srgbClr val="5B5F6E"/>
                          </a:solidFill>
                          <a:latin typeface="Calibri"/>
                        </a:rPr>
                        <a:t>0.401 vs 0.430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optimum</a:t>
                      </a:r>
                    </a:p>
                  </a:txBody>
                  <a:tcPr>
                    <a:solidFill>
                      <a:srgbClr val="F7F8FC"/>
                    </a:solidFill>
                  </a:tcPr>
                </a:tc>
                <a:tc>
                  <a:txBody>
                    <a:bodyPr/>
                    <a:lstStyle/>
                    <a:p>
                      <a:r>
                        <a:rPr sz="1100">
                          <a:solidFill>
                            <a:srgbClr val="5B5F6E"/>
                          </a:solidFill>
                          <a:latin typeface="Calibri"/>
                        </a:rPr>
                        <a:t>2.65 vs 2.60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With lock-in strength held equal to the base environment's, does a persistent loyalty stock reach further back in time than a three-week counter?</a:t>
            </a:r>
          </a:p>
          <a:p>
            <a:pPr>
              <a:spcAft>
                <a:spcPts val="500"/>
              </a:spcAft>
            </a:pPr>
            <a:r>
              <a:rPr sz="1000" b="1">
                <a:solidFill>
                  <a:srgbClr val="1E2761"/>
                </a:solidFill>
                <a:latin typeface="Calibri"/>
              </a:rPr>
              <a:t>Finding: </a:t>
            </a:r>
            <a:r>
              <a:rPr sz="1000" b="0">
                <a:solidFill>
                  <a:srgbClr val="5B5F6E"/>
                </a:solidFill>
                <a:latin typeface="Calibri"/>
              </a:rPr>
              <a:t>Yes — 2.8x the counter's memory at a lag of 8 weeks, in all four horizons tested. The counter starts stronger (+0.019 at lag 8 against a lag-1 advantage) and collapses at exactly its 3-week cap; the stock is weaker at lag 1 and still measurable at lag 16. A state now exists for a contextual or multi-week policy to condition on.</a:t>
            </a:r>
          </a:p>
          <a:p>
            <a:pPr>
              <a:spcAft>
                <a:spcPts val="500"/>
              </a:spcAft>
            </a:pPr>
            <a:r>
              <a:rPr sz="1000" b="1">
                <a:solidFill>
                  <a:srgbClr val="1E2761"/>
                </a:solidFill>
                <a:latin typeface="Calibri"/>
              </a:rPr>
              <a:t>Caveat: </a:t>
            </a:r>
            <a:r>
              <a:rPr sz="1000" b="0">
                <a:solidFill>
                  <a:srgbClr val="5B5F6E"/>
                </a:solidFill>
                <a:latin typeface="Calibri"/>
              </a:rPr>
              <a:t>The first grid ran with L_max pinned at Phase 6's ceiling and failed, for a reason worth keeping: a nominal ceiling is not strength. The stock bound about a third as hard as the counter (0.25 vs 0.81) and was the *weaker* mechanism. Its gate 1b threshold was also unreachable — 5 pp below a 4.0% baseline. Both are recorded in the spec. Profit levels are not comparable across the two environments: this one sells more (0.81 vs 0.69), so only within-environment comparisons are drawn.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