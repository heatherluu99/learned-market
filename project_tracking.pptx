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7e-3a Does Context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7c's question, asked where the state exists  ·  git tag: phase7e3a-context  ·  tune on 2000–2059, test on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EQUIVALENT — CONTEXT DOES NOT PAY</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at the cell 7e-2 carried: delta = 1.0,</a:t>
            </a:r>
          </a:p>
          <a:p>
            <a:pPr>
              <a:spcAft>
                <a:spcPts val="200"/>
              </a:spcAft>
            </a:pPr>
            <a:r>
              <a:rPr sz="1300" b="0">
                <a:solidFill>
                  <a:srgbClr val="5B5F6E"/>
                </a:solidFill>
                <a:latin typeface="Calibri"/>
              </a:rPr>
              <a:t>   L_max = 3.30, standing price 2.65, arms at ±20% of it.</a:t>
            </a:r>
          </a:p>
          <a:p>
            <a:pPr>
              <a:spcAft>
                <a:spcPts val="200"/>
              </a:spcAft>
            </a:pPr>
            <a:r>
              <a:rPr sz="1300" b="0">
                <a:solidFill>
                  <a:srgbClr val="5B5F6E"/>
                </a:solidFill>
                <a:latin typeface="Calibri"/>
              </a:rPr>
              <a:t>-  Gate 1 established the state is dispersed and persistent.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LinUCB on the loyalty stock and the week, against the identical</a:t>
            </a:r>
          </a:p>
          <a:p>
            <a:pPr>
              <a:spcAft>
                <a:spcPts val="200"/>
              </a:spcAft>
            </a:pPr>
            <a:r>
              <a:rPr sz="1300" b="0">
                <a:solidFill>
                  <a:srgbClr val="5B5F6E"/>
                </a:solidFill>
                <a:latin typeface="Calibri"/>
              </a:rPr>
              <a:t>algorithm restricted to an intercept — same exploration mechanics,</a:t>
            </a:r>
          </a:p>
          <a:p>
            <a:pPr>
              <a:spcAft>
                <a:spcPts val="200"/>
              </a:spcAft>
            </a:pPr>
            <a:r>
              <a:rPr sz="1300" b="0">
                <a:solidFill>
                  <a:srgbClr val="5B5F6E"/>
                </a:solidFill>
                <a:latin typeface="Calibri"/>
              </a:rPr>
              <a:t>same initial arm sweep, both tuned on the discovery block.</a:t>
            </a:r>
          </a:p>
          <a:p>
            <a:pPr>
              <a:spcAft>
                <a:spcPts val="200"/>
              </a:spcAft>
            </a:pPr>
            <a:r>
              <a:rPr sz="1300" b="0">
                <a:solidFill>
                  <a:srgbClr val="5B5F6E"/>
                </a:solidFill>
                <a:latin typeface="Calibri"/>
              </a:rPr>
              <a:t>Plus an oracle diagnostic: does the best arm move with the state?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Li, Chu, Langford &amp; Schapire (2010), </a:t>
            </a:r>
            <a:r>
              <a:rPr sz="1100" b="0">
                <a:solidFill>
                  <a:srgbClr val="5B5F6E"/>
                </a:solidFill>
                <a:latin typeface="Calibri"/>
              </a:rPr>
              <a:t>“A Contextual-Bandit Approach to Personalized News Article Recommendation” (WWW) — LinUCB, used in its original linear form since the state is three interpretable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Oracle best arm, low state</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best arm, high state</a:t>
                      </a:r>
                    </a:p>
                  </a:txBody>
                  <a:tcPr>
                    <a:solidFill>
                      <a:srgbClr val="F7F8FC"/>
                    </a:solidFill>
                  </a:tcPr>
                </a:tc>
                <a:tc>
                  <a:txBody>
                    <a:bodyPr/>
                    <a:lstStyle/>
                    <a:p>
                      <a:r>
                        <a:rPr sz="1100">
                          <a:solidFill>
                            <a:srgbClr val="5B5F6E"/>
                          </a:solidFill>
                          <a:latin typeface="Calibri"/>
                        </a:rPr>
                        <a:t>1.00x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40.6/wk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LinUCB with context</a:t>
                      </a:r>
                    </a:p>
                  </a:txBody>
                  <a:tcPr>
                    <a:solidFill>
                      <a:srgbClr val="F7F8FC"/>
                    </a:solidFill>
                  </a:tcPr>
                </a:tc>
                <a:tc>
                  <a:txBody>
                    <a:bodyPr/>
                    <a:lstStyle/>
                    <a:p>
                      <a:r>
                        <a:rPr sz="1100">
                          <a:solidFill>
                            <a:srgbClr val="5B5F6E"/>
                          </a:solidFill>
                          <a:latin typeface="Calibri"/>
                        </a:rPr>
                        <a:t>39.7/wk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context vs blind</a:t>
                      </a:r>
                    </a:p>
                  </a:txBody>
                  <a:tcPr>
                    <a:solidFill>
                      <a:srgbClr val="FFFFFF"/>
                    </a:solidFill>
                  </a:tcPr>
                </a:tc>
                <a:tc>
                  <a:txBody>
                    <a:bodyPr/>
                    <a:lstStyle/>
                    <a:p>
                      <a:r>
                        <a:rPr sz="1100">
                          <a:solidFill>
                            <a:srgbClr val="5B5F6E"/>
                          </a:solidFill>
                          <a:latin typeface="Calibri"/>
                        </a:rPr>
                        <a:t>-2.3%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a:t>
                      </a:r>
                    </a:p>
                  </a:txBody>
                  <a:tcPr>
                    <a:solidFill>
                      <a:srgbClr val="F7F8FC"/>
                    </a:solidFill>
                  </a:tcPr>
                </a:tc>
                <a:tc>
                  <a:txBody>
                    <a:bodyPr/>
                    <a:lstStyle/>
                    <a:p>
                      <a:r>
                        <a:rPr sz="1100">
                          <a:solidFill>
                            <a:srgbClr val="5B5F6E"/>
                          </a:solidFill>
                          <a:latin typeface="Calibri"/>
                        </a:rPr>
                        <a:t>[-3.0%, -1.5%]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Now that a persistent, dispersed loyalty state exists, does a policy that conditions on it beat one that ignores it?</a:t>
            </a:r>
          </a:p>
          <a:p>
            <a:pPr>
              <a:spcAft>
                <a:spcPts val="500"/>
              </a:spcAft>
            </a:pPr>
            <a:r>
              <a:rPr sz="1000" b="1">
                <a:solidFill>
                  <a:srgbClr val="1E2761"/>
                </a:solidFill>
                <a:latin typeface="Calibri"/>
              </a:rPr>
              <a:t>Finding: </a:t>
            </a:r>
            <a:r>
              <a:rPr sz="1000" b="0">
                <a:solidFill>
                  <a:srgbClr val="5B5F6E"/>
                </a:solidFill>
                <a:latin typeface="Calibri"/>
              </a:rPr>
              <a:t>No, and the oracle says why rather than leaving it ambiguous. Over 460 seller-weeks split at the median loyalty state, the profit-maximizing arm is 1.00x on both sides — a seller with a loyal base and one without want the same price. The learner agrees: -2.3%, CI [-3.0%, -1.5%], equivalent. 7c's finding survives the mechanism change.</a:t>
            </a:r>
          </a:p>
          <a:p>
            <a:pPr>
              <a:spcAft>
                <a:spcPts val="500"/>
              </a:spcAft>
            </a:pPr>
            <a:r>
              <a:rPr sz="1000" b="1">
                <a:solidFill>
                  <a:srgbClr val="1E2761"/>
                </a:solidFill>
                <a:latin typeface="Calibri"/>
              </a:rPr>
              <a:t>Caveat: </a:t>
            </a:r>
            <a:r>
              <a:rPr sz="1000" b="0">
                <a:solidFill>
                  <a:srgbClr val="5B5F6E"/>
                </a:solidFill>
                <a:latin typeface="Calibri"/>
              </a:rPr>
              <a:t>The two measurements together rule out the reading a learned null alone cannot: with hindsight, perfect state measurement and no exploration cost, there is still nothing to condition on. And it connects back — no one-week deviation pays at any state, but 7e-2's sixteen-week one pays 2.6%. The exploitable structure is a sustained commitment, not a weekly state-contingent choice, so a contextual bandit is the wrong instrument by construction. Every learner also loses to flat pricing at the oracle price (43.4/wk), which is not attainable by a learner and bounds rather than enters the comparison.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7e-3b Does the Horizon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trade-off known to exist, and a learner sent to find it  ·  git tag: phase7e3b-horizon  ·  train 1000–1119, test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3b NOT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The cell 7e-2 carried: persistent stock, delta = 1.0, L_max = 3.30.</a:t>
            </a:r>
          </a:p>
          <a:p>
            <a:pPr>
              <a:spcAft>
                <a:spcPts val="200"/>
              </a:spcAft>
            </a:pPr>
            <a:r>
              <a:rPr sz="1300" b="0">
                <a:solidFill>
                  <a:srgbClr val="5B5F6E"/>
                </a:solidFill>
                <a:latin typeface="Calibri"/>
              </a:rPr>
              <a:t>-  7e-2 measured a schedule worth +2.6% here before this was built,</a:t>
            </a:r>
          </a:p>
          <a:p>
            <a:pPr>
              <a:spcAft>
                <a:spcPts val="200"/>
              </a:spcAft>
            </a:pPr>
            <a:r>
              <a:rPr sz="1300" b="0">
                <a:solidFill>
                  <a:srgbClr val="5B5F6E"/>
                </a:solidFill>
                <a:latin typeface="Calibri"/>
              </a:rPr>
              <a:t>   so the thing to find is known, priced, and inside the policy class.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7d's Q-network on a 10-week discounted return, with the</a:t>
            </a:r>
          </a:p>
          <a:p>
            <a:pPr>
              <a:spcAft>
                <a:spcPts val="200"/>
              </a:spcAft>
            </a:pPr>
            <a:r>
              <a:rPr sz="1300" b="0">
                <a:solidFill>
                  <a:srgbClr val="5B5F6E"/>
                </a:solidFill>
                <a:latin typeface="Calibri"/>
              </a:rPr>
              <a:t>loyalty stock added to its features. Its module is reused and</a:t>
            </a:r>
          </a:p>
          <a:p>
            <a:pPr>
              <a:spcAft>
                <a:spcPts val="200"/>
              </a:spcAft>
            </a:pPr>
            <a:r>
              <a:rPr sz="1300" b="0">
                <a:solidFill>
                  <a:srgbClr val="5B5F6E"/>
                </a:solidFill>
                <a:latin typeface="Calibri"/>
              </a:rPr>
              <a:t>parameterized, so 7d still trains on exactly its own four features.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the trade-off the learner is sent after.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7e-2 schedule (attainable)</a:t>
                      </a:r>
                    </a:p>
                  </a:txBody>
                  <a:tcPr>
                    <a:solidFill>
                      <a:srgbClr val="FFFFFF"/>
                    </a:solidFill>
                  </a:tcPr>
                </a:tc>
                <a:tc>
                  <a:txBody>
                    <a:bodyPr/>
                    <a:lstStyle/>
                    <a:p>
                      <a:r>
                        <a:rPr sz="1100">
                          <a:solidFill>
                            <a:srgbClr val="5B5F6E"/>
                          </a:solidFill>
                          <a:latin typeface="Calibri"/>
                        </a:rPr>
                        <a:t>44.3/wk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flat at the oracle price</a:t>
                      </a:r>
                    </a:p>
                  </a:txBody>
                  <a:tcPr>
                    <a:solidFill>
                      <a:srgbClr val="F7F8FC"/>
                    </a:solidFill>
                  </a:tcPr>
                </a:tc>
                <a:tc>
                  <a:txBody>
                    <a:bodyPr/>
                    <a:lstStyle/>
                    <a:p>
                      <a:r>
                        <a:rPr sz="1100">
                          <a:solidFill>
                            <a:srgbClr val="5B5F6E"/>
                          </a:solidFill>
                          <a:latin typeface="Calibri"/>
                        </a:rPr>
                        <a:t>43.2/wk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41.4/wk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Q-network</a:t>
                      </a:r>
                    </a:p>
                  </a:txBody>
                  <a:tcPr>
                    <a:solidFill>
                      <a:srgbClr val="F7F8FC"/>
                    </a:solidFill>
                  </a:tcPr>
                </a:tc>
                <a:tc>
                  <a:txBody>
                    <a:bodyPr/>
                    <a:lstStyle/>
                    <a:p>
                      <a:r>
                        <a:rPr sz="1100">
                          <a:solidFill>
                            <a:srgbClr val="5B5F6E"/>
                          </a:solidFill>
                          <a:latin typeface="Calibri"/>
                        </a:rPr>
                        <a:t>42.3/wk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vs the bandit</a:t>
                      </a:r>
                    </a:p>
                  </a:txBody>
                  <a:tcPr>
                    <a:solidFill>
                      <a:srgbClr val="FFFFFF"/>
                    </a:solidFill>
                  </a:tcPr>
                </a:tc>
                <a:tc>
                  <a:txBody>
                    <a:bodyPr/>
                    <a:lstStyle/>
                    <a:p>
                      <a:r>
                        <a:rPr sz="1100">
                          <a:solidFill>
                            <a:srgbClr val="5B5F6E"/>
                          </a:solidFill>
                          <a:latin typeface="Calibri"/>
                        </a:rPr>
                        <a:t>+2.2%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of the way to the schedule</a:t>
                      </a:r>
                    </a:p>
                  </a:txBody>
                  <a:tcPr>
                    <a:solidFill>
                      <a:srgbClr val="F7F8FC"/>
                    </a:solidFill>
                  </a:tcPr>
                </a:tc>
                <a:tc>
                  <a:txBody>
                    <a:bodyPr/>
                    <a:lstStyle/>
                    <a:p>
                      <a:r>
                        <a:rPr sz="1100">
                          <a:solidFill>
                            <a:srgbClr val="5B5F6E"/>
                          </a:solidFill>
                          <a:latin typeface="Calibri"/>
                        </a:rPr>
                        <a:t>31%</a:t>
                      </a:r>
                    </a:p>
                  </a:txBody>
                  <a:tcPr>
                    <a:solidFill>
                      <a:srgbClr val="F7F8FC"/>
                    </a:solidFill>
                  </a:tcPr>
                </a:tc>
                <a:tc>
                  <a:txBody>
                    <a:bodyPr/>
                    <a:lstStyle/>
                    <a:p>
                      <a:pPr algn="ctr"/>
                      <a:r>
                        <a:rPr sz="1100" b="1">
                          <a:solidFill>
                            <a:srgbClr val="B3262A"/>
                          </a:solidFill>
                          <a:latin typeface="Calibri"/>
                        </a:rPr>
                        <a:t>FAIL</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A sustained investment schedule is known to beat the best standing price here by 2.6%. Can a multi-week learner find it?</a:t>
            </a:r>
          </a:p>
          <a:p>
            <a:pPr>
              <a:spcAft>
                <a:spcPts val="500"/>
              </a:spcAft>
            </a:pPr>
            <a:r>
              <a:rPr sz="1000" b="1">
                <a:solidFill>
                  <a:srgbClr val="1E2761"/>
                </a:solidFill>
                <a:latin typeface="Calibri"/>
              </a:rPr>
              <a:t>Finding: </a:t>
            </a:r>
            <a:r>
              <a:rPr sz="1000" b="0">
                <a:solidFill>
                  <a:srgbClr val="5B5F6E"/>
                </a:solidFill>
                <a:latin typeface="Calibri"/>
              </a:rPr>
              <a:t>The right shape, the right depth, half the duration — and a third of the value. Weeks 0–7 it prices at 2.379 against the hand-found schedule's 2.385; weeks 8–15 it has already returned to 2.635 while the schedule holds at 2.385. It spends 75% of the discount and collects 31% of the gain, because a stock compounds while it is fed. This is 7d's missing sacrifice-then-recover trajectory, appearing for the first time — in the environment built to contain it.</a:t>
            </a:r>
          </a:p>
          <a:p>
            <a:pPr>
              <a:spcAft>
                <a:spcPts val="500"/>
              </a:spcAft>
            </a:pPr>
            <a:r>
              <a:rPr sz="1000" b="1">
                <a:solidFill>
                  <a:srgbClr val="1E2761"/>
                </a:solidFill>
                <a:latin typeface="Calibri"/>
              </a:rPr>
              <a:t>Caveat: </a:t>
            </a:r>
            <a:r>
              <a:rPr sz="1000" b="0">
                <a:solidFill>
                  <a:srgbClr val="5B5F6E"/>
                </a:solidFill>
                <a:latin typeface="Calibri"/>
              </a:rPr>
              <a:t>Gate 3b does not pass: +2.2% is equivalent, not material. And the interval [-0.4%, +4.8%] crosses zero, so the sign of the advantage is not established — 300 seeds would settle it in a minute, but the registered escalation fires only on an interval straddling the materiality boundary, which this one does not. The limitation is reported rather than repaired. Phase 7e's answer: complexity became valuable (gate 2) without becoming learnable — the structure that makes a sophisticated policy worth having is not the structure that makes it findable.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