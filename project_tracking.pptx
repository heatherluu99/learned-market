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7e-3b Does the Horizon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trade-off known to exist, and a learner sent to find it  ·  git tag: phase7e3b-horizon  ·  train 1000–1119, test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3b NOT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The cell 7e-2 carried: persistent stock, delta = 1.0, L_max = 3.30.</a:t>
            </a:r>
          </a:p>
          <a:p>
            <a:pPr>
              <a:spcAft>
                <a:spcPts val="200"/>
              </a:spcAft>
            </a:pPr>
            <a:r>
              <a:rPr sz="1300" b="0">
                <a:solidFill>
                  <a:srgbClr val="5B5F6E"/>
                </a:solidFill>
                <a:latin typeface="Calibri"/>
              </a:rPr>
              <a:t>-  7e-2 measured a schedule worth +2.6% here before this was built,</a:t>
            </a:r>
          </a:p>
          <a:p>
            <a:pPr>
              <a:spcAft>
                <a:spcPts val="200"/>
              </a:spcAft>
            </a:pPr>
            <a:r>
              <a:rPr sz="1300" b="0">
                <a:solidFill>
                  <a:srgbClr val="5B5F6E"/>
                </a:solidFill>
                <a:latin typeface="Calibri"/>
              </a:rPr>
              <a:t>   so the thing to find is known, priced, and inside the policy class.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7d's Q-network on a 10-week discounted return, with the</a:t>
            </a:r>
          </a:p>
          <a:p>
            <a:pPr>
              <a:spcAft>
                <a:spcPts val="200"/>
              </a:spcAft>
            </a:pPr>
            <a:r>
              <a:rPr sz="1300" b="0">
                <a:solidFill>
                  <a:srgbClr val="5B5F6E"/>
                </a:solidFill>
                <a:latin typeface="Calibri"/>
              </a:rPr>
              <a:t>loyalty stock added to its features. Its module is reused and</a:t>
            </a:r>
          </a:p>
          <a:p>
            <a:pPr>
              <a:spcAft>
                <a:spcPts val="200"/>
              </a:spcAft>
            </a:pPr>
            <a:r>
              <a:rPr sz="1300" b="0">
                <a:solidFill>
                  <a:srgbClr val="5B5F6E"/>
                </a:solidFill>
                <a:latin typeface="Calibri"/>
              </a:rPr>
              <a:t>parameterized, so 7d still trains on exactly its own four features.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the trade-off the learner is sent after.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7e-2 schedule (attainable)</a:t>
                      </a:r>
                    </a:p>
                  </a:txBody>
                  <a:tcPr>
                    <a:solidFill>
                      <a:srgbClr val="FFFFFF"/>
                    </a:solidFill>
                  </a:tcPr>
                </a:tc>
                <a:tc>
                  <a:txBody>
                    <a:bodyPr/>
                    <a:lstStyle/>
                    <a:p>
                      <a:r>
                        <a:rPr sz="1100">
                          <a:solidFill>
                            <a:srgbClr val="5B5F6E"/>
                          </a:solidFill>
                          <a:latin typeface="Calibri"/>
                        </a:rPr>
                        <a:t>44.3/wk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flat at the oracle price</a:t>
                      </a:r>
                    </a:p>
                  </a:txBody>
                  <a:tcPr>
                    <a:solidFill>
                      <a:srgbClr val="F7F8FC"/>
                    </a:solidFill>
                  </a:tcPr>
                </a:tc>
                <a:tc>
                  <a:txBody>
                    <a:bodyPr/>
                    <a:lstStyle/>
                    <a:p>
                      <a:r>
                        <a:rPr sz="1100">
                          <a:solidFill>
                            <a:srgbClr val="5B5F6E"/>
                          </a:solidFill>
                          <a:latin typeface="Calibri"/>
                        </a:rPr>
                        <a:t>43.2/wk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41.4/wk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Q-network</a:t>
                      </a:r>
                    </a:p>
                  </a:txBody>
                  <a:tcPr>
                    <a:solidFill>
                      <a:srgbClr val="F7F8FC"/>
                    </a:solidFill>
                  </a:tcPr>
                </a:tc>
                <a:tc>
                  <a:txBody>
                    <a:bodyPr/>
                    <a:lstStyle/>
                    <a:p>
                      <a:r>
                        <a:rPr sz="1100">
                          <a:solidFill>
                            <a:srgbClr val="5B5F6E"/>
                          </a:solidFill>
                          <a:latin typeface="Calibri"/>
                        </a:rPr>
                        <a:t>42.3/wk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vs the bandit</a:t>
                      </a:r>
                    </a:p>
                  </a:txBody>
                  <a:tcPr>
                    <a:solidFill>
                      <a:srgbClr val="FFFFFF"/>
                    </a:solidFill>
                  </a:tcPr>
                </a:tc>
                <a:tc>
                  <a:txBody>
                    <a:bodyPr/>
                    <a:lstStyle/>
                    <a:p>
                      <a:r>
                        <a:rPr sz="1100">
                          <a:solidFill>
                            <a:srgbClr val="5B5F6E"/>
                          </a:solidFill>
                          <a:latin typeface="Calibri"/>
                        </a:rPr>
                        <a:t>+2.2%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of the way to the schedule</a:t>
                      </a:r>
                    </a:p>
                  </a:txBody>
                  <a:tcPr>
                    <a:solidFill>
                      <a:srgbClr val="F7F8FC"/>
                    </a:solidFill>
                  </a:tcPr>
                </a:tc>
                <a:tc>
                  <a:txBody>
                    <a:bodyPr/>
                    <a:lstStyle/>
                    <a:p>
                      <a:r>
                        <a:rPr sz="1100">
                          <a:solidFill>
                            <a:srgbClr val="5B5F6E"/>
                          </a:solidFill>
                          <a:latin typeface="Calibri"/>
                        </a:rPr>
                        <a:t>31%</a:t>
                      </a:r>
                    </a:p>
                  </a:txBody>
                  <a:tcPr>
                    <a:solidFill>
                      <a:srgbClr val="F7F8FC"/>
                    </a:solidFill>
                  </a:tcPr>
                </a:tc>
                <a:tc>
                  <a:txBody>
                    <a:bodyPr/>
                    <a:lstStyle/>
                    <a:p>
                      <a:pPr algn="ctr"/>
                      <a:r>
                        <a:rPr sz="1100" b="1">
                          <a:solidFill>
                            <a:srgbClr val="B3262A"/>
                          </a:solidFill>
                          <a:latin typeface="Calibri"/>
                        </a:rPr>
                        <a:t>FAIL</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A sustained investment schedule is known to beat the best standing price here by 2.6%. Can a multi-week learner find it?</a:t>
            </a:r>
          </a:p>
          <a:p>
            <a:pPr>
              <a:spcAft>
                <a:spcPts val="500"/>
              </a:spcAft>
            </a:pPr>
            <a:r>
              <a:rPr sz="1000" b="1">
                <a:solidFill>
                  <a:srgbClr val="1E2761"/>
                </a:solidFill>
                <a:latin typeface="Calibri"/>
              </a:rPr>
              <a:t>Finding: </a:t>
            </a:r>
            <a:r>
              <a:rPr sz="1000" b="0">
                <a:solidFill>
                  <a:srgbClr val="5B5F6E"/>
                </a:solidFill>
                <a:latin typeface="Calibri"/>
              </a:rPr>
              <a:t>The right shape, the right depth, half the duration — and a third of the value. Weeks 0–7 it prices at 2.379 against the hand-found schedule's 2.385; weeks 8–15 it has already returned to 2.635 while the schedule holds at 2.385. It spends 75% of the discount and collects 31% of the gain, because a stock compounds while it is fed. This is 7d's missing sacrifice-then-recover trajectory, appearing for the first time — in the environment built to contain it.</a:t>
            </a:r>
          </a:p>
          <a:p>
            <a:pPr>
              <a:spcAft>
                <a:spcPts val="500"/>
              </a:spcAft>
            </a:pPr>
            <a:r>
              <a:rPr sz="1000" b="1">
                <a:solidFill>
                  <a:srgbClr val="1E2761"/>
                </a:solidFill>
                <a:latin typeface="Calibri"/>
              </a:rPr>
              <a:t>Caveat: </a:t>
            </a:r>
            <a:r>
              <a:rPr sz="1000" b="0">
                <a:solidFill>
                  <a:srgbClr val="5B5F6E"/>
                </a:solidFill>
                <a:latin typeface="Calibri"/>
              </a:rPr>
              <a:t>Gate 3b does not pass: +2.2% is equivalent, not material. And the interval [-0.4%, +4.8%] crosses zero, so the sign of the advantage is not established — 300 seeds would settle it in a minute, but the registered escalation fires only on an interval straddling the materiality boundary, which this one does not. The limitation is reported rather than repaired. Phase 7e's answer: complexity became valuable (gate 2) without becoming learnable — the structure that makes a sophisticated policy worth having is not the structure that makes it findable.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8 — Endogenous Market Structure</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Entry and exit switched on, nothing else changed  ·  git tag: phase8-validated  ·  300 seeds x 110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DIFFERENTIAL SURVIVAL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at week 0 — 3 Slow, 2 Shigh — then whoever survives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40 fixed slots, drawn at slot width whatever the occupancy, so</a:t>
            </a:r>
          </a:p>
          <a:p>
            <a:pPr>
              <a:spcAft>
                <a:spcPts val="200"/>
              </a:spcAft>
            </a:pPr>
            <a:r>
              <a:rPr sz="1300" b="0">
                <a:solidFill>
                  <a:srgbClr val="5B5F6E"/>
                </a:solidFill>
                <a:latin typeface="Calibri"/>
              </a:rPr>
              <a:t>   arms with different entry histories stay paired on a seed.</a:t>
            </a:r>
          </a:p>
          <a:p>
            <a:pPr>
              <a:spcAft>
                <a:spcPts val="200"/>
              </a:spcAft>
            </a:pPr>
            <a:r>
              <a:rPr sz="1300" b="0">
                <a:solidFill>
                  <a:srgbClr val="5B5F6E"/>
                </a:solidFill>
                <a:latin typeface="Calibri"/>
              </a:rPr>
              <a:t>-  price_reference frozen at the week-0 configuration for all 110 weeks.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Entry: copy a stall that is making money, after two weeks of mean</a:t>
            </a:r>
          </a:p>
          <a:p>
            <a:pPr>
              <a:spcAft>
                <a:spcPts val="200"/>
              </a:spcAft>
            </a:pPr>
            <a:r>
              <a:rPr sz="1300" b="0">
                <a:solidFill>
                  <a:srgbClr val="5B5F6E"/>
                </a:solidFill>
                <a:latin typeface="Calibri"/>
              </a:rPr>
              <a:t>profit above zero. Exit: capital exhausted, or three losing weeks —</a:t>
            </a:r>
          </a:p>
          <a:p>
            <a:pPr>
              <a:spcAft>
                <a:spcPts val="200"/>
              </a:spcAft>
            </a:pPr>
            <a:r>
              <a:rPr sz="1300" b="0">
                <a:solidFill>
                  <a:srgbClr val="5B5F6E"/>
                </a:solidFill>
                <a:latin typeface="Calibri"/>
              </a:rPr>
              <a:t>both run. Fixed weekly cost swept over 6 / 8 / 10 / 12.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Schelling (1971), </a:t>
            </a:r>
            <a:r>
              <a:rPr sz="1100" b="0">
                <a:solidFill>
                  <a:srgbClr val="5B5F6E"/>
                </a:solidFill>
                <a:latin typeface="Calibri"/>
              </a:rPr>
              <a:t>“Dynamic Models of Segregation” (J. Math. Sociology) — origin of the encoded-vs-emergent question this phase tests.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Premium tier, week 0 -&gt; 110</a:t>
                      </a:r>
                    </a:p>
                  </a:txBody>
                  <a:tcPr>
                    <a:solidFill>
                      <a:srgbClr val="FFFFFF"/>
                    </a:solidFill>
                  </a:tcPr>
                </a:tc>
                <a:tc>
                  <a:txBody>
                    <a:bodyPr/>
                    <a:lstStyle/>
                    <a:p>
                      <a:r>
                        <a:rPr sz="1100">
                          <a:solidFill>
                            <a:srgbClr val="5B5F6E"/>
                          </a:solidFill>
                          <a:latin typeface="Calibri"/>
                        </a:rPr>
                        <a:t>40% -&gt; 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Stationary count, F=6 / F=12</a:t>
                      </a:r>
                    </a:p>
                  </a:txBody>
                  <a:tcPr>
                    <a:solidFill>
                      <a:srgbClr val="F7F8FC"/>
                    </a:solidFill>
                  </a:tcPr>
                </a:tc>
                <a:tc>
                  <a:txBody>
                    <a:bodyPr/>
                    <a:lstStyle/>
                    <a:p>
                      <a:r>
                        <a:rPr sz="1100">
                          <a:solidFill>
                            <a:srgbClr val="5B5F6E"/>
                          </a:solidFill>
                          <a:latin typeface="Calibri"/>
                        </a:rPr>
                        <a:t>24.9 / 12.4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Final-season entry / exit</a:t>
                      </a:r>
                    </a:p>
                  </a:txBody>
                  <a:tcPr>
                    <a:solidFill>
                      <a:srgbClr val="FFFFFF"/>
                    </a:solidFill>
                  </a:tcPr>
                </a:tc>
                <a:tc>
                  <a:txBody>
                    <a:bodyPr/>
                    <a:lstStyle/>
                    <a:p>
                      <a:r>
                        <a:rPr sz="1100">
                          <a:solidFill>
                            <a:srgbClr val="5B5F6E"/>
                          </a:solidFill>
                          <a:latin typeface="Calibri"/>
                        </a:rPr>
                        <a:t>0.10-0.47 per 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firms surviving a season</a:t>
                      </a:r>
                    </a:p>
                  </a:txBody>
                  <a:tcPr>
                    <a:solidFill>
                      <a:srgbClr val="F7F8FC"/>
                    </a:solidFill>
                  </a:tcPr>
                </a:tc>
                <a:tc>
                  <a:txBody>
                    <a:bodyPr/>
                    <a:lstStyle/>
                    <a:p>
                      <a:r>
                        <a:rPr sz="1100">
                          <a:solidFill>
                            <a:srgbClr val="5B5F6E"/>
                          </a:solidFill>
                          <a:latin typeface="Calibri"/>
                        </a:rPr>
                        <a:t>48%-88%</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Turnover, streak vs capital</a:t>
                      </a:r>
                    </a:p>
                  </a:txBody>
                  <a:tcPr>
                    <a:solidFill>
                      <a:srgbClr val="FFFFFF"/>
                    </a:solidFill>
                  </a:tcPr>
                </a:tc>
                <a:tc>
                  <a:txBody>
                    <a:bodyPr/>
                    <a:lstStyle/>
                    <a:p>
                      <a:r>
                        <a:rPr sz="1100">
                          <a:solidFill>
                            <a:srgbClr val="5B5F6E"/>
                          </a:solidFill>
                          <a:latin typeface="Calibri"/>
                        </a:rPr>
                        <a:t>3.7x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Peak sellers vs capacity</a:t>
                      </a:r>
                    </a:p>
                  </a:txBody>
                  <a:tcPr>
                    <a:solidFill>
                      <a:srgbClr val="F7F8FC"/>
                    </a:solidFill>
                  </a:tcPr>
                </a:tc>
                <a:tc>
                  <a:txBody>
                    <a:bodyPr/>
                    <a:lstStyle/>
                    <a:p>
                      <a:r>
                        <a:rPr sz="1100">
                          <a:solidFill>
                            <a:srgbClr val="5B5F6E"/>
                          </a:solidFill>
                          <a:latin typeface="Calibri"/>
                        </a:rPr>
                        <a:t>28 of 40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repeated micro-level interaction produce macro-level market structure without that structure being programmed in?</a:t>
            </a:r>
          </a:p>
          <a:p>
            <a:pPr>
              <a:spcAft>
                <a:spcPts val="500"/>
              </a:spcAft>
            </a:pPr>
            <a:r>
              <a:rPr sz="1000" b="1">
                <a:solidFill>
                  <a:srgbClr val="1E2761"/>
                </a:solidFill>
                <a:latin typeface="Calibri"/>
              </a:rPr>
              <a:t>Finding: </a:t>
            </a:r>
            <a:r>
              <a:rPr sz="1000" b="0">
                <a:solidFill>
                  <a:srgbClr val="5B5F6E"/>
                </a:solidFill>
                <a:latin typeface="Calibri"/>
              </a:rPr>
              <a:t>Entry/exit dynamics selectively eliminate the premium tier — 40% of stalls to essentially zero in all eight cells — under this population and cost structure. Free entry endogenizes market size and the fixed cost strongly determines its stationary level: 24.9 sellers at a cost of 6, 12.4 at 12. What settles is a *stochastic stationary* structure, not an equilibrium: in the final season entry and exit both run, and under the three-week rule only 48%-62% of firms survive a season while the count does not move.</a:t>
            </a:r>
          </a:p>
          <a:p>
            <a:pPr>
              <a:spcAft>
                <a:spcPts val="500"/>
              </a:spcAft>
            </a:pPr>
            <a:r>
              <a:rPr sz="1000" b="1">
                <a:solidFill>
                  <a:srgbClr val="1E2761"/>
                </a:solidFill>
                <a:latin typeface="Calibri"/>
              </a:rPr>
              <a:t>Caveat: </a:t>
            </a:r>
            <a:r>
              <a:rPr sz="1000" b="0">
                <a:solidFill>
                  <a:srgbClr val="5B5F6E"/>
                </a:solidFill>
                <a:latin typeface="Calibri"/>
              </a:rPr>
              <a:t>Emergent with respect to the decision *rules*, conditional on exogenously specified buyer affordability and seller economics. Swapping the tier names gives a bit-identical run, which proves the outcome is label-invariant — no rule reads a class — but not that the composition is independent of the parameterization: Phase 2 gave 70% of buyers a budget of 3.0 against a premium price of 6.0, and both tiers pay the same rent. The exit rule mainly changes turnover and convergence speed, and the long-run count only modestly (~15%). Season-over-season change 12.7% against the RI DEM reference's 15.2% supports a comparable order of magnitude only — provenance, seller definition and entry/exit definition are unverified, so it is not a reproduction claim.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Learned Buyer Policy — 9a Distillation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Distil the hand-written buyer, then deploy it  ·  git tag: phase9a-distilled  ·  train 1000–1119, held out 200–239, deploy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PASSED — LOOP DOES NOT COMPOUND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acting on a fitted policy instead of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22 weeks. The teacher is this project's own hand-coded buyer, so</a:t>
            </a:r>
          </a:p>
          <a:p>
            <a:pPr>
              <a:spcAft>
                <a:spcPts val="200"/>
              </a:spcAft>
            </a:pPr>
            <a:r>
              <a:rPr sz="1300" b="0">
                <a:solidFill>
                  <a:srgbClr val="5B5F6E"/>
                </a:solidFill>
                <a:latin typeface="Calibri"/>
              </a:rPr>
              <a:t>   what is fitted is distillation of a simulator, not human behaviour.</a:t>
            </a:r>
          </a:p>
          <a:p>
            <a:pPr>
              <a:spcAft>
                <a:spcPts val="200"/>
              </a:spcAft>
            </a:pPr>
            <a:r>
              <a:rPr sz="1300" b="0">
                <a:solidFill>
                  <a:srgbClr val="5B5F6E"/>
                </a:solidFill>
                <a:latin typeface="Calibri"/>
              </a:rPr>
              <a:t>-  The student sees 8 observable columns; the season-long taste draw,</a:t>
            </a:r>
          </a:p>
          <a:p>
            <a:pPr>
              <a:spcAft>
                <a:spcPts val="200"/>
              </a:spcAft>
            </a:pPr>
            <a:r>
              <a:rPr sz="1300" b="0">
                <a:solidFill>
                  <a:srgbClr val="5B5F6E"/>
                </a:solidFill>
                <a:latin typeface="Calibri"/>
              </a:rPr>
              <a:t>   the dispersed budget and the exact price sensitivity are hidden.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Soft labels p_T(s), which the simulator makes available. Scored on</a:t>
            </a:r>
          </a:p>
          <a:p>
            <a:pPr>
              <a:spcAft>
                <a:spcPts val="200"/>
              </a:spcAft>
            </a:pPr>
            <a:r>
              <a:rPr sz="1300" b="0">
                <a:solidFill>
                  <a:srgbClr val="5B5F6E"/>
                </a:solidFill>
                <a:latin typeface="Calibri"/>
              </a:rPr>
              <a:t>E|p_T - p_theta| — under the shared purchase_draw this is the</a:t>
            </a:r>
          </a:p>
          <a:p>
            <a:pPr>
              <a:spcAft>
                <a:spcPts val="200"/>
              </a:spcAft>
            </a:pPr>
            <a:r>
              <a:rPr sz="1300" b="0">
                <a:solidFill>
                  <a:srgbClr val="5B5F6E"/>
                </a:solidFill>
                <a:latin typeface="Calibri"/>
              </a:rPr>
              <a:t>expected TV distance between two Bernoulli policies, not an accuracy.</a:t>
            </a:r>
          </a:p>
          <a:p>
            <a:pPr>
              <a:spcAft>
                <a:spcPts val="200"/>
              </a:spcAft>
            </a:pPr>
            <a:r>
              <a:rPr sz="1300" b="0">
                <a:solidFill>
                  <a:srgbClr val="5B5F6E"/>
                </a:solidFill>
                <a:latin typeface="Calibri"/>
              </a:rPr>
              <a:t>Gate: policy distance + stratified calibration + proper score.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the compounding-error argument this phase measures rather than assumes.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Constant predictor</a:t>
                      </a:r>
                    </a:p>
                  </a:txBody>
                  <a:tcPr>
                    <a:solidFill>
                      <a:srgbClr val="FFFFFF"/>
                    </a:solidFill>
                  </a:tcPr>
                </a:tc>
                <a:tc>
                  <a:txBody>
                    <a:bodyPr/>
                    <a:lstStyle/>
                    <a:p>
                      <a:r>
                        <a:rPr sz="1100">
                          <a:solidFill>
                            <a:srgbClr val="5B5F6E"/>
                          </a:solidFill>
                          <a:latin typeface="Calibri"/>
                        </a:rPr>
                        <a:t>0.1234</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Observation-set floor</a:t>
                      </a:r>
                    </a:p>
                  </a:txBody>
                  <a:tcPr>
                    <a:solidFill>
                      <a:srgbClr val="F7F8FC"/>
                    </a:solidFill>
                  </a:tcPr>
                </a:tc>
                <a:tc>
                  <a:txBody>
                    <a:bodyPr/>
                    <a:lstStyle/>
                    <a:p>
                      <a:r>
                        <a:rPr sz="1100">
                          <a:solidFill>
                            <a:srgbClr val="5B5F6E"/>
                          </a:solidFill>
                          <a:latin typeface="Calibri"/>
                        </a:rPr>
                        <a:t>0.0832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Student, held out</a:t>
                      </a:r>
                    </a:p>
                  </a:txBody>
                  <a:tcPr>
                    <a:solidFill>
                      <a:srgbClr val="FFFFFF"/>
                    </a:solidFill>
                  </a:tcPr>
                </a:tc>
                <a:tc>
                  <a:txBody>
                    <a:bodyPr/>
                    <a:lstStyle/>
                    <a:p>
                      <a:r>
                        <a:rPr sz="1100">
                          <a:solidFill>
                            <a:srgbClr val="5B5F6E"/>
                          </a:solidFill>
                          <a:latin typeface="Calibri"/>
                        </a:rPr>
                        <a:t>0.0834</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worst stratum</a:t>
                      </a:r>
                    </a:p>
                  </a:txBody>
                  <a:tcPr>
                    <a:solidFill>
                      <a:srgbClr val="F7F8FC"/>
                    </a:solidFill>
                  </a:tcPr>
                </a:tc>
                <a:tc>
                  <a:txBody>
                    <a:bodyPr/>
                    <a:lstStyle/>
                    <a:p>
                      <a:r>
                        <a:rPr sz="1100">
                          <a:solidFill>
                            <a:srgbClr val="5B5F6E"/>
                          </a:solidFill>
                          <a:latin typeface="Calibri"/>
                        </a:rPr>
                        <a:t>0.0157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D_offline -&gt; D_shadow</a:t>
                      </a:r>
                    </a:p>
                  </a:txBody>
                  <a:tcPr>
                    <a:solidFill>
                      <a:srgbClr val="FFFFFF"/>
                    </a:solidFill>
                  </a:tcPr>
                </a:tc>
                <a:tc>
                  <a:txBody>
                    <a:bodyPr/>
                    <a:lstStyle/>
                    <a:p>
                      <a:r>
                        <a:rPr sz="1100">
                          <a:solidFill>
                            <a:srgbClr val="5B5F6E"/>
                          </a:solidFill>
                          <a:latin typeface="Calibri"/>
                        </a:rPr>
                        <a:t>0.0828 -&gt; 0.0886</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excess, 95% CI</a:t>
                      </a:r>
                    </a:p>
                  </a:txBody>
                  <a:tcPr>
                    <a:solidFill>
                      <a:srgbClr val="F7F8FC"/>
                    </a:solidFill>
                  </a:tcPr>
                </a:tc>
                <a:tc>
                  <a:txBody>
                    <a:bodyPr/>
                    <a:lstStyle/>
                    <a:p>
                      <a:r>
                        <a:rPr sz="1100">
                          <a:solidFill>
                            <a:srgbClr val="5B5F6E"/>
                          </a:solidFill>
                          <a:latin typeface="Calibri"/>
                        </a:rPr>
                        <a:t>[+0.0055, +0.0060]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a learned policy recover the conditional behaviour of the rule-based buyer it replaces, and does that one-step fidelity survive endogenous distribution shift in closed loop?</a:t>
            </a:r>
          </a:p>
          <a:p>
            <a:pPr>
              <a:spcAft>
                <a:spcPts val="500"/>
              </a:spcAft>
            </a:pPr>
            <a:r>
              <a:rPr sz="1000" b="1">
                <a:solidFill>
                  <a:srgbClr val="1E2761"/>
                </a:solidFill>
                <a:latin typeface="Calibri"/>
              </a:rPr>
              <a:t>Finding: </a:t>
            </a:r>
            <a:r>
              <a:rPr sz="1000" b="0">
                <a:solidFill>
                  <a:srgbClr val="5B5F6E"/>
                </a:solidFill>
                <a:latin typeface="Calibri"/>
              </a:rPr>
              <a:t>The loop is real and it does not compound. D_shadow exceeds D_offline by +0.0057, CI [+0.0055, +0.0060] — the same student is measurably worse at imitating the teacher on the states *it* brings about. But the amplification is 1.07x, the largest state drift is a Wasserstein-1 of 0.0100, and all six class-to-tier shares return equivalent. Capacity confirms the floor is the observation set: 16x the parameters buys 0.0005.</a:t>
            </a:r>
          </a:p>
          <a:p>
            <a:pPr>
              <a:spcAft>
                <a:spcPts val="500"/>
              </a:spcAft>
            </a:pPr>
            <a:r>
              <a:rPr sz="1000" b="1">
                <a:solidFill>
                  <a:srgbClr val="1E2761"/>
                </a:solidFill>
                <a:latin typeface="Calibri"/>
              </a:rPr>
              <a:t>Caveat: </a:t>
            </a:r>
            <a:r>
              <a:rPr sz="1000" b="0">
                <a:solidFill>
                  <a:srgbClr val="5B5F6E"/>
                </a:solidFill>
                <a:latin typeface="Calibri"/>
              </a:rPr>
              <a:t>The explanation is the teacher's own stochasticity, and it bounds the claim rather than settling it: per decision the teacher's noise has an sd of 0.475 against the student's systematic deviation of 0.083, so the bias is 17% of the coin-flip the market already runs on. Compounding imitation error needs a near-deterministic teacher — the regime a temperature-0 LLM agent occupies — which is why this null is a reason to expect a different answer at 9b. Soft labels matter for calibration, not fit: sampled labels cost 0.0009 in mean distance and reach 0.0338 at worst stratum, which fails the gate.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9 — Teacher Entropy Sweep — 9b</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When does one-step imitation error compound?  ·  git tag: phase9b-entropy  ·  5 regimes x 30 deployment seeds</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MONOTONE — NOT YET MATERIAL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a distilled policy deployed against the rule</a:t>
            </a:r>
          </a:p>
          <a:p>
            <a:pPr>
              <a:spcAft>
                <a:spcPts val="200"/>
              </a:spcAft>
            </a:pPr>
            <a:r>
              <a:rPr sz="1300" b="1">
                <a:solidFill>
                  <a:srgbClr val="1E2761"/>
                </a:solidFill>
                <a:latin typeface="Calibri"/>
              </a:rPr>
              <a:t>Sellers: </a:t>
            </a:r>
            <a:r>
              <a:rPr sz="1300" b="0">
                <a:solidFill>
                  <a:srgbClr val="5B5F6E"/>
                </a:solidFill>
                <a:latin typeface="Calibri"/>
              </a:rPr>
              <a:t>5 — Phase 6's market, unchanged in every regime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Teacher logit temperature over 2.0 / 1.0 / 0.5 / 0.25 / 0.1,</a:t>
            </a:r>
          </a:p>
          <a:p>
            <a:pPr>
              <a:spcAft>
                <a:spcPts val="200"/>
              </a:spcAft>
            </a:pPr>
            <a:r>
              <a:rPr sz="1300" b="0">
                <a:solidFill>
                  <a:srgbClr val="5B5F6E"/>
                </a:solidFill>
                <a:latin typeface="Calibri"/>
              </a:rPr>
              <a:t>   sharpening the same preference ordering rather than changing it.</a:t>
            </a:r>
          </a:p>
          <a:p>
            <a:pPr>
              <a:spcAft>
                <a:spcPts val="200"/>
              </a:spcAft>
            </a:pPr>
            <a:r>
              <a:rPr sz="1300" b="0">
                <a:solidFill>
                  <a:srgbClr val="5B5F6E"/>
                </a:solidFill>
                <a:latin typeface="Calibri"/>
              </a:rPr>
              <a:t>-  The sigmoid offset is re-solved at each so the mean purchase</a:t>
            </a:r>
          </a:p>
          <a:p>
            <a:pPr>
              <a:spcAft>
                <a:spcPts val="200"/>
              </a:spcAft>
            </a:pPr>
            <a:r>
              <a:rPr sz="1300" b="0">
                <a:solidFill>
                  <a:srgbClr val="5B5F6E"/>
                </a:solidFill>
                <a:latin typeface="Calibri"/>
              </a:rPr>
              <a:t>   probability holds at 0.4594: entropy moves, the level does not.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Per regime: fit up a capacity ladder, deploy the smallest student</a:t>
            </a:r>
          </a:p>
          <a:p>
            <a:pPr>
              <a:spcAft>
                <a:spcPts val="200"/>
              </a:spcAft>
            </a:pPr>
            <a:r>
              <a:rPr sz="1300" b="0">
                <a:solidFill>
                  <a:srgbClr val="5B5F6E"/>
                </a:solidFill>
                <a:latin typeface="Calibri"/>
              </a:rPr>
              <a:t>that clears Gate 9a against that regime's own floor, then measure</a:t>
            </a:r>
          </a:p>
          <a:p>
            <a:pPr>
              <a:spcAft>
                <a:spcPts val="200"/>
              </a:spcAft>
            </a:pPr>
            <a:r>
              <a:rPr sz="1300" b="0">
                <a:solidFill>
                  <a:srgbClr val="5B5F6E"/>
                </a:solidFill>
                <a:latin typeface="Calibri"/>
              </a:rPr>
              <a:t>D_offline, D_shadow, state drift and behavioural divergence.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Ross, Gordon &amp; Bagnell (2011), </a:t>
            </a:r>
            <a:r>
              <a:rPr sz="1100" b="0">
                <a:solidFill>
                  <a:srgbClr val="5B5F6E"/>
                </a:solidFill>
                <a:latin typeface="Calibri"/>
              </a:rPr>
              <a:t>“A Reduction of Imitation Learning and Structured Prediction to No-Regret Online Learning” (AISTATS) — a bound driven by the per-step error rate and silent on the environment's own noise, which is the gap this sweep measures.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Entropy swept</a:t>
                      </a:r>
                    </a:p>
                  </a:txBody>
                  <a:tcPr>
                    <a:solidFill>
                      <a:srgbClr val="FFFFFF"/>
                    </a:solidFill>
                  </a:tcPr>
                </a:tc>
                <a:tc>
                  <a:txBody>
                    <a:bodyPr/>
                    <a:lstStyle/>
                    <a:p>
                      <a:r>
                        <a:rPr sz="1100">
                          <a:solidFill>
                            <a:srgbClr val="5B5F6E"/>
                          </a:solidFill>
                          <a:latin typeface="Calibri"/>
                        </a:rPr>
                        <a:t>0.98 → 0.19 bits</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Error / noise ratio R</a:t>
                      </a:r>
                    </a:p>
                  </a:txBody>
                  <a:tcPr>
                    <a:solidFill>
                      <a:srgbClr val="F7F8FC"/>
                    </a:solidFill>
                  </a:tcPr>
                </a:tc>
                <a:tc>
                  <a:txBody>
                    <a:bodyPr/>
                    <a:lstStyle/>
                    <a:p>
                      <a:r>
                        <a:rPr sz="1100">
                          <a:solidFill>
                            <a:srgbClr val="5B5F6E"/>
                          </a:solidFill>
                          <a:latin typeface="Calibri"/>
                        </a:rPr>
                        <a:t>9% → 85%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Amplification</a:t>
                      </a:r>
                    </a:p>
                  </a:txBody>
                  <a:tcPr>
                    <a:solidFill>
                      <a:srgbClr val="FFFFFF"/>
                    </a:solidFill>
                  </a:tcPr>
                </a:tc>
                <a:tc>
                  <a:txBody>
                    <a:bodyPr/>
                    <a:lstStyle/>
                    <a:p>
                      <a:r>
                        <a:rPr sz="1100">
                          <a:solidFill>
                            <a:srgbClr val="5B5F6E"/>
                          </a:solidFill>
                          <a:latin typeface="Calibri"/>
                        </a:rPr>
                        <a:t>1.02x → 1.67x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Spearman vs entropy</a:t>
                      </a:r>
                    </a:p>
                  </a:txBody>
                  <a:tcPr>
                    <a:solidFill>
                      <a:srgbClr val="F7F8FC"/>
                    </a:solidFill>
                  </a:tcPr>
                </a:tc>
                <a:tc>
                  <a:txBody>
                    <a:bodyPr/>
                    <a:lstStyle/>
                    <a:p>
                      <a:r>
                        <a:rPr sz="1100">
                          <a:solidFill>
                            <a:srgbClr val="5B5F6E"/>
                          </a:solidFill>
                          <a:latin typeface="Calibri"/>
                        </a:rPr>
                        <a:t>-1.00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State drift, Spearman</a:t>
                      </a:r>
                    </a:p>
                  </a:txBody>
                  <a:tcPr>
                    <a:solidFill>
                      <a:srgbClr val="FFFFFF"/>
                    </a:solidFill>
                  </a:tcPr>
                </a:tc>
                <a:tc>
                  <a:txBody>
                    <a:bodyPr/>
                    <a:lstStyle/>
                    <a:p>
                      <a:r>
                        <a:rPr sz="1100">
                          <a:solidFill>
                            <a:srgbClr val="5B5F6E"/>
                          </a:solidFill>
                          <a:latin typeface="Calibri"/>
                        </a:rPr>
                        <a:t>-1.00</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Shares equivalent</a:t>
                      </a:r>
                    </a:p>
                  </a:txBody>
                  <a:tcPr>
                    <a:solidFill>
                      <a:srgbClr val="F7F8FC"/>
                    </a:solidFill>
                  </a:tcPr>
                </a:tc>
                <a:tc>
                  <a:txBody>
                    <a:bodyPr/>
                    <a:lstStyle/>
                    <a:p>
                      <a:r>
                        <a:rPr sz="1100">
                          <a:solidFill>
                            <a:srgbClr val="5B5F6E"/>
                          </a:solidFill>
                          <a:latin typeface="Calibri"/>
                        </a:rPr>
                        <a:t>30 of 30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the ratio of systematic policy error to intrinsic teacher stochasticity govern whether one-step imitation error compounds into trajectory divergence?</a:t>
            </a:r>
          </a:p>
          <a:p>
            <a:pPr>
              <a:spcAft>
                <a:spcPts val="500"/>
              </a:spcAft>
            </a:pPr>
            <a:r>
              <a:rPr sz="1000" b="1">
                <a:solidFill>
                  <a:srgbClr val="1E2761"/>
                </a:solidFill>
                <a:latin typeface="Calibri"/>
              </a:rPr>
              <a:t>Finding: </a:t>
            </a:r>
            <a:r>
              <a:rPr sz="1000" b="0">
                <a:solidFill>
                  <a:srgbClr val="5B5F6E"/>
                </a:solidFill>
                <a:latin typeface="Calibri"/>
              </a:rPr>
              <a:t>Yes for the amplification, exactly. As entropy falls from 0.98 to 0.19 bits with the market level held fixed, R rises 9% → 85% and the amplification rises 1.02x → 1.67x — Spearman -1.00, with the excess growing 160-fold and every interval excluding zero. State drift is equally monotone at -1.00.</a:t>
            </a:r>
          </a:p>
          <a:p>
            <a:pPr>
              <a:spcAft>
                <a:spcPts val="500"/>
              </a:spcAft>
            </a:pPr>
            <a:r>
              <a:rPr sz="1000" b="1">
                <a:solidFill>
                  <a:srgbClr val="1E2761"/>
                </a:solidFill>
                <a:latin typeface="Calibri"/>
              </a:rPr>
              <a:t>Caveat: </a:t>
            </a:r>
            <a:r>
              <a:rPr sz="1000" b="0">
                <a:solidFill>
                  <a:srgbClr val="5B5F6E"/>
                </a:solidFill>
                <a:latin typeface="Calibri"/>
              </a:rPr>
              <a:t>The fourth link is not reached. Behavioural divergence peaks at 2.49 pp against a ±5 pp margin, and all 30 class-to-tier shares return equivalent in every regime including the sharpest. Teacher stochasticity governs amplification and does not, alone, carry it through to material behaviour — what remains between them is the environment, which 9c ablates. Two corrections this sweep forced: criterion 3's absolute threshold exceeded the entire available range at high entropy, and a fixed architecture would have read 'this model stopped fitting' as 'the environment amplifies error'.</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