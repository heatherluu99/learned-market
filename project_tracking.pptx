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3200" b="1">
                <a:solidFill>
                  <a:srgbClr val="1E2761"/>
                </a:solidFill>
                <a:latin typeface="Cambria"/>
              </a:rPr>
              <a:t>Phase 1 — Transaction Mechanics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5B5F6E"/>
                </a:solidFill>
                <a:latin typeface="Calibri"/>
              </a:rPr>
              <a:t>Homogeneous agents  ·  git tag: phase1-validated  ·  30 seeds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464040" y="365760"/>
            <a:ext cx="2240280" cy="384048"/>
          </a:xfrm>
          <a:prstGeom prst="roundRect">
            <a:avLst/>
          </a:prstGeom>
          <a:solidFill>
            <a:srgbClr val="1E7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ALL CRITERIA PASS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8680" y="138988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828800"/>
            <a:ext cx="46177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Calibri"/>
              </a:rPr>
              <a:t>Buyers: </a:t>
            </a:r>
            <a:r>
              <a:rPr sz="1300" b="0">
                <a:solidFill>
                  <a:srgbClr val="5B5F6E"/>
                </a:solidFill>
                <a:latin typeface="Calibri"/>
              </a:rPr>
              <a:t>80 (homogeneous)  —  budget 5, price-sensitivity 0.5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Calibri"/>
              </a:rPr>
              <a:t>Sellers: </a:t>
            </a:r>
            <a:r>
              <a:rPr sz="1300" b="0">
                <a:solidFill>
                  <a:srgbClr val="5B5F6E"/>
                </a:solidFill>
                <a:latin typeface="Calibri"/>
              </a:rPr>
              <a:t>4 (homogeneous)  —  price 3, inventory 120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5176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68680" y="262432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ENVIRONMENT &amp; 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63240"/>
            <a:ext cx="4617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-  None — static baseline, single pass per run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-  No environment variation, no context, no history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88620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68680" y="385876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METHOD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297680"/>
            <a:ext cx="46177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Rule-based linear utility + sigmoid purchase probability.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No LLM, no learning, no adaptation.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02920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68680" y="500176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LITERATURE BASIS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440680"/>
            <a:ext cx="46177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1E2761"/>
                </a:solidFill>
                <a:latin typeface="Calibri"/>
              </a:rPr>
              <a:t>McFadden (1974), </a:t>
            </a:r>
            <a:r>
              <a:rPr sz="1100" b="0">
                <a:solidFill>
                  <a:srgbClr val="5B5F6E"/>
                </a:solidFill>
                <a:latin typeface="Calibri"/>
              </a:rPr>
              <a:t>“Conditional Logit Analysis of Qualitative Choice Behavior” — random-utility basis for the purchase rule.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1E2761"/>
                </a:solidFill>
                <a:latin typeface="Calibri"/>
              </a:rPr>
              <a:t>Gode &amp; Sunder (1993), </a:t>
            </a:r>
            <a:r>
              <a:rPr sz="1100" b="0">
                <a:solidFill>
                  <a:srgbClr val="5B5F6E"/>
                </a:solidFill>
                <a:latin typeface="Calibri"/>
              </a:rPr>
              <a:t>“Allocative Efficiency of Markets with Zero-Intelligence Traders” (JPE) — mechanics tested with minimal agent intelligence.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0" y="141732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355080" y="1389888"/>
            <a:ext cx="53492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KEY RESULTS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5943600" y="1874519"/>
          <a:ext cx="57607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463040"/>
                <a:gridCol w="1097280"/>
              </a:tblGrid>
              <a:tr h="2743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Participation rate (0.6–1.0)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0.822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Inventory remaining (of 480)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414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Budget-cap invariant violated?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0 buyers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Running means settle by seed 15 (±1 SEM)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seed 11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Stock-blocked sales, pressure run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1,101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5F6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Rectangle 19"/>
          <p:cNvSpPr/>
          <p:nvPr/>
        </p:nvSpPr>
        <p:spPr>
          <a:xfrm>
            <a:off x="5943600" y="402336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355080" y="3995928"/>
            <a:ext cx="53492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RESEARCH QUESTION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0" y="4434840"/>
            <a:ext cx="5760720" cy="1965960"/>
          </a:xfrm>
          <a:prstGeom prst="rect">
            <a:avLst/>
          </a:prstGeom>
          <a:solidFill>
            <a:srgbClr val="F7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217920" y="4572000"/>
            <a:ext cx="521208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000" b="0">
                <a:solidFill>
                  <a:srgbClr val="5B5F6E"/>
                </a:solidFill>
                <a:latin typeface="Calibri"/>
              </a:rPr>
              <a:t>Do buyers purchase, do sellers sell, does price affect demand, does inventory constrain sales, and are transactions recorded correctly?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1E2761"/>
                </a:solidFill>
                <a:latin typeface="Calibri"/>
              </a:rPr>
              <a:t>Finding: </a:t>
            </a:r>
            <a:r>
              <a:rPr sz="1000" b="0">
                <a:solidFill>
                  <a:srgbClr val="5B5F6E"/>
                </a:solidFill>
                <a:latin typeface="Calibri"/>
              </a:rPr>
              <a:t>Mechanics behave as specified. 82.2% of buyers transact, no buyer ever exceeds budget, and the slowest of the four run-summary metrics' running means settles within 1 SEM by seed 11.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1E2761"/>
                </a:solidFill>
                <a:latin typeface="Calibri"/>
              </a:rPr>
              <a:t>Caveat: </a:t>
            </a:r>
            <a:r>
              <a:rPr sz="1000" b="0">
                <a:solidFill>
                  <a:srgbClr val="5B5F6E"/>
                </a:solidFill>
                <a:latin typeface="Calibri"/>
              </a:rPr>
              <a:t>Inventory cannot bind in the main run — budget 5 against price 3 caps demand at 80 units versus 480 in stock, so the inventory clause of the question is unanswered by it. A paired inventory=15 run blocked 1,101 sales on empty stock, confirming the constraint is enforced when it can bind.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0">
                <a:solidFill>
                  <a:srgbClr val="5B5F6E"/>
                </a:solidFill>
                <a:latin typeface="Calibri"/>
              </a:rPr>
              <a:t>Generated automatically at phase completion  ·  Phase Completion Deliverable  ·  market-sim project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3200" b="1">
                <a:solidFill>
                  <a:srgbClr val="1E2761"/>
                </a:solidFill>
                <a:latin typeface="Cambria"/>
              </a:rPr>
              <a:t>Phase 2 — Linear Consumer Heterogeneity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5B5F6E"/>
                </a:solidFill>
                <a:latin typeface="Calibri"/>
              </a:rPr>
              <a:t>Three buyer classes, two seller tiers  ·  git tag: phase2-validated  ·  30 seeds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464040" y="365760"/>
            <a:ext cx="2240280" cy="384048"/>
          </a:xfrm>
          <a:prstGeom prst="roundRect">
            <a:avLst/>
          </a:prstGeom>
          <a:solidFill>
            <a:srgbClr val="1E7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ALL CRITERIA PASS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8680" y="138988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828800"/>
            <a:ext cx="46177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Calibri"/>
              </a:rPr>
              <a:t>Buyers: </a:t>
            </a:r>
            <a:r>
              <a:rPr sz="1300" b="0">
                <a:solidFill>
                  <a:srgbClr val="5B5F6E"/>
                </a:solidFill>
                <a:latin typeface="Calibri"/>
              </a:rPr>
              <a:t>100 — Poor 70 / Middle 20 / Rich 10 (7:2:1); budget 3/7/10, α 0.85/0.5/0.2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Calibri"/>
              </a:rPr>
              <a:t>Sellers: </a:t>
            </a:r>
            <a:r>
              <a:rPr sz="1300" b="0">
                <a:solidFill>
                  <a:srgbClr val="5B5F6E"/>
                </a:solidFill>
                <a:latin typeface="Calibri"/>
              </a:rPr>
              <a:t>5 — Slow ×3 (price 2, inv 130) / Shigh ×2 (price 6, inv 70)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5176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68680" y="262432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ENVIRONMENT &amp; 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63240"/>
            <a:ext cx="4617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-  None — static baseline, single pass per run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-  No environment variation, no context, no history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88620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68680" y="385876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METHOD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297680"/>
            <a:ext cx="46177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Rule-based linear utility + sigmoid, per-class parameters.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price_reference = max(2, 6) = 6, market-wide.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02920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68680" y="500176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LITERATURE BASIS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440680"/>
            <a:ext cx="46177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1E2761"/>
                </a:solidFill>
                <a:latin typeface="Calibri"/>
              </a:rPr>
              <a:t>McFadden (1974), </a:t>
            </a:r>
            <a:r>
              <a:rPr sz="1100" b="0">
                <a:solidFill>
                  <a:srgbClr val="5B5F6E"/>
                </a:solidFill>
                <a:latin typeface="Calibri"/>
              </a:rPr>
              <a:t>“Conditional Logit Analysis of Qualitative Choice Behavior” — the same random-utility framework as Phase 1.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1E2761"/>
                </a:solidFill>
                <a:latin typeface="Calibri"/>
              </a:rPr>
              <a:t>Train, </a:t>
            </a:r>
            <a:r>
              <a:rPr sz="1100" b="0">
                <a:solidFill>
                  <a:srgbClr val="5B5F6E"/>
                </a:solidFill>
                <a:latin typeface="Calibri"/>
              </a:rPr>
              <a:t>“Discrete Choice Methods with Simulation” — heterogeneous per-class parameter extensions of RUM.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0" y="141732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355080" y="1389888"/>
            <a:ext cx="53492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KEY RESULTS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5943600" y="1874519"/>
          <a:ext cx="57607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463040"/>
                <a:gridCol w="1097280"/>
              </a:tblGrid>
              <a:tr h="2743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Participation rate (0.6–1.0)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0.818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Stratification: Rich−Middle to Shigh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+0.076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  its 95% CI (must exclude 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[+0.04, +0.11]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Shigh sellers not sold out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min 57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Middle split to Shigh (no bar)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0.239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5F6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Poor to Shigh (affordability wall)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0.000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5F6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</a:tr>
            </a:tbl>
          </a:graphicData>
        </a:graphic>
      </p:graphicFrame>
      <p:sp>
        <p:nvSpPr>
          <p:cNvPr id="20" name="Rectangle 19"/>
          <p:cNvSpPr/>
          <p:nvPr/>
        </p:nvSpPr>
        <p:spPr>
          <a:xfrm>
            <a:off x="5943600" y="402336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355080" y="3995928"/>
            <a:ext cx="53492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RESEARCH QUESTION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0" y="4434840"/>
            <a:ext cx="5760720" cy="1965960"/>
          </a:xfrm>
          <a:prstGeom prst="rect">
            <a:avLst/>
          </a:prstGeom>
          <a:solidFill>
            <a:srgbClr val="F7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217920" y="4572000"/>
            <a:ext cx="521208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000" b="0">
                <a:solidFill>
                  <a:srgbClr val="5B5F6E"/>
                </a:solidFill>
                <a:latin typeface="Calibri"/>
              </a:rPr>
              <a:t>Does person-level heterogeneity alone produce different purchasing patterns, and specifically economic stratification?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1E2761"/>
                </a:solidFill>
                <a:latin typeface="Calibri"/>
              </a:rPr>
              <a:t>Finding: </a:t>
            </a:r>
            <a:r>
              <a:rPr sz="1000" b="0">
                <a:solidFill>
                  <a:srgbClr val="5B5F6E"/>
                </a:solidFill>
                <a:latin typeface="Calibri"/>
              </a:rPr>
              <a:t>Yes, but mostly through budgets. Richer buyers reach the premium tier more than poorer ones (+0.076, CI excludes 0), and all 3 graded criteria pass.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1E2761"/>
                </a:solidFill>
                <a:latin typeface="Calibri"/>
              </a:rPr>
              <a:t>Caveat: </a:t>
            </a:r>
            <a:r>
              <a:rPr sz="1000" b="0">
                <a:solidFill>
                  <a:srgbClr val="5B5F6E"/>
                </a:solidFill>
                <a:latin typeface="Calibri"/>
              </a:rPr>
              <a:t>Only ~22% of the gap is price sensitivity: equalizing α across classes leaves +0.059 of it standing, so budget heterogeneity does the rest. Poor's 0.000 Shigh share is an affordability wall (budget 3 &lt; price 6), unchanged by any α, and is not evidence for the price-sensitivity mechanism.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0">
                <a:solidFill>
                  <a:srgbClr val="5B5F6E"/>
                </a:solidFill>
                <a:latin typeface="Calibri"/>
              </a:rPr>
              <a:t>Generated automatically at phase completion  ·  Phase Completion Deliverable  ·  market-sim project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3200" b="1">
                <a:solidFill>
                  <a:srgbClr val="1E2761"/>
                </a:solidFill>
                <a:latin typeface="Cambria"/>
              </a:rPr>
              <a:t>Phase 3 — Person + Environment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5B5F6E"/>
                </a:solidFill>
                <a:latin typeface="Calibri"/>
              </a:rPr>
              <a:t>Stall position drives visibility  ·  git tag: phase3-validated  ·  30 seeds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464040" y="365760"/>
            <a:ext cx="2240280" cy="384048"/>
          </a:xfrm>
          <a:prstGeom prst="roundRect">
            <a:avLst/>
          </a:prstGeom>
          <a:solidFill>
            <a:srgbClr val="1E7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ALL CRITERIA PASS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8680" y="138988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828800"/>
            <a:ext cx="46177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Calibri"/>
              </a:rPr>
              <a:t>Buyers: </a:t>
            </a:r>
            <a:r>
              <a:rPr sz="1300" b="0">
                <a:solidFill>
                  <a:srgbClr val="5B5F6E"/>
                </a:solidFill>
                <a:latin typeface="Calibri"/>
              </a:rPr>
              <a:t>100 — Poor 70 / Middle 20 / Rich 10, unchanged from Phase 2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Calibri"/>
              </a:rPr>
              <a:t>Sellers: </a:t>
            </a:r>
            <a:r>
              <a:rPr sz="1300" b="0">
                <a:solidFill>
                  <a:srgbClr val="5B5F6E"/>
                </a:solidFill>
                <a:latin typeface="Calibri"/>
              </a:rPr>
              <a:t>5 — Slow ×3 (2 near @0.9, 1 far @0.3) / Shigh ×2 (1 near @0.8, 1 far @0.3)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5176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68680" y="262432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ENVIRONMENT &amp; 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63240"/>
            <a:ext cx="4617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-  Seller position_score → visibility_prob = 0.5 + 0.5 × position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-  Unnoticed stalls are skipped, not declined. No context, no history.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88620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68680" y="385876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METHOD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297680"/>
            <a:ext cx="46177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Phase 2's utility and parameters, unchanged, behind a visibility gate.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Visibility drawn last, so Phases 1–2 stay reproducible and this pairs with Phase 2.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02920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68680" y="500176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LITERATURE BASIS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440680"/>
            <a:ext cx="46177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1E2761"/>
                </a:solidFill>
                <a:latin typeface="Calibri"/>
              </a:rPr>
              <a:t>Huff (1963, 1964), </a:t>
            </a:r>
            <a:r>
              <a:rPr sz="1100" b="0">
                <a:solidFill>
                  <a:srgbClr val="5B5F6E"/>
                </a:solidFill>
                <a:latin typeface="Calibri"/>
              </a:rPr>
              <a:t>gravity-based retail trade-area model — basis for visibility declining with distance from the entrance.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0" y="141732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355080" y="1389888"/>
            <a:ext cx="53492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KEY RESULTS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5943600" y="1874519"/>
          <a:ext cx="57607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463040"/>
                <a:gridCol w="1097280"/>
              </a:tblGrid>
              <a:tr h="2743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Participation rate (0.6–1.0)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0.753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Slow: near − far n_sold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+8.67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Shigh: near − far n_sold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+1.97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Class→tier share shift vs Phase 2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CI incl. 0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5F6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Participation shift vs Phase 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-0.065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5F6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Rectangle 19"/>
          <p:cNvSpPr/>
          <p:nvPr/>
        </p:nvSpPr>
        <p:spPr>
          <a:xfrm>
            <a:off x="5943600" y="402336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355080" y="3995928"/>
            <a:ext cx="53492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RESEARCH QUESTION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0" y="4434840"/>
            <a:ext cx="5760720" cy="1965960"/>
          </a:xfrm>
          <a:prstGeom prst="rect">
            <a:avLst/>
          </a:prstGeom>
          <a:solidFill>
            <a:srgbClr val="F7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217920" y="4572000"/>
            <a:ext cx="521208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000" b="0">
                <a:solidFill>
                  <a:srgbClr val="5B5F6E"/>
                </a:solidFill>
                <a:latin typeface="Calibri"/>
              </a:rPr>
              <a:t>Does one environmental feature change purchase distribution beyond what person-level heterogeneity already explains?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1E2761"/>
                </a:solidFill>
                <a:latin typeface="Calibri"/>
              </a:rPr>
              <a:t>Finding: </a:t>
            </a:r>
            <a:r>
              <a:rPr sz="1000" b="0">
                <a:solidFill>
                  <a:srgbClr val="5B5F6E"/>
                </a:solidFill>
                <a:latin typeface="Calibri"/>
              </a:rPr>
              <a:t>It changes which seller, not which tier. Near stalls outsell far ones in both tiers, while class-to-tier sorting is statistically unmoved (every shift's 95% CI contains zero, none wider than ±0.027).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1E2761"/>
                </a:solidFill>
                <a:latin typeface="Calibri"/>
              </a:rPr>
              <a:t>Caveat: </a:t>
            </a:r>
            <a:r>
              <a:rPr sz="1000" b="0">
                <a:solidFill>
                  <a:srgbClr val="5B5F6E"/>
                </a:solidFill>
                <a:latin typeface="Calibri"/>
              </a:rPr>
              <a:t>The null share shift is a pre-registered valid outcome, not a failure. The phase's largest effect is ungraded: participation falls -0.065 (CI [-0.074, -0.057]) because unnoticed stalls cannot be bought from. Note also that this position assignment gives Slow a tier-level visibility edge (0.850 vs 0.775), so a different assignment would move tier shares differently.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0">
                <a:solidFill>
                  <a:srgbClr val="5B5F6E"/>
                </a:solidFill>
                <a:latin typeface="Calibri"/>
              </a:rPr>
              <a:t>Generated automatically at phase completion  ·  Phase Completion Deliverable  ·  market-sim project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3200" b="1">
                <a:solidFill>
                  <a:srgbClr val="1E2761"/>
                </a:solidFill>
                <a:latin typeface="Cambria"/>
              </a:rPr>
              <a:t>Phase 4 — Person + Environment +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5B5F6E"/>
                </a:solidFill>
                <a:latin typeface="Calibri"/>
              </a:rPr>
              <a:t>Temporary 30% promotion  ·  git tag: phase4-validated  ·  30 seeds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464040" y="365760"/>
            <a:ext cx="2240280" cy="384048"/>
          </a:xfrm>
          <a:prstGeom prst="roundRect">
            <a:avLst/>
          </a:prstGeom>
          <a:solidFill>
            <a:srgbClr val="1E7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ALL CRITERIA PASS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8680" y="138988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828800"/>
            <a:ext cx="46177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Calibri"/>
              </a:rPr>
              <a:t>Buyers: </a:t>
            </a:r>
            <a:r>
              <a:rPr sz="1300" b="0">
                <a:solidFill>
                  <a:srgbClr val="5B5F6E"/>
                </a:solidFill>
                <a:latin typeface="Calibri"/>
              </a:rPr>
              <a:t>100 — Poor 70 / Middle 20 / Rich 10, unchanged from Phase 2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Calibri"/>
              </a:rPr>
              <a:t>Sellers: </a:t>
            </a:r>
            <a:r>
              <a:rPr sz="1300" b="0">
                <a:solidFill>
                  <a:srgbClr val="5B5F6E"/>
                </a:solidFill>
                <a:latin typeface="Calibri"/>
              </a:rPr>
              <a:t>5 — Slow ×3 / Shigh ×2, positions unchanged from Phase 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5176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68680" y="262432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ENVIRONMENT &amp; 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63240"/>
            <a:ext cx="4617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-  Phase 3's position → visibility, unchanged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-  Context: 30% discount on one random stall, probability 0.2 per run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88620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68680" y="385876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METHOD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297680"/>
            <a:ext cx="46177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Phase 3's utility, unchanged; discount applies to the posted price.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Criteria graded on paired forced-promotion arms, not the 0.2 lottery.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02920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68680" y="500176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LITERATURE BASIS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440680"/>
            <a:ext cx="46177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1E2761"/>
                </a:solidFill>
                <a:latin typeface="Calibri"/>
              </a:rPr>
              <a:t>Belk (1975), </a:t>
            </a:r>
            <a:r>
              <a:rPr sz="1100" b="0">
                <a:solidFill>
                  <a:srgbClr val="5B5F6E"/>
                </a:solidFill>
                <a:latin typeface="Calibri"/>
              </a:rPr>
              <a:t>“Situational Variables and Consumer Behavior” (JCR) — basis for a transient promotion as a situational variable, distinct from stable person or environment features.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0" y="141732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355080" y="1389888"/>
            <a:ext cx="53492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KEY RESULTS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5943600" y="1874519"/>
          <a:ext cx="57607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463040"/>
                <a:gridCol w="1097280"/>
              </a:tblGrid>
              <a:tr h="2743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Participation rate (0.6–1.0)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0.753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Promotion lift, all 5 sellers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+1.13 to +2.93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Slow promoted → Poor (predicted)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+1.37 vs +0.20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Shigh promoted → Middle (predicted)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+2.87 vs +0.07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Market arm: runs with a promotion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6/30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5F6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Rectangle 19"/>
          <p:cNvSpPr/>
          <p:nvPr/>
        </p:nvSpPr>
        <p:spPr>
          <a:xfrm>
            <a:off x="5943600" y="402336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355080" y="3995928"/>
            <a:ext cx="53492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RESEARCH QUESTION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0" y="4434840"/>
            <a:ext cx="5760720" cy="1965960"/>
          </a:xfrm>
          <a:prstGeom prst="rect">
            <a:avLst/>
          </a:prstGeom>
          <a:solidFill>
            <a:srgbClr val="F7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217920" y="4572000"/>
            <a:ext cx="521208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000" b="0">
                <a:solidFill>
                  <a:srgbClr val="5B5F6E"/>
                </a:solidFill>
                <a:latin typeface="Calibri"/>
              </a:rPr>
              <a:t>Does a transient promotion shift buyer distribution beyond person + environment, and is its effect a level shift or a class interaction?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1E2761"/>
                </a:solidFill>
                <a:latin typeface="Calibri"/>
              </a:rPr>
              <a:t>Finding: </a:t>
            </a:r>
            <a:r>
              <a:rPr sz="1000" b="0">
                <a:solidFill>
                  <a:srgbClr val="5B5F6E"/>
                </a:solidFill>
                <a:latin typeface="Calibri"/>
              </a:rPr>
              <a:t>An interaction, decisively. Lift concentrates in the lowest-budget class that can afford the discounted stall — Poor at Slow (+1.37 vs +0.03 for Rich), Middle at Shigh (+2.87 vs +0.07). Both responders were predicted from the parameters before the runs.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1E2761"/>
                </a:solidFill>
                <a:latin typeface="Calibri"/>
              </a:rPr>
              <a:t>Caveat: </a:t>
            </a:r>
            <a:r>
              <a:rPr sz="1000" b="0">
                <a:solidFill>
                  <a:srgbClr val="5B5F6E"/>
                </a:solidFill>
                <a:latin typeface="Calibri"/>
              </a:rPr>
              <a:t>The specified 0.2 lottery cannot measure this: it fired 6 times in 30 runs, distributed [4, 0, 0, 1, 1], leaving sellers never promoted at all. Criteria are graded on paired forced arms instead; the lottery is kept as the market Phase 5 inherits. Poor's +0.00 at a promoted Shigh stall is arithmetic — 6 × 0.7 = 4.2 still exceeds its budget of 3 — not insensitivity to promotions.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0">
                <a:solidFill>
                  <a:srgbClr val="5B5F6E"/>
                </a:solidFill>
                <a:latin typeface="Calibri"/>
              </a:rPr>
              <a:t>Generated automatically at phase completion  ·  Phase Completion Deliverable  ·  market-sim project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