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1 — Transaction Mechanics</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Homogeneous agents  ·  git tag: phase1-validated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80 (homogeneous)  —  budget 5, price-sensitivity 0.5</a:t>
            </a:r>
          </a:p>
          <a:p>
            <a:pPr>
              <a:spcAft>
                <a:spcPts val="200"/>
              </a:spcAft>
            </a:pPr>
            <a:r>
              <a:rPr sz="1300" b="1">
                <a:solidFill>
                  <a:srgbClr val="1E2761"/>
                </a:solidFill>
                <a:latin typeface="Calibri"/>
              </a:rPr>
              <a:t>Sellers: </a:t>
            </a:r>
            <a:r>
              <a:rPr sz="1300" b="0">
                <a:solidFill>
                  <a:srgbClr val="5B5F6E"/>
                </a:solidFill>
                <a:latin typeface="Calibri"/>
              </a:rPr>
              <a:t>4 (homogeneous)  —  price 3, inventory 120</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None — static baseline, single pass per run</a:t>
            </a:r>
          </a:p>
          <a:p>
            <a:pPr>
              <a:spcAft>
                <a:spcPts val="200"/>
              </a:spcAft>
            </a:pPr>
            <a:r>
              <a:rPr sz="1300" b="0">
                <a:solidFill>
                  <a:srgbClr val="5B5F6E"/>
                </a:solidFill>
                <a:latin typeface="Calibri"/>
              </a:rPr>
              <a:t>-  No environment variation,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Rule-based linear utility + sigmoid purchase probability.</a:t>
            </a:r>
          </a:p>
          <a:p>
            <a:pPr>
              <a:spcAft>
                <a:spcPts val="200"/>
              </a:spcAft>
            </a:pPr>
            <a:r>
              <a:rPr sz="1300" b="0">
                <a:solidFill>
                  <a:srgbClr val="5B5F6E"/>
                </a:solidFill>
                <a:latin typeface="Calibri"/>
              </a:rPr>
              <a:t>No LLM, no learning, no adaptation.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McFadden (1974), </a:t>
            </a:r>
            <a:r>
              <a:rPr sz="1100" b="0">
                <a:solidFill>
                  <a:srgbClr val="5B5F6E"/>
                </a:solidFill>
                <a:latin typeface="Calibri"/>
              </a:rPr>
              <a:t>“Conditional Logit Analysis of Qualitative Choice Behavior” — random-utility basis for the purchase rule.</a:t>
            </a:r>
          </a:p>
          <a:p>
            <a:pPr>
              <a:spcAft>
                <a:spcPts val="600"/>
              </a:spcAft>
            </a:pPr>
            <a:r>
              <a:rPr sz="1100" b="1">
                <a:solidFill>
                  <a:srgbClr val="1E2761"/>
                </a:solidFill>
                <a:latin typeface="Calibri"/>
              </a:rPr>
              <a:t>Gode &amp; Sunder (1993), </a:t>
            </a:r>
            <a:r>
              <a:rPr sz="1100" b="0">
                <a:solidFill>
                  <a:srgbClr val="5B5F6E"/>
                </a:solidFill>
                <a:latin typeface="Calibri"/>
              </a:rPr>
              <a:t>“Allocative Efficiency of Markets with Zero-Intelligence Traders” (JPE) — mechanics tested with minimal agent intelligence.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0.822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Inventory remaining (of 480)</a:t>
                      </a:r>
                    </a:p>
                  </a:txBody>
                  <a:tcPr>
                    <a:solidFill>
                      <a:srgbClr val="F7F8FC"/>
                    </a:solidFill>
                  </a:tcPr>
                </a:tc>
                <a:tc>
                  <a:txBody>
                    <a:bodyPr/>
                    <a:lstStyle/>
                    <a:p>
                      <a:r>
                        <a:rPr sz="1100">
                          <a:solidFill>
                            <a:srgbClr val="5B5F6E"/>
                          </a:solidFill>
                          <a:latin typeface="Calibri"/>
                        </a:rPr>
                        <a:t>414</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Budget-cap invariant violated?</a:t>
                      </a:r>
                    </a:p>
                  </a:txBody>
                  <a:tcPr>
                    <a:solidFill>
                      <a:srgbClr val="FFFFFF"/>
                    </a:solidFill>
                  </a:tcPr>
                </a:tc>
                <a:tc>
                  <a:txBody>
                    <a:bodyPr/>
                    <a:lstStyle/>
                    <a:p>
                      <a:r>
                        <a:rPr sz="1100">
                          <a:solidFill>
                            <a:srgbClr val="5B5F6E"/>
                          </a:solidFill>
                          <a:latin typeface="Calibri"/>
                        </a:rPr>
                        <a:t>0 buyers</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Running means settle by seed 15 (±1 SEM)</a:t>
                      </a:r>
                    </a:p>
                  </a:txBody>
                  <a:tcPr>
                    <a:solidFill>
                      <a:srgbClr val="F7F8FC"/>
                    </a:solidFill>
                  </a:tcPr>
                </a:tc>
                <a:tc>
                  <a:txBody>
                    <a:bodyPr/>
                    <a:lstStyle/>
                    <a:p>
                      <a:r>
                        <a:rPr sz="1100">
                          <a:solidFill>
                            <a:srgbClr val="5B5F6E"/>
                          </a:solidFill>
                          <a:latin typeface="Calibri"/>
                        </a:rPr>
                        <a:t>seed 11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Stock-blocked sales, pressure run</a:t>
                      </a:r>
                    </a:p>
                  </a:txBody>
                  <a:tcPr>
                    <a:solidFill>
                      <a:srgbClr val="FFFFFF"/>
                    </a:solidFill>
                  </a:tcPr>
                </a:tc>
                <a:tc>
                  <a:txBody>
                    <a:bodyPr/>
                    <a:lstStyle/>
                    <a:p>
                      <a:r>
                        <a:rPr sz="1100">
                          <a:solidFill>
                            <a:srgbClr val="5B5F6E"/>
                          </a:solidFill>
                          <a:latin typeface="Calibri"/>
                        </a:rPr>
                        <a:t>1,101</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 buyers purchase, do sellers sell, does price affect demand, does inventory constrain sales, and are transactions recorded correctly?</a:t>
            </a:r>
          </a:p>
          <a:p>
            <a:pPr>
              <a:spcAft>
                <a:spcPts val="500"/>
              </a:spcAft>
            </a:pPr>
            <a:r>
              <a:rPr sz="1000" b="1">
                <a:solidFill>
                  <a:srgbClr val="1E2761"/>
                </a:solidFill>
                <a:latin typeface="Calibri"/>
              </a:rPr>
              <a:t>Finding: </a:t>
            </a:r>
            <a:r>
              <a:rPr sz="1000" b="0">
                <a:solidFill>
                  <a:srgbClr val="5B5F6E"/>
                </a:solidFill>
                <a:latin typeface="Calibri"/>
              </a:rPr>
              <a:t>Mechanics behave as specified. 82.2% of buyers transact, no buyer ever exceeds budget, and the slowest of the four run-summary metrics' running means settles within 1 SEM by seed 11.</a:t>
            </a:r>
          </a:p>
          <a:p>
            <a:pPr>
              <a:spcAft>
                <a:spcPts val="500"/>
              </a:spcAft>
            </a:pPr>
            <a:r>
              <a:rPr sz="1000" b="1">
                <a:solidFill>
                  <a:srgbClr val="1E2761"/>
                </a:solidFill>
                <a:latin typeface="Calibri"/>
              </a:rPr>
              <a:t>Caveat: </a:t>
            </a:r>
            <a:r>
              <a:rPr sz="1000" b="0">
                <a:solidFill>
                  <a:srgbClr val="5B5F6E"/>
                </a:solidFill>
                <a:latin typeface="Calibri"/>
              </a:rPr>
              <a:t>Inventory cannot bind in the main run — budget 5 against price 3 caps demand at 80 units versus 480 in stock, so the inventory clause of the question is unanswered by it. A paired inventory=15 run blocked 1,101 sales on empty stock, confirming the constraint is enforced when it can bind.</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2 — Linear Consumer Heterogeneity</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Three buyer classes, two seller tiers  ·  git tag: phase2-validated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(7:2:1); budget 3/7/10, α 0.85/0.5/0.2</a:t>
            </a:r>
          </a:p>
          <a:p>
            <a:pPr>
              <a:spcAft>
                <a:spcPts val="200"/>
              </a:spcAft>
            </a:pPr>
            <a:r>
              <a:rPr sz="1300" b="1">
                <a:solidFill>
                  <a:srgbClr val="1E2761"/>
                </a:solidFill>
                <a:latin typeface="Calibri"/>
              </a:rPr>
              <a:t>Sellers: </a:t>
            </a:r>
            <a:r>
              <a:rPr sz="1300" b="0">
                <a:solidFill>
                  <a:srgbClr val="5B5F6E"/>
                </a:solidFill>
                <a:latin typeface="Calibri"/>
              </a:rPr>
              <a:t>5 — Slow ×3 (price 2, inv 130) / Shigh ×2 (price 6, inv 70)</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None — static baseline, single pass per run</a:t>
            </a:r>
          </a:p>
          <a:p>
            <a:pPr>
              <a:spcAft>
                <a:spcPts val="200"/>
              </a:spcAft>
            </a:pPr>
            <a:r>
              <a:rPr sz="1300" b="0">
                <a:solidFill>
                  <a:srgbClr val="5B5F6E"/>
                </a:solidFill>
                <a:latin typeface="Calibri"/>
              </a:rPr>
              <a:t>-  No environment variation,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Rule-based linear utility + sigmoid, per-class parameters.</a:t>
            </a:r>
          </a:p>
          <a:p>
            <a:pPr>
              <a:spcAft>
                <a:spcPts val="200"/>
              </a:spcAft>
            </a:pPr>
            <a:r>
              <a:rPr sz="1300" b="0">
                <a:solidFill>
                  <a:srgbClr val="5B5F6E"/>
                </a:solidFill>
                <a:latin typeface="Calibri"/>
              </a:rPr>
              <a:t>price_reference = max(2, 6) = 6, market-wide.</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McFadden (1974), </a:t>
            </a:r>
            <a:r>
              <a:rPr sz="1100" b="0">
                <a:solidFill>
                  <a:srgbClr val="5B5F6E"/>
                </a:solidFill>
                <a:latin typeface="Calibri"/>
              </a:rPr>
              <a:t>“Conditional Logit Analysis of Qualitative Choice Behavior” — the same random-utility framework as Phase 1.</a:t>
            </a:r>
          </a:p>
          <a:p>
            <a:pPr>
              <a:spcAft>
                <a:spcPts val="600"/>
              </a:spcAft>
            </a:pPr>
            <a:r>
              <a:rPr sz="1100" b="1">
                <a:solidFill>
                  <a:srgbClr val="1E2761"/>
                </a:solidFill>
                <a:latin typeface="Calibri"/>
              </a:rPr>
              <a:t>Train, </a:t>
            </a:r>
            <a:r>
              <a:rPr sz="1100" b="0">
                <a:solidFill>
                  <a:srgbClr val="5B5F6E"/>
                </a:solidFill>
                <a:latin typeface="Calibri"/>
              </a:rPr>
              <a:t>“Discrete Choice Methods with Simulation” — heterogeneous per-class parameter extensions of RUM.</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0.818</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Stratification: Rich−Middle to Shigh</a:t>
                      </a:r>
                    </a:p>
                  </a:txBody>
                  <a:tcPr>
                    <a:solidFill>
                      <a:srgbClr val="F7F8FC"/>
                    </a:solidFill>
                  </a:tcPr>
                </a:tc>
                <a:tc>
                  <a:txBody>
                    <a:bodyPr/>
                    <a:lstStyle/>
                    <a:p>
                      <a:r>
                        <a:rPr sz="1100">
                          <a:solidFill>
                            <a:srgbClr val="5B5F6E"/>
                          </a:solidFill>
                          <a:latin typeface="Calibri"/>
                        </a:rPr>
                        <a:t>+0.076</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(must exclude 0)</a:t>
                      </a:r>
                    </a:p>
                  </a:txBody>
                  <a:tcPr>
                    <a:solidFill>
                      <a:srgbClr val="FFFFFF"/>
                    </a:solidFill>
                  </a:tcPr>
                </a:tc>
                <a:tc>
                  <a:txBody>
                    <a:bodyPr/>
                    <a:lstStyle/>
                    <a:p>
                      <a:r>
                        <a:rPr sz="1100">
                          <a:solidFill>
                            <a:srgbClr val="5B5F6E"/>
                          </a:solidFill>
                          <a:latin typeface="Calibri"/>
                        </a:rPr>
                        <a:t>[+0.04, +0.11]</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Shigh sellers not sold out</a:t>
                      </a:r>
                    </a:p>
                  </a:txBody>
                  <a:tcPr>
                    <a:solidFill>
                      <a:srgbClr val="F7F8FC"/>
                    </a:solidFill>
                  </a:tcPr>
                </a:tc>
                <a:tc>
                  <a:txBody>
                    <a:bodyPr/>
                    <a:lstStyle/>
                    <a:p>
                      <a:r>
                        <a:rPr sz="1100">
                          <a:solidFill>
                            <a:srgbClr val="5B5F6E"/>
                          </a:solidFill>
                          <a:latin typeface="Calibri"/>
                        </a:rPr>
                        <a:t>min 57</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Middle split to Shigh (no bar)</a:t>
                      </a:r>
                    </a:p>
                  </a:txBody>
                  <a:tcPr>
                    <a:solidFill>
                      <a:srgbClr val="FFFFFF"/>
                    </a:solidFill>
                  </a:tcPr>
                </a:tc>
                <a:tc>
                  <a:txBody>
                    <a:bodyPr/>
                    <a:lstStyle/>
                    <a:p>
                      <a:r>
                        <a:rPr sz="1100">
                          <a:solidFill>
                            <a:srgbClr val="5B5F6E"/>
                          </a:solidFill>
                          <a:latin typeface="Calibri"/>
                        </a:rPr>
                        <a:t>0.239</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Poor to Shigh (affordability wall)</a:t>
                      </a:r>
                    </a:p>
                  </a:txBody>
                  <a:tcPr>
                    <a:solidFill>
                      <a:srgbClr val="F7F8FC"/>
                    </a:solidFill>
                  </a:tcPr>
                </a:tc>
                <a:tc>
                  <a:txBody>
                    <a:bodyPr/>
                    <a:lstStyle/>
                    <a:p>
                      <a:r>
                        <a:rPr sz="1100">
                          <a:solidFill>
                            <a:srgbClr val="5B5F6E"/>
                          </a:solidFill>
                          <a:latin typeface="Calibri"/>
                        </a:rPr>
                        <a:t>0.000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person-level heterogeneity alone produce different purchasing patterns, and specifically economic stratification?</a:t>
            </a:r>
          </a:p>
          <a:p>
            <a:pPr>
              <a:spcAft>
                <a:spcPts val="500"/>
              </a:spcAft>
            </a:pPr>
            <a:r>
              <a:rPr sz="1000" b="1">
                <a:solidFill>
                  <a:srgbClr val="1E2761"/>
                </a:solidFill>
                <a:latin typeface="Calibri"/>
              </a:rPr>
              <a:t>Finding: </a:t>
            </a:r>
            <a:r>
              <a:rPr sz="1000" b="0">
                <a:solidFill>
                  <a:srgbClr val="5B5F6E"/>
                </a:solidFill>
                <a:latin typeface="Calibri"/>
              </a:rPr>
              <a:t>Yes, but mostly through budgets. Richer buyers reach the premium tier more than poorer ones (+0.076, CI excludes 0), and all 3 graded criteria pass.</a:t>
            </a:r>
          </a:p>
          <a:p>
            <a:pPr>
              <a:spcAft>
                <a:spcPts val="500"/>
              </a:spcAft>
            </a:pPr>
            <a:r>
              <a:rPr sz="1000" b="1">
                <a:solidFill>
                  <a:srgbClr val="1E2761"/>
                </a:solidFill>
                <a:latin typeface="Calibri"/>
              </a:rPr>
              <a:t>Caveat: </a:t>
            </a:r>
            <a:r>
              <a:rPr sz="1000" b="0">
                <a:solidFill>
                  <a:srgbClr val="5B5F6E"/>
                </a:solidFill>
                <a:latin typeface="Calibri"/>
              </a:rPr>
              <a:t>Only ~22% of the gap is price sensitivity: equalizing α across classes leaves +0.059 of it standing, so budget heterogeneity does the rest. Poor's 0.000 Shigh share is an affordability wall (budget 3 &lt; price 6), unchanged by any α, and is not evidence for the price-sensitivity mechanism.</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3 — Person + Environment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Stall position drives visibility  ·  git tag: phase3-validated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(2 near @0.9, 1 far @0.3) / Shigh ×2 (1 near @0.8, 1 far @0.3)</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Seller position_score → visibility_prob = 0.5 + 0.5 × position</a:t>
            </a:r>
          </a:p>
          <a:p>
            <a:pPr>
              <a:spcAft>
                <a:spcPts val="200"/>
              </a:spcAft>
            </a:pPr>
            <a:r>
              <a:rPr sz="1300" b="0">
                <a:solidFill>
                  <a:srgbClr val="5B5F6E"/>
                </a:solidFill>
                <a:latin typeface="Calibri"/>
              </a:rPr>
              <a:t>-  Unnoticed stalls are skipped, not declined.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2's utility and parameters, unchanged, behind a visibility gate.</a:t>
            </a:r>
          </a:p>
          <a:p>
            <a:pPr>
              <a:spcAft>
                <a:spcPts val="200"/>
              </a:spcAft>
            </a:pPr>
            <a:r>
              <a:rPr sz="1300" b="0">
                <a:solidFill>
                  <a:srgbClr val="5B5F6E"/>
                </a:solidFill>
                <a:latin typeface="Calibri"/>
              </a:rPr>
              <a:t>Visibility drawn last, so Phases 1–2 stay reproducible and this pairs with Phase 2.</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Huff (1963, 1964), </a:t>
            </a:r>
            <a:r>
              <a:rPr sz="1100" b="0">
                <a:solidFill>
                  <a:srgbClr val="5B5F6E"/>
                </a:solidFill>
                <a:latin typeface="Calibri"/>
              </a:rPr>
              <a:t>gravity-based retail trade-area model — basis for visibility declining with distance from the entrance.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0.753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Slow: near − far n_sold</a:t>
                      </a:r>
                    </a:p>
                  </a:txBody>
                  <a:tcPr>
                    <a:solidFill>
                      <a:srgbClr val="F7F8FC"/>
                    </a:solidFill>
                  </a:tcPr>
                </a:tc>
                <a:tc>
                  <a:txBody>
                    <a:bodyPr/>
                    <a:lstStyle/>
                    <a:p>
                      <a:r>
                        <a:rPr sz="1100">
                          <a:solidFill>
                            <a:srgbClr val="5B5F6E"/>
                          </a:solidFill>
                          <a:latin typeface="Calibri"/>
                        </a:rPr>
                        <a:t>+8.67</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Shigh: near − far n_sold</a:t>
                      </a:r>
                    </a:p>
                  </a:txBody>
                  <a:tcPr>
                    <a:solidFill>
                      <a:srgbClr val="FFFFFF"/>
                    </a:solidFill>
                  </a:tcPr>
                </a:tc>
                <a:tc>
                  <a:txBody>
                    <a:bodyPr/>
                    <a:lstStyle/>
                    <a:p>
                      <a:r>
                        <a:rPr sz="1100">
                          <a:solidFill>
                            <a:srgbClr val="5B5F6E"/>
                          </a:solidFill>
                          <a:latin typeface="Calibri"/>
                        </a:rPr>
                        <a:t>+1.97</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Class→tier share shift vs Phase 2</a:t>
                      </a:r>
                    </a:p>
                  </a:txBody>
                  <a:tcPr>
                    <a:solidFill>
                      <a:srgbClr val="F7F8FC"/>
                    </a:solidFill>
                  </a:tcPr>
                </a:tc>
                <a:tc>
                  <a:txBody>
                    <a:bodyPr/>
                    <a:lstStyle/>
                    <a:p>
                      <a:r>
                        <a:rPr sz="1100">
                          <a:solidFill>
                            <a:srgbClr val="5B5F6E"/>
                          </a:solidFill>
                          <a:latin typeface="Calibri"/>
                        </a:rPr>
                        <a:t>CI incl. 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Participation shift vs Phase 2</a:t>
                      </a:r>
                    </a:p>
                  </a:txBody>
                  <a:tcPr>
                    <a:solidFill>
                      <a:srgbClr val="FFFFFF"/>
                    </a:solidFill>
                  </a:tcPr>
                </a:tc>
                <a:tc>
                  <a:txBody>
                    <a:bodyPr/>
                    <a:lstStyle/>
                    <a:p>
                      <a:r>
                        <a:rPr sz="1100">
                          <a:solidFill>
                            <a:srgbClr val="5B5F6E"/>
                          </a:solidFill>
                          <a:latin typeface="Calibri"/>
                        </a:rPr>
                        <a:t>-0.065</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one environmental feature change purchase distribution beyond what person-level heterogeneity already explains?</a:t>
            </a:r>
          </a:p>
          <a:p>
            <a:pPr>
              <a:spcAft>
                <a:spcPts val="500"/>
              </a:spcAft>
            </a:pPr>
            <a:r>
              <a:rPr sz="1000" b="1">
                <a:solidFill>
                  <a:srgbClr val="1E2761"/>
                </a:solidFill>
                <a:latin typeface="Calibri"/>
              </a:rPr>
              <a:t>Finding: </a:t>
            </a:r>
            <a:r>
              <a:rPr sz="1000" b="0">
                <a:solidFill>
                  <a:srgbClr val="5B5F6E"/>
                </a:solidFill>
                <a:latin typeface="Calibri"/>
              </a:rPr>
              <a:t>It changes which seller, not which tier. Near stalls outsell far ones in both tiers, while class-to-tier sorting is statistically unmoved (every shift's 95% CI contains zero, none wider than ±0.027).</a:t>
            </a:r>
          </a:p>
          <a:p>
            <a:pPr>
              <a:spcAft>
                <a:spcPts val="500"/>
              </a:spcAft>
            </a:pPr>
            <a:r>
              <a:rPr sz="1000" b="1">
                <a:solidFill>
                  <a:srgbClr val="1E2761"/>
                </a:solidFill>
                <a:latin typeface="Calibri"/>
              </a:rPr>
              <a:t>Caveat: </a:t>
            </a:r>
            <a:r>
              <a:rPr sz="1000" b="0">
                <a:solidFill>
                  <a:srgbClr val="5B5F6E"/>
                </a:solidFill>
                <a:latin typeface="Calibri"/>
              </a:rPr>
              <a:t>The null share shift is a pre-registered valid outcome, not a failure. The phase's largest effect is ungraded: participation falls -0.065 (CI [-0.074, -0.057]) because unnoticed stalls cannot be bought from. Note also that this position assignment gives Slow a tier-level visibility edge (0.850 vs 0.775), so a different assignment would move tier shares differently.</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4 — Person + Environment + Context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Temporary 30% promotion  ·  git tag: phase4-validated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 Shigh ×2, positions unchanged from Phase 3</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Phase 3's position → visibility, unchanged</a:t>
            </a:r>
          </a:p>
          <a:p>
            <a:pPr>
              <a:spcAft>
                <a:spcPts val="200"/>
              </a:spcAft>
            </a:pPr>
            <a:r>
              <a:rPr sz="1300" b="0">
                <a:solidFill>
                  <a:srgbClr val="5B5F6E"/>
                </a:solidFill>
                <a:latin typeface="Calibri"/>
              </a:rPr>
              <a:t>-  Context: 30% discount on one random stall, probability 0.2 per run</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3's utility, unchanged; discount applies to the posted price.</a:t>
            </a:r>
          </a:p>
          <a:p>
            <a:pPr>
              <a:spcAft>
                <a:spcPts val="200"/>
              </a:spcAft>
            </a:pPr>
            <a:r>
              <a:rPr sz="1300" b="0">
                <a:solidFill>
                  <a:srgbClr val="5B5F6E"/>
                </a:solidFill>
                <a:latin typeface="Calibri"/>
              </a:rPr>
              <a:t>Criteria graded on paired forced-promotion arms, not the 0.2 lottery.</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Belk (1975), </a:t>
            </a:r>
            <a:r>
              <a:rPr sz="1100" b="0">
                <a:solidFill>
                  <a:srgbClr val="5B5F6E"/>
                </a:solidFill>
                <a:latin typeface="Calibri"/>
              </a:rPr>
              <a:t>“Situational Variables and Consumer Behavior” (JCR) — basis for a transient promotion as a situational variable, distinct from stable person or environment features.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0.753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Promotion lift, all 5 sellers</a:t>
                      </a:r>
                    </a:p>
                  </a:txBody>
                  <a:tcPr>
                    <a:solidFill>
                      <a:srgbClr val="F7F8FC"/>
                    </a:solidFill>
                  </a:tcPr>
                </a:tc>
                <a:tc>
                  <a:txBody>
                    <a:bodyPr/>
                    <a:lstStyle/>
                    <a:p>
                      <a:r>
                        <a:rPr sz="1100">
                          <a:solidFill>
                            <a:srgbClr val="5B5F6E"/>
                          </a:solidFill>
                          <a:latin typeface="Calibri"/>
                        </a:rPr>
                        <a:t>+1.13 to +2.93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Slow promoted → Poor (predicted)</a:t>
                      </a:r>
                    </a:p>
                  </a:txBody>
                  <a:tcPr>
                    <a:solidFill>
                      <a:srgbClr val="FFFFFF"/>
                    </a:solidFill>
                  </a:tcPr>
                </a:tc>
                <a:tc>
                  <a:txBody>
                    <a:bodyPr/>
                    <a:lstStyle/>
                    <a:p>
                      <a:r>
                        <a:rPr sz="1100">
                          <a:solidFill>
                            <a:srgbClr val="5B5F6E"/>
                          </a:solidFill>
                          <a:latin typeface="Calibri"/>
                        </a:rPr>
                        <a:t>+1.37 vs +0.20</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Shigh promoted → Middle (predicted)</a:t>
                      </a:r>
                    </a:p>
                  </a:txBody>
                  <a:tcPr>
                    <a:solidFill>
                      <a:srgbClr val="F7F8FC"/>
                    </a:solidFill>
                  </a:tcPr>
                </a:tc>
                <a:tc>
                  <a:txBody>
                    <a:bodyPr/>
                    <a:lstStyle/>
                    <a:p>
                      <a:r>
                        <a:rPr sz="1100">
                          <a:solidFill>
                            <a:srgbClr val="5B5F6E"/>
                          </a:solidFill>
                          <a:latin typeface="Calibri"/>
                        </a:rPr>
                        <a:t>+2.87 vs +0.07</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Market arm: runs with a promotion</a:t>
                      </a:r>
                    </a:p>
                  </a:txBody>
                  <a:tcPr>
                    <a:solidFill>
                      <a:srgbClr val="FFFFFF"/>
                    </a:solidFill>
                  </a:tcPr>
                </a:tc>
                <a:tc>
                  <a:txBody>
                    <a:bodyPr/>
                    <a:lstStyle/>
                    <a:p>
                      <a:r>
                        <a:rPr sz="1100">
                          <a:solidFill>
                            <a:srgbClr val="5B5F6E"/>
                          </a:solidFill>
                          <a:latin typeface="Calibri"/>
                        </a:rPr>
                        <a:t>6/30</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a transient promotion shift buyer distribution beyond person + environment, and is its effect a level shift or a class interaction?</a:t>
            </a:r>
          </a:p>
          <a:p>
            <a:pPr>
              <a:spcAft>
                <a:spcPts val="500"/>
              </a:spcAft>
            </a:pPr>
            <a:r>
              <a:rPr sz="1000" b="1">
                <a:solidFill>
                  <a:srgbClr val="1E2761"/>
                </a:solidFill>
                <a:latin typeface="Calibri"/>
              </a:rPr>
              <a:t>Finding: </a:t>
            </a:r>
            <a:r>
              <a:rPr sz="1000" b="0">
                <a:solidFill>
                  <a:srgbClr val="5B5F6E"/>
                </a:solidFill>
                <a:latin typeface="Calibri"/>
              </a:rPr>
              <a:t>An interaction, decisively. Lift concentrates in the lowest-budget class that can afford the discounted stall — Poor at Slow (+1.37 vs +0.03 for Rich), Middle at Shigh (+2.87 vs +0.07). Both responders were predicted from the parameters before the runs.</a:t>
            </a:r>
          </a:p>
          <a:p>
            <a:pPr>
              <a:spcAft>
                <a:spcPts val="500"/>
              </a:spcAft>
            </a:pPr>
            <a:r>
              <a:rPr sz="1000" b="1">
                <a:solidFill>
                  <a:srgbClr val="1E2761"/>
                </a:solidFill>
                <a:latin typeface="Calibri"/>
              </a:rPr>
              <a:t>Caveat: </a:t>
            </a:r>
            <a:r>
              <a:rPr sz="1000" b="0">
                <a:solidFill>
                  <a:srgbClr val="5B5F6E"/>
                </a:solidFill>
                <a:latin typeface="Calibri"/>
              </a:rPr>
              <a:t>The specified 0.2 lottery cannot measure this: it fired 6 times in 30 runs, distributed [4, 0, 0, 1, 1], leaving sellers never promoted at all. Criteria are graded on paired forced arms instead; the lottery is kept as the market Phase 5 inherits. Poor's +0.00 at a promoted Shigh stall is arithmetic — 6 × 0.7 = 4.2 still exceeds its budget of 3 — not insensitivity to promotions.</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5 — Nonlinear Behavioural Effects</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Budget cliff vs linear  ·  git tag: phase5-validated  ·  30 seeds (1000 where undecided)</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ROLLBACK TO LINEAR</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 Shigh ×2, positions and promotion unchanged</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Phase 3 visibility and Phase 4 promotion, both unchanged</a:t>
            </a:r>
          </a:p>
          <a:p>
            <a:pPr>
              <a:spcAft>
                <a:spcPts val="200"/>
              </a:spcAft>
            </a:pPr>
            <a:r>
              <a:rPr sz="1300" b="0">
                <a:solidFill>
                  <a:srgbClr val="5B5F6E"/>
                </a:solidFill>
                <a:latin typeface="Calibri"/>
              </a:rPr>
              <a:t>-  Only how remaining budget enters utility differs across arms</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Cliff: utility −= 1.0 when (budget_remaining − price) &lt; 0.5.</a:t>
            </a:r>
          </a:p>
          <a:p>
            <a:pPr>
              <a:spcAft>
                <a:spcPts val="200"/>
              </a:spcAft>
            </a:pPr>
            <a:r>
              <a:rPr sz="1300" b="0">
                <a:solidFill>
                  <a:srgbClr val="5B5F6E"/>
                </a:solidFill>
                <a:latin typeface="Calibri"/>
              </a:rPr>
              <a:t>Three arms — linear / linear+cliff / cliff-only — same seeds, exactly paired.</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Kahneman &amp; Tversky (1979), </a:t>
            </a:r>
            <a:r>
              <a:rPr sz="1100" b="0">
                <a:solidFill>
                  <a:srgbClr val="5B5F6E"/>
                </a:solidFill>
                <a:latin typeface="Calibri"/>
              </a:rPr>
              <a:t>“Prospect Theory” (Econometrica) — basis for a reference-point penalty near budget exhaustion.</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0.753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linear+cliff: largest share shift</a:t>
                      </a:r>
                    </a:p>
                  </a:txBody>
                  <a:tcPr>
                    <a:solidFill>
                      <a:srgbClr val="F7F8FC"/>
                    </a:solidFill>
                  </a:tcPr>
                </a:tc>
                <a:tc>
                  <a:txBody>
                    <a:bodyPr/>
                    <a:lstStyle/>
                    <a:p>
                      <a:r>
                        <a:rPr sz="1100">
                          <a:solidFill>
                            <a:srgbClr val="5B5F6E"/>
                          </a:solidFill>
                          <a:latin typeface="Calibri"/>
                        </a:rPr>
                        <a:t>+0.17 pp</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vs ±5 pp margin</a:t>
                      </a:r>
                    </a:p>
                  </a:txBody>
                  <a:tcPr>
                    <a:solidFill>
                      <a:srgbClr val="FFFFFF"/>
                    </a:solidFill>
                  </a:tcPr>
                </a:tc>
                <a:tc>
                  <a:txBody>
                    <a:bodyPr/>
                    <a:lstStyle/>
                    <a:p>
                      <a:r>
                        <a:rPr sz="1100">
                          <a:solidFill>
                            <a:srgbClr val="5B5F6E"/>
                          </a:solidFill>
                          <a:latin typeface="Calibri"/>
                        </a:rPr>
                        <a:t>[-0.9, +1.3]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cliff-only @1000 seeds: largest shift</a:t>
                      </a:r>
                    </a:p>
                  </a:txBody>
                  <a:tcPr>
                    <a:solidFill>
                      <a:srgbClr val="F7F8FC"/>
                    </a:solidFill>
                  </a:tcPr>
                </a:tc>
                <a:tc>
                  <a:txBody>
                    <a:bodyPr/>
                    <a:lstStyle/>
                    <a:p>
                      <a:r>
                        <a:rPr sz="1100">
                          <a:solidFill>
                            <a:srgbClr val="5B5F6E"/>
                          </a:solidFill>
                          <a:latin typeface="Calibri"/>
                        </a:rPr>
                        <a:t>-2.73 pp</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Purchases that reached the cliff</a:t>
                      </a:r>
                    </a:p>
                  </a:txBody>
                  <a:tcPr>
                    <a:solidFill>
                      <a:srgbClr val="FFFFFF"/>
                    </a:solidFill>
                  </a:tcPr>
                </a:tc>
                <a:tc>
                  <a:txBody>
                    <a:bodyPr/>
                    <a:lstStyle/>
                    <a:p>
                      <a:r>
                        <a:rPr sz="1100">
                          <a:solidFill>
                            <a:srgbClr val="5B5F6E"/>
                          </a:solidFill>
                          <a:latin typeface="Calibri"/>
                        </a:rPr>
                        <a:t>17/2677 (0.6%)</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one nonlinear mechanism — a budget cliff — materially change conclusions versus the linear model used in Phases 2–4?</a:t>
            </a:r>
          </a:p>
          <a:p>
            <a:pPr>
              <a:spcAft>
                <a:spcPts val="500"/>
              </a:spcAft>
            </a:pPr>
            <a:r>
              <a:rPr sz="1000" b="1">
                <a:solidFill>
                  <a:srgbClr val="1E2761"/>
                </a:solidFill>
                <a:latin typeface="Calibri"/>
              </a:rPr>
              <a:t>Finding: </a:t>
            </a:r>
            <a:r>
              <a:rPr sz="1000" b="0">
                <a:solidFill>
                  <a:srgbClr val="5B5F6E"/>
                </a:solidFill>
                <a:latin typeface="Calibri"/>
              </a:rPr>
              <a:t>No, under both readings of the spec. Every tracked class-share shift's 95% CI lies inside ±5 pp, so a material effect is ruled out rather than merely unobserved. The project rolls back to the linear model for Phase 6 onward, not linear-plus-an-inert-threshold.</a:t>
            </a:r>
          </a:p>
          <a:p>
            <a:pPr>
              <a:spcAft>
                <a:spcPts val="500"/>
              </a:spcAft>
            </a:pPr>
            <a:r>
              <a:rPr sz="1000" b="1">
                <a:solidFill>
                  <a:srgbClr val="1E2761"/>
                </a:solidFill>
                <a:latin typeface="Calibri"/>
              </a:rPr>
              <a:t>Caveat: </a:t>
            </a:r>
            <a:r>
              <a:rPr sz="1000" b="0">
                <a:solidFill>
                  <a:srgbClr val="5B5F6E"/>
                </a:solidFill>
                <a:latin typeface="Calibri"/>
              </a:rPr>
              <a:t>The cliff cannot fire on any buyer's first purchase at these parameters (smallest first-purchase gap is 1.0 against a 0.5 threshold), so it reached only 0.6% of purchases. That is why the effect is small here, not evidence that threshold effects are unimportant. The cliff-only arm was undecided at 30 seeds — point estimate 4.68 pp with a CI reaching 6.36 — and needed 1000 seeds to settle at -2.73 pp.</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6 — Repeated Interaction</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22-week season, accumulating memory  ·  git tag: phase6-validated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attendance 0.85 / 0.84 / 0.82</a:t>
            </a:r>
          </a:p>
          <a:p>
            <a:pPr>
              <a:spcAft>
                <a:spcPts val="200"/>
              </a:spcAft>
            </a:pPr>
            <a:r>
              <a:rPr sz="1300" b="1">
                <a:solidFill>
                  <a:srgbClr val="1E2761"/>
                </a:solidFill>
                <a:latin typeface="Calibri"/>
              </a:rPr>
              <a:t>Sellers: </a:t>
            </a:r>
            <a:r>
              <a:rPr sz="1300" b="0">
                <a:solidFill>
                  <a:srgbClr val="5B5F6E"/>
                </a:solidFill>
                <a:latin typeface="Calibri"/>
              </a:rPr>
              <a:t>5 — Slow ×3 / Shigh ×2, positions and promotion from Phases 3–4</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Time axis: 22 weeks, one season. Budget and inventory reset weekly.</a:t>
            </a:r>
          </a:p>
          <a:p>
            <a:pPr>
              <a:spcAft>
                <a:spcPts val="200"/>
              </a:spcAft>
            </a:pPr>
            <a:r>
              <a:rPr sz="1300" b="0">
                <a:solidFill>
                  <a:srgbClr val="5B5F6E"/>
                </a:solidFill>
                <a:latin typeface="Calibri"/>
              </a:rPr>
              <a:t>-  Memory persists across weeks, including weeks a buyer sits out.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Loyalty bonus 0.5 × min(streak, 3), max 1.5 = preference_coef.</a:t>
            </a:r>
          </a:p>
          <a:p>
            <a:pPr>
              <a:spcAft>
                <a:spcPts val="200"/>
              </a:spcAft>
            </a:pPr>
            <a:r>
              <a:rPr sz="1300" b="0">
                <a:solidFill>
                  <a:srgbClr val="5B5F6E"/>
                </a:solidFill>
                <a:latin typeface="Calibri"/>
              </a:rPr>
              <a:t>Linear single-week model, per Phase 5's rollback. Graded vs a no-loyalty control.</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Massy, Montgomery &amp; Morrison (1970), </a:t>
            </a:r>
            <a:r>
              <a:rPr sz="1100" b="0">
                <a:solidFill>
                  <a:srgbClr val="5B5F6E"/>
                </a:solidFill>
                <a:latin typeface="Calibri"/>
              </a:rPr>
              <a:t>“Stochastic Models of Buying Behavior” (MIT Press) — loyalty and switching dynamics in repeated purchasing.</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purchase_rate (0.6–1.0)</a:t>
                      </a:r>
                    </a:p>
                  </a:txBody>
                  <a:tcPr>
                    <a:solidFill>
                      <a:srgbClr val="FFFFFF"/>
                    </a:solidFill>
                  </a:tcPr>
                </a:tc>
                <a:tc>
                  <a:txBody>
                    <a:bodyPr/>
                    <a:lstStyle/>
                    <a:p>
                      <a:r>
                        <a:rPr sz="1100">
                          <a:solidFill>
                            <a:srgbClr val="5B5F6E"/>
                          </a:solidFill>
                          <a:latin typeface="Calibri"/>
                        </a:rPr>
                        <a:t>0.693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attendance_rate (reported)</a:t>
                      </a:r>
                    </a:p>
                  </a:txBody>
                  <a:tcPr>
                    <a:solidFill>
                      <a:srgbClr val="F7F8FC"/>
                    </a:solidFill>
                  </a:tcPr>
                </a:tc>
                <a:tc>
                  <a:txBody>
                    <a:bodyPr/>
                    <a:lstStyle/>
                    <a:p>
                      <a:r>
                        <a:rPr sz="1100">
                          <a:solidFill>
                            <a:srgbClr val="5B5F6E"/>
                          </a:solidFill>
                          <a:latin typeface="Calibri"/>
                        </a:rPr>
                        <a:t>0.845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Stability vs no-loyalty control</a:t>
                      </a:r>
                    </a:p>
                  </a:txBody>
                  <a:tcPr>
                    <a:solidFill>
                      <a:srgbClr val="FFFFFF"/>
                    </a:solidFill>
                  </a:tcPr>
                </a:tc>
                <a:tc>
                  <a:txBody>
                    <a:bodyPr/>
                    <a:lstStyle/>
                    <a:p>
                      <a:r>
                        <a:rPr sz="1100">
                          <a:solidFill>
                            <a:srgbClr val="5B5F6E"/>
                          </a:solidFill>
                          <a:latin typeface="Calibri"/>
                        </a:rPr>
                        <a:t>+0.109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a:t>
                      </a:r>
                    </a:p>
                  </a:txBody>
                  <a:tcPr>
                    <a:solidFill>
                      <a:srgbClr val="F7F8FC"/>
                    </a:solidFill>
                  </a:tcPr>
                </a:tc>
                <a:tc>
                  <a:txBody>
                    <a:bodyPr/>
                    <a:lstStyle/>
                    <a:p>
                      <a:r>
                        <a:rPr sz="1100">
                          <a:solidFill>
                            <a:srgbClr val="5B5F6E"/>
                          </a:solidFill>
                          <a:latin typeface="Calibri"/>
                        </a:rPr>
                        <a:t>[+0.105, +0.112]</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Rise, week 1 → weeks 17–21</a:t>
                      </a:r>
                    </a:p>
                  </a:txBody>
                  <a:tcPr>
                    <a:solidFill>
                      <a:srgbClr val="FFFFFF"/>
                    </a:solidFill>
                  </a:tcPr>
                </a:tc>
                <a:tc>
                  <a:txBody>
                    <a:bodyPr/>
                    <a:lstStyle/>
                    <a:p>
                      <a:r>
                        <a:rPr sz="1100">
                          <a:solidFill>
                            <a:srgbClr val="5B5F6E"/>
                          </a:solidFill>
                          <a:latin typeface="Calibri"/>
                        </a:rPr>
                        <a:t>+0.037</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Plateau week</a:t>
                      </a:r>
                    </a:p>
                  </a:txBody>
                  <a:tcPr>
                    <a:solidFill>
                      <a:srgbClr val="F7F8FC"/>
                    </a:solidFill>
                  </a:tcPr>
                </a:tc>
                <a:tc>
                  <a:txBody>
                    <a:bodyPr/>
                    <a:lstStyle/>
                    <a:p>
                      <a:r>
                        <a:rPr sz="1100">
                          <a:solidFill>
                            <a:srgbClr val="5B5F6E"/>
                          </a:solidFill>
                          <a:latin typeface="Calibri"/>
                        </a:rPr>
                        <a:t>week 14</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buyer memory change future behaviour and produce stable buyer–seller relationships over time?</a:t>
            </a:r>
          </a:p>
          <a:p>
            <a:pPr>
              <a:spcAft>
                <a:spcPts val="500"/>
              </a:spcAft>
            </a:pPr>
            <a:r>
              <a:rPr sz="1000" b="1">
                <a:solidFill>
                  <a:srgbClr val="1E2761"/>
                </a:solidFill>
                <a:latin typeface="Calibri"/>
              </a:rPr>
              <a:t>Finding: </a:t>
            </a:r>
            <a:r>
              <a:rPr sz="1000" b="0">
                <a:solidFill>
                  <a:srgbClr val="5B5F6E"/>
                </a:solidFill>
                <a:latin typeface="Calibri"/>
              </a:rPr>
              <a:t>Yes. Memory raises pair stability from 0.312 to 0.420 against an identical no-loyalty control on the same seeds — +0.109, CI [+0.105, +0.112].</a:t>
            </a:r>
          </a:p>
          <a:p>
            <a:pPr>
              <a:spcAft>
                <a:spcPts val="500"/>
              </a:spcAft>
            </a:pPr>
            <a:r>
              <a:rPr sz="1000" b="1">
                <a:solidFill>
                  <a:srgbClr val="1E2761"/>
                </a:solidFill>
                <a:latin typeface="Calibri"/>
              </a:rPr>
              <a:t>Caveat: </a:t>
            </a:r>
            <a:r>
              <a:rPr sz="1000" b="0">
                <a:solidFill>
                  <a:srgbClr val="5B5F6E"/>
                </a:solidFill>
                <a:latin typeface="Calibri"/>
              </a:rPr>
              <a:t>The control's own 0.312 is not memory: unequal seller popularity and season-long fixed preference produce most of it, so the raw level must never be read as a loyalty effect. The within-season rise (+0.037) is weak and window-sensitive — it fails at a weeks 1–2 early window, and its window was narrowed post-hoc after the pre-registered one failed. Lead with the control comparison, not the rise.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7a Heuristic Pricing</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Profit hill-climbing, 3 seasons  ·  git tag: phase7a-validated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6</a:t>
            </a:r>
          </a:p>
          <a:p>
            <a:pPr>
              <a:spcAft>
                <a:spcPts val="200"/>
              </a:spcAft>
            </a:pPr>
            <a:r>
              <a:rPr sz="1300" b="1">
                <a:solidFill>
                  <a:srgbClr val="1E2761"/>
                </a:solidFill>
                <a:latin typeface="Calibri"/>
              </a:rPr>
              <a:t>Sellers: </a:t>
            </a:r>
            <a:r>
              <a:rPr sz="1300" b="0">
                <a:solidFill>
                  <a:srgbClr val="5B5F6E"/>
                </a:solidFill>
                <a:latin typeface="Calibri"/>
              </a:rPr>
              <a:t>5 — now with costs: unit cost half the initial price, 10/week fixed</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66 weeks (3 seasons). Price persists across weeks; stock and budget reset.</a:t>
            </a:r>
          </a:p>
          <a:p>
            <a:pPr>
              <a:spcAft>
                <a:spcPts val="200"/>
              </a:spcAft>
            </a:pPr>
            <a:r>
              <a:rPr sz="1300" b="0">
                <a:solidFill>
                  <a:srgbClr val="5B5F6E"/>
                </a:solidFill>
                <a:latin typeface="Calibri"/>
              </a:rPr>
              <a:t>-  Phase 3 visibility, Phase 4 promotion, Phase 6 memory all unchanged.</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Move price ±5% the way it moved last week while profit improves.</a:t>
            </a:r>
          </a:p>
          <a:p>
            <a:pPr>
              <a:spcAft>
                <a:spcPts val="200"/>
              </a:spcAft>
            </a:pPr>
            <a:r>
              <a:rPr sz="1300" b="0">
                <a:solidFill>
                  <a:srgbClr val="5B5F6E"/>
                </a:solidFill>
                <a:latin typeface="Calibri"/>
              </a:rPr>
              <a:t>Act only on a change beyond the seller's own 8-week noise; floor at unit cost.</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den Boer (2015), </a:t>
            </a:r>
            <a:r>
              <a:rPr sz="1100" b="0">
                <a:solidFill>
                  <a:srgbClr val="5B5F6E"/>
                </a:solidFill>
                <a:latin typeface="Calibri"/>
              </a:rPr>
              <a:t>“Dynamic Pricing and Learning” — heuristic, non-optimizing adaptive pricing as the stage before formal learning algorithms.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purchase_rate (0.6–1.0)</a:t>
                      </a:r>
                    </a:p>
                  </a:txBody>
                  <a:tcPr>
                    <a:solidFill>
                      <a:srgbClr val="FFFFFF"/>
                    </a:solidFill>
                  </a:tcPr>
                </a:tc>
                <a:tc>
                  <a:txBody>
                    <a:bodyPr/>
                    <a:lstStyle/>
                    <a:p>
                      <a:r>
                        <a:rPr sz="1100">
                          <a:solidFill>
                            <a:srgbClr val="5B5F6E"/>
                          </a:solidFill>
                          <a:latin typeface="Calibri"/>
                        </a:rPr>
                        <a:t>0.688</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Final price ÷ initial</a:t>
                      </a:r>
                    </a:p>
                  </a:txBody>
                  <a:tcPr>
                    <a:solidFill>
                      <a:srgbClr val="F7F8FC"/>
                    </a:solidFill>
                  </a:tcPr>
                </a:tc>
                <a:tc>
                  <a:txBody>
                    <a:bodyPr/>
                    <a:lstStyle/>
                    <a:p>
                      <a:r>
                        <a:rPr sz="1100">
                          <a:solidFill>
                            <a:srgbClr val="5B5F6E"/>
                          </a:solidFill>
                          <a:latin typeface="Calibri"/>
                        </a:rPr>
                        <a:t>0.71–1.51×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Lowest premium price vs Poor's budget</a:t>
                      </a:r>
                    </a:p>
                  </a:txBody>
                  <a:tcPr>
                    <a:solidFill>
                      <a:srgbClr val="FFFFFF"/>
                    </a:solidFill>
                  </a:tcPr>
                </a:tc>
                <a:tc>
                  <a:txBody>
                    <a:bodyPr/>
                    <a:lstStyle/>
                    <a:p>
                      <a:r>
                        <a:rPr sz="1100">
                          <a:solidFill>
                            <a:srgbClr val="5B5F6E"/>
                          </a:solidFill>
                          <a:latin typeface="Calibri"/>
                        </a:rPr>
                        <a:t>4.08 vs 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Weekly profit vs fixed price</a:t>
                      </a:r>
                    </a:p>
                  </a:txBody>
                  <a:tcPr>
                    <a:solidFill>
                      <a:srgbClr val="F7F8FC"/>
                    </a:solidFill>
                  </a:tcPr>
                </a:tc>
                <a:tc>
                  <a:txBody>
                    <a:bodyPr/>
                    <a:lstStyle/>
                    <a:p>
                      <a:r>
                        <a:rPr sz="1100">
                          <a:solidFill>
                            <a:srgbClr val="5B5F6E"/>
                          </a:solidFill>
                          <a:latin typeface="Calibri"/>
                        </a:rPr>
                        <a:t>49.5 → 64.3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a:t>
                      </a:r>
                    </a:p>
                  </a:txBody>
                  <a:tcPr>
                    <a:solidFill>
                      <a:srgbClr val="FFFFFF"/>
                    </a:solidFill>
                  </a:tcPr>
                </a:tc>
                <a:tc>
                  <a:txBody>
                    <a:bodyPr/>
                    <a:lstStyle/>
                    <a:p>
                      <a:r>
                        <a:rPr sz="1100">
                          <a:solidFill>
                            <a:srgbClr val="5B5F6E"/>
                          </a:solidFill>
                          <a:latin typeface="Calibri"/>
                        </a:rPr>
                        <a:t>[+12.5, +17.1]</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Slow price reached (optimum 3.00)</a:t>
                      </a:r>
                    </a:p>
                  </a:txBody>
                  <a:tcPr>
                    <a:solidFill>
                      <a:srgbClr val="F7F8FC"/>
                    </a:solidFill>
                  </a:tcPr>
                </a:tc>
                <a:tc>
                  <a:txBody>
                    <a:bodyPr/>
                    <a:lstStyle/>
                    <a:p>
                      <a:r>
                        <a:rPr sz="1100">
                          <a:solidFill>
                            <a:srgbClr val="5B5F6E"/>
                          </a:solidFill>
                          <a:latin typeface="Calibri"/>
                        </a:rPr>
                        <a:t>2.37</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stateful policy learning produce market structures that cannot emerge from myopic bandit optimization? 7a sets the heuristic baseline.</a:t>
            </a:r>
          </a:p>
          <a:p>
            <a:pPr>
              <a:spcAft>
                <a:spcPts val="500"/>
              </a:spcAft>
            </a:pPr>
            <a:r>
              <a:rPr sz="1000" b="1">
                <a:solidFill>
                  <a:srgbClr val="1E2761"/>
                </a:solidFill>
                <a:latin typeface="Calibri"/>
              </a:rPr>
              <a:t>Finding: </a:t>
            </a:r>
            <a:r>
              <a:rPr sz="1000" b="0">
                <a:solidFill>
                  <a:srgbClr val="5B5F6E"/>
                </a:solidFill>
                <a:latin typeface="Calibri"/>
              </a:rPr>
              <a:t>A non-learning heuristic already captures +14.8 profit per week over fixed pricing, CI [+12.5, +17.1], and stops at 2.37 — short of the 3.00 optimum. That gap is what 7b–7d have to win.</a:t>
            </a:r>
          </a:p>
          <a:p>
            <a:pPr>
              <a:spcAft>
                <a:spcPts val="500"/>
              </a:spcAft>
            </a:pPr>
            <a:r>
              <a:rPr sz="1000" b="1">
                <a:solidFill>
                  <a:srgbClr val="1E2761"/>
                </a:solidFill>
                <a:latin typeface="Calibri"/>
              </a:rPr>
              <a:t>Caveat: </a:t>
            </a:r>
            <a:r>
              <a:rPr sz="1000" b="0">
                <a:solidFill>
                  <a:srgbClr val="5B5F6E"/>
                </a:solidFill>
                <a:latin typeface="Calibri"/>
              </a:rPr>
              <a:t>Two rules were rejected first. The specified one — raise if stock ran out, cut if half is left — fired its raise branch 0 times in 330 seller-weeks and collapsed prices to 0.036× initial, fabricating 1,987 Poor purchases at the premium tier. The ungated hill climber drifted a 3-units-a-week stall to 3.5× its price on noise. Since 7b–7d are all graded against 7a, either would have poisoned three gates at once.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7b Multi-Armed Bandit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Context-blind bandit vs the 7a heuristic  ·  git tag: phase7b-validated  ·  1000 seeds (escalated from 30)</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GRADUATE TO 7c</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6</a:t>
            </a:r>
          </a:p>
          <a:p>
            <a:pPr>
              <a:spcAft>
                <a:spcPts val="200"/>
              </a:spcAft>
            </a:pPr>
            <a:r>
              <a:rPr sz="1300" b="1">
                <a:solidFill>
                  <a:srgbClr val="1E2761"/>
                </a:solidFill>
                <a:latin typeface="Calibri"/>
              </a:rPr>
              <a:t>Sellers: </a:t>
            </a:r>
            <a:r>
              <a:rPr sz="1300" b="0">
                <a:solidFill>
                  <a:srgbClr val="5B5F6E"/>
                </a:solidFill>
                <a:latin typeface="Calibri"/>
              </a:rPr>
              <a:t>5 — costs unchanged from 7a; price chosen from 5 fixed arms</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Arms {0.8, 0.9, 1, 1.1, 1.2} × initial price. Slow ceiling 2.40.</a:t>
            </a:r>
          </a:p>
          <a:p>
            <a:pPr>
              <a:spcAft>
                <a:spcPts val="200"/>
              </a:spcAft>
            </a:pPr>
            <a:r>
              <a:rPr sz="1300" b="0">
                <a:solidFill>
                  <a:srgbClr val="5B5F6E"/>
                </a:solidFill>
                <a:latin typeface="Calibri"/>
              </a:rPr>
              <a:t>-  Deliberately context-blind: no buyer-class or environment information.</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Weekly profit as reward; every arm pulled once before any exploiting.</a:t>
            </a:r>
          </a:p>
          <a:p>
            <a:pPr>
              <a:spcAft>
                <a:spcPts val="200"/>
              </a:spcAft>
            </a:pPr>
            <a:r>
              <a:rPr sz="1300" b="0">
                <a:solidFill>
                  <a:srgbClr val="5B5F6E"/>
                </a:solidFill>
                <a:latin typeface="Calibri"/>
              </a:rPr>
              <a:t>Both ε-greedy and UCB1 run — the spec left the choice open.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Robbins (1952), </a:t>
            </a:r>
            <a:r>
              <a:rPr sz="1100" b="0">
                <a:solidFill>
                  <a:srgbClr val="5B5F6E"/>
                </a:solidFill>
                <a:latin typeface="Calibri"/>
              </a:rPr>
              <a:t>“Some Aspects of the Sequential Design of Experiments” (Bull. AMS) — origin of the multi-armed bandit problem.</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ε-greedy profit vs 7a</a:t>
                      </a:r>
                    </a:p>
                  </a:txBody>
                  <a:tcPr>
                    <a:solidFill>
                      <a:srgbClr val="FFFFFF"/>
                    </a:solidFill>
                  </a:tcPr>
                </a:tc>
                <a:tc>
                  <a:txBody>
                    <a:bodyPr/>
                    <a:lstStyle/>
                    <a:p>
                      <a:r>
                        <a:rPr sz="1100">
                          <a:solidFill>
                            <a:srgbClr val="5B5F6E"/>
                          </a:solidFill>
                          <a:latin typeface="Calibri"/>
                        </a:rPr>
                        <a:t>+6.6%</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 margin</a:t>
                      </a:r>
                    </a:p>
                  </a:txBody>
                  <a:tcPr>
                    <a:solidFill>
                      <a:srgbClr val="F7F8FC"/>
                    </a:solidFill>
                  </a:tcPr>
                </a:tc>
                <a:tc>
                  <a:txBody>
                    <a:bodyPr/>
                    <a:lstStyle/>
                    <a:p>
                      <a:r>
                        <a:rPr sz="1100">
                          <a:solidFill>
                            <a:srgbClr val="5B5F6E"/>
                          </a:solidFill>
                          <a:latin typeface="Calibri"/>
                        </a:rPr>
                        <a:t>[+5.9%, +7.4%]</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UCB1 profit vs 7a</a:t>
                      </a:r>
                    </a:p>
                  </a:txBody>
                  <a:tcPr>
                    <a:solidFill>
                      <a:srgbClr val="FFFFFF"/>
                    </a:solidFill>
                  </a:tcPr>
                </a:tc>
                <a:tc>
                  <a:txBody>
                    <a:bodyPr/>
                    <a:lstStyle/>
                    <a:p>
                      <a:r>
                        <a:rPr sz="1100">
                          <a:solidFill>
                            <a:srgbClr val="5B5F6E"/>
                          </a:solidFill>
                          <a:latin typeface="Calibri"/>
                        </a:rPr>
                        <a:t>+10.3%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 margin</a:t>
                      </a:r>
                    </a:p>
                  </a:txBody>
                  <a:tcPr>
                    <a:solidFill>
                      <a:srgbClr val="F7F8FC"/>
                    </a:solidFill>
                  </a:tcPr>
                </a:tc>
                <a:tc>
                  <a:txBody>
                    <a:bodyPr/>
                    <a:lstStyle/>
                    <a:p>
                      <a:r>
                        <a:rPr sz="1100">
                          <a:solidFill>
                            <a:srgbClr val="5B5F6E"/>
                          </a:solidFill>
                          <a:latin typeface="Calibri"/>
                        </a:rPr>
                        <a:t>[+9.5%, +11.0%]</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Class shares vs 7a</a:t>
                      </a:r>
                    </a:p>
                  </a:txBody>
                  <a:tcPr>
                    <a:solidFill>
                      <a:srgbClr val="FFFFFF"/>
                    </a:solidFill>
                  </a:tcPr>
                </a:tc>
                <a:tc>
                  <a:txBody>
                    <a:bodyPr/>
                    <a:lstStyle/>
                    <a:p>
                      <a:r>
                        <a:rPr sz="1100">
                          <a:solidFill>
                            <a:srgbClr val="5B5F6E"/>
                          </a:solidFill>
                          <a:latin typeface="Calibri"/>
                        </a:rPr>
                        <a:t>equivalent</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Slow price reached (optimum 3.00)</a:t>
                      </a:r>
                    </a:p>
                  </a:txBody>
                  <a:tcPr>
                    <a:solidFill>
                      <a:srgbClr val="F7F8FC"/>
                    </a:solidFill>
                  </a:tcPr>
                </a:tc>
                <a:tc>
                  <a:txBody>
                    <a:bodyPr/>
                    <a:lstStyle/>
                    <a:p>
                      <a:r>
                        <a:rPr sz="1100">
                          <a:solidFill>
                            <a:srgbClr val="5B5F6E"/>
                          </a:solidFill>
                          <a:latin typeface="Calibri"/>
                        </a:rPr>
                        <a:t>2.37 vs ceiling 2.40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treating price choice as a bandit problem outperform the 7a heuristic, without using any market context?</a:t>
            </a:r>
          </a:p>
          <a:p>
            <a:pPr>
              <a:spcAft>
                <a:spcPts val="500"/>
              </a:spcAft>
            </a:pPr>
            <a:r>
              <a:rPr sz="1000" b="1">
                <a:solidFill>
                  <a:srgbClr val="1E2761"/>
                </a:solidFill>
                <a:latin typeface="Calibri"/>
              </a:rPr>
              <a:t>Finding: </a:t>
            </a:r>
            <a:r>
              <a:rPr sz="1000" b="0">
                <a:solidFill>
                  <a:srgbClr val="5B5F6E"/>
                </a:solidFill>
                <a:latin typeface="Calibri"/>
              </a:rPr>
              <a:t>Yes on profit, no on structure. Both algorithms clear the ±5% margin — ε-greedy +6.6%, UCB1 +10.3% — while every class-to-tier share stays equivalent to 7a. Myopic optimization raises the seller's own profit without changing the market.</a:t>
            </a:r>
          </a:p>
          <a:p>
            <a:pPr>
              <a:spcAft>
                <a:spcPts val="500"/>
              </a:spcAft>
            </a:pPr>
            <a:r>
              <a:rPr sz="1000" b="1">
                <a:solidFill>
                  <a:srgbClr val="1E2761"/>
                </a:solidFill>
                <a:latin typeface="Calibri"/>
              </a:rPr>
              <a:t>Caveat: </a:t>
            </a:r>
            <a:r>
              <a:rPr sz="1000" b="0">
                <a:solidFill>
                  <a:srgbClr val="5B5F6E"/>
                </a:solidFill>
                <a:latin typeface="Calibri"/>
              </a:rPr>
              <a:t>The bandit stops at 2.37, its arm ceiling, while the profit optimum is 3.00 — exactly Poor's budget. Its binding limit is the fixed local hypothesis space, not the learning rule, and widening the arms to reach the optimum would encode the answer. What moved the result was initialization, not the algorithm: without an initial sweep ε-greedy swings 12.8/week and appears to lose to 7a.</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