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7e-3b Does the Horizon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trade-off known to exist, and a learner sent to find it  ·  git tag: phase7e3b-horizon  ·  train 1000–1119, test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3b NOT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The cell 7e-2 carried: persistent stock, delta = 1.0, L_max = 3.30.</a:t>
            </a:r>
          </a:p>
          <a:p>
            <a:pPr>
              <a:spcAft>
                <a:spcPts val="200"/>
              </a:spcAft>
            </a:pPr>
            <a:r>
              <a:rPr sz="1300" b="0">
                <a:solidFill>
                  <a:srgbClr val="5B5F6E"/>
                </a:solidFill>
                <a:latin typeface="Calibri"/>
              </a:rPr>
              <a:t>-  7e-2 measured a schedule worth +2.6% here before this was built,</a:t>
            </a:r>
          </a:p>
          <a:p>
            <a:pPr>
              <a:spcAft>
                <a:spcPts val="200"/>
              </a:spcAft>
            </a:pPr>
            <a:r>
              <a:rPr sz="1300" b="0">
                <a:solidFill>
                  <a:srgbClr val="5B5F6E"/>
                </a:solidFill>
                <a:latin typeface="Calibri"/>
              </a:rPr>
              <a:t>   so the thing to find is known, priced, and inside the policy class.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7d's Q-network on a 10-week discounted return, with the</a:t>
            </a:r>
          </a:p>
          <a:p>
            <a:pPr>
              <a:spcAft>
                <a:spcPts val="200"/>
              </a:spcAft>
            </a:pPr>
            <a:r>
              <a:rPr sz="1300" b="0">
                <a:solidFill>
                  <a:srgbClr val="5B5F6E"/>
                </a:solidFill>
                <a:latin typeface="Calibri"/>
              </a:rPr>
              <a:t>loyalty stock added to its features. Its module is reused and</a:t>
            </a:r>
          </a:p>
          <a:p>
            <a:pPr>
              <a:spcAft>
                <a:spcPts val="200"/>
              </a:spcAft>
            </a:pPr>
            <a:r>
              <a:rPr sz="1300" b="0">
                <a:solidFill>
                  <a:srgbClr val="5B5F6E"/>
                </a:solidFill>
                <a:latin typeface="Calibri"/>
              </a:rPr>
              <a:t>parameterized, so 7d still trains on exactly its own four features.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the trade-off the learner is sent after.</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7e-2 schedule (attainable)</a:t>
                      </a:r>
                    </a:p>
                  </a:txBody>
                  <a:tcPr>
                    <a:solidFill>
                      <a:srgbClr val="FFFFFF"/>
                    </a:solidFill>
                  </a:tcPr>
                </a:tc>
                <a:tc>
                  <a:txBody>
                    <a:bodyPr/>
                    <a:lstStyle/>
                    <a:p>
                      <a:r>
                        <a:rPr sz="1100">
                          <a:solidFill>
                            <a:srgbClr val="5B5F6E"/>
                          </a:solidFill>
                          <a:latin typeface="Calibri"/>
                        </a:rPr>
                        <a:t>44.3/wk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flat at the oracle price</a:t>
                      </a:r>
                    </a:p>
                  </a:txBody>
                  <a:tcPr>
                    <a:solidFill>
                      <a:srgbClr val="F7F8FC"/>
                    </a:solidFill>
                  </a:tcPr>
                </a:tc>
                <a:tc>
                  <a:txBody>
                    <a:bodyPr/>
                    <a:lstStyle/>
                    <a:p>
                      <a:r>
                        <a:rPr sz="1100">
                          <a:solidFill>
                            <a:srgbClr val="5B5F6E"/>
                          </a:solidFill>
                          <a:latin typeface="Calibri"/>
                        </a:rPr>
                        <a:t>43.2/wk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41.4/wk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Q-network</a:t>
                      </a:r>
                    </a:p>
                  </a:txBody>
                  <a:tcPr>
                    <a:solidFill>
                      <a:srgbClr val="F7F8FC"/>
                    </a:solidFill>
                  </a:tcPr>
                </a:tc>
                <a:tc>
                  <a:txBody>
                    <a:bodyPr/>
                    <a:lstStyle/>
                    <a:p>
                      <a:r>
                        <a:rPr sz="1100">
                          <a:solidFill>
                            <a:srgbClr val="5B5F6E"/>
                          </a:solidFill>
                          <a:latin typeface="Calibri"/>
                        </a:rPr>
                        <a:t>42.3/wk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vs the bandit</a:t>
                      </a:r>
                    </a:p>
                  </a:txBody>
                  <a:tcPr>
                    <a:solidFill>
                      <a:srgbClr val="FFFFFF"/>
                    </a:solidFill>
                  </a:tcPr>
                </a:tc>
                <a:tc>
                  <a:txBody>
                    <a:bodyPr/>
                    <a:lstStyle/>
                    <a:p>
                      <a:r>
                        <a:rPr sz="1100">
                          <a:solidFill>
                            <a:srgbClr val="5B5F6E"/>
                          </a:solidFill>
                          <a:latin typeface="Calibri"/>
                        </a:rPr>
                        <a:t>+2.2%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of the way to the schedule</a:t>
                      </a:r>
                    </a:p>
                  </a:txBody>
                  <a:tcPr>
                    <a:solidFill>
                      <a:srgbClr val="F7F8FC"/>
                    </a:solidFill>
                  </a:tcPr>
                </a:tc>
                <a:tc>
                  <a:txBody>
                    <a:bodyPr/>
                    <a:lstStyle/>
                    <a:p>
                      <a:r>
                        <a:rPr sz="1100">
                          <a:solidFill>
                            <a:srgbClr val="5B5F6E"/>
                          </a:solidFill>
                          <a:latin typeface="Calibri"/>
                        </a:rPr>
                        <a:t>31%</a:t>
                      </a:r>
                    </a:p>
                  </a:txBody>
                  <a:tcPr>
                    <a:solidFill>
                      <a:srgbClr val="F7F8FC"/>
                    </a:solidFill>
                  </a:tcPr>
                </a:tc>
                <a:tc>
                  <a:txBody>
                    <a:bodyPr/>
                    <a:lstStyle/>
                    <a:p>
                      <a:pPr algn="ctr"/>
                      <a:r>
                        <a:rPr sz="1100" b="1">
                          <a:solidFill>
                            <a:srgbClr val="B3262A"/>
                          </a:solidFill>
                          <a:latin typeface="Calibri"/>
                        </a:rPr>
                        <a:t>FAIL</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A sustained investment schedule is known to beat the best standing price here by 2.6%. Can a multi-week learner find it?</a:t>
            </a:r>
          </a:p>
          <a:p>
            <a:pPr>
              <a:spcAft>
                <a:spcPts val="500"/>
              </a:spcAft>
            </a:pPr>
            <a:r>
              <a:rPr sz="1000" b="1">
                <a:solidFill>
                  <a:srgbClr val="1E2761"/>
                </a:solidFill>
                <a:latin typeface="Calibri"/>
              </a:rPr>
              <a:t>Finding: </a:t>
            </a:r>
            <a:r>
              <a:rPr sz="1000" b="0">
                <a:solidFill>
                  <a:srgbClr val="5B5F6E"/>
                </a:solidFill>
                <a:latin typeface="Calibri"/>
              </a:rPr>
              <a:t>The right shape, the right depth, half the duration — and a third of the value. Weeks 0–7 it prices at 2.379 against the hand-found schedule's 2.385; weeks 8–15 it has already returned to 2.635 while the schedule holds at 2.385. It spends 75% of the discount and collects 31% of the gain, because a stock compounds while it is fed. This is 7d's missing sacrifice-then-recover trajectory, appearing for the first time — in the environment built to contain it.</a:t>
            </a:r>
          </a:p>
          <a:p>
            <a:pPr>
              <a:spcAft>
                <a:spcPts val="500"/>
              </a:spcAft>
            </a:pPr>
            <a:r>
              <a:rPr sz="1000" b="1">
                <a:solidFill>
                  <a:srgbClr val="1E2761"/>
                </a:solidFill>
                <a:latin typeface="Calibri"/>
              </a:rPr>
              <a:t>Caveat: </a:t>
            </a:r>
            <a:r>
              <a:rPr sz="1000" b="0">
                <a:solidFill>
                  <a:srgbClr val="5B5F6E"/>
                </a:solidFill>
                <a:latin typeface="Calibri"/>
              </a:rPr>
              <a:t>Gate 3b does not pass: +2.2% is equivalent, not material. And the interval [-0.4%, +4.8%] crosses zero, so the sign of the advantage is not established — 300 seeds would settle it in a minute, but the registered escalation fires only on an interval straddling the materiality boundary, which this one does not. The limitation is reported rather than repaired. Phase 7e's answer: complexity became valuable (gate 2) without becoming learnable — the structure that makes a sophisticated policy worth having is not the structure that makes it findable.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8 — Endogenous Market Structure</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Entry and exit switched on, nothing else changed  ·  git tag: phase8-validated  ·  300 seeds x 110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EMERGENT</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at week 0 — 3 Slow, 2 Shigh — then whoever survives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40 fixed slots, drawn at slot width whatever the occupancy, so</a:t>
            </a:r>
          </a:p>
          <a:p>
            <a:pPr>
              <a:spcAft>
                <a:spcPts val="200"/>
              </a:spcAft>
            </a:pPr>
            <a:r>
              <a:rPr sz="1300" b="0">
                <a:solidFill>
                  <a:srgbClr val="5B5F6E"/>
                </a:solidFill>
                <a:latin typeface="Calibri"/>
              </a:rPr>
              <a:t>   arms with different entry histories stay paired on a seed.</a:t>
            </a:r>
          </a:p>
          <a:p>
            <a:pPr>
              <a:spcAft>
                <a:spcPts val="200"/>
              </a:spcAft>
            </a:pPr>
            <a:r>
              <a:rPr sz="1300" b="0">
                <a:solidFill>
                  <a:srgbClr val="5B5F6E"/>
                </a:solidFill>
                <a:latin typeface="Calibri"/>
              </a:rPr>
              <a:t>-  price_reference frozen at the week-0 configuration for all 110 weeks.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Entry: copy a stall that is making money, after two weeks of mean</a:t>
            </a:r>
          </a:p>
          <a:p>
            <a:pPr>
              <a:spcAft>
                <a:spcPts val="200"/>
              </a:spcAft>
            </a:pPr>
            <a:r>
              <a:rPr sz="1300" b="0">
                <a:solidFill>
                  <a:srgbClr val="5B5F6E"/>
                </a:solidFill>
                <a:latin typeface="Calibri"/>
              </a:rPr>
              <a:t>profit above zero. Exit: capital exhausted, or three losing weeks —</a:t>
            </a:r>
          </a:p>
          <a:p>
            <a:pPr>
              <a:spcAft>
                <a:spcPts val="200"/>
              </a:spcAft>
            </a:pPr>
            <a:r>
              <a:rPr sz="1300" b="0">
                <a:solidFill>
                  <a:srgbClr val="5B5F6E"/>
                </a:solidFill>
                <a:latin typeface="Calibri"/>
              </a:rPr>
              <a:t>both run. Fixed weekly cost swept over 6 / 8 / 10 / 12.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Schelling (1971), </a:t>
            </a:r>
            <a:r>
              <a:rPr sz="1100" b="0">
                <a:solidFill>
                  <a:srgbClr val="5B5F6E"/>
                </a:solidFill>
                <a:latin typeface="Calibri"/>
              </a:rPr>
              <a:t>“Dynamic Models of Segregation” (J. Math. Sociology) — origin of the encoded-vs-emergent question this phase tests.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Premium tier, week 0</a:t>
                      </a:r>
                    </a:p>
                  </a:txBody>
                  <a:tcPr>
                    <a:solidFill>
                      <a:srgbClr val="FFFFFF"/>
                    </a:solidFill>
                  </a:tcPr>
                </a:tc>
                <a:tc>
                  <a:txBody>
                    <a:bodyPr/>
                    <a:lstStyle/>
                    <a:p>
                      <a:r>
                        <a:rPr sz="1100">
                          <a:solidFill>
                            <a:srgbClr val="5B5F6E"/>
                          </a:solidFill>
                          <a:latin typeface="Calibri"/>
                        </a:rPr>
                        <a:t>40% of stalls</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Premium tier, week 110</a:t>
                      </a:r>
                    </a:p>
                  </a:txBody>
                  <a:tcPr>
                    <a:solidFill>
                      <a:srgbClr val="F7F8FC"/>
                    </a:solidFill>
                  </a:tcPr>
                </a:tc>
                <a:tc>
                  <a:txBody>
                    <a:bodyPr/>
                    <a:lstStyle/>
                    <a:p>
                      <a:r>
                        <a:rPr sz="1100">
                          <a:solidFill>
                            <a:srgbClr val="5B5F6E"/>
                          </a:solidFill>
                          <a:latin typeface="Calibri"/>
                        </a:rPr>
                        <a:t>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Sellers at F=6 / F=12</a:t>
                      </a:r>
                    </a:p>
                  </a:txBody>
                  <a:tcPr>
                    <a:solidFill>
                      <a:srgbClr val="FFFFFF"/>
                    </a:solidFill>
                  </a:tcPr>
                </a:tc>
                <a:tc>
                  <a:txBody>
                    <a:bodyPr/>
                    <a:lstStyle/>
                    <a:p>
                      <a:r>
                        <a:rPr sz="1100">
                          <a:solidFill>
                            <a:srgbClr val="5B5F6E"/>
                          </a:solidFill>
                          <a:latin typeface="Calibri"/>
                        </a:rPr>
                        <a:t>24.9 / 12.4</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Churn, streak vs capital</a:t>
                      </a:r>
                    </a:p>
                  </a:txBody>
                  <a:tcPr>
                    <a:solidFill>
                      <a:srgbClr val="F7F8FC"/>
                    </a:solidFill>
                  </a:tcPr>
                </a:tc>
                <a:tc>
                  <a:txBody>
                    <a:bodyPr/>
                    <a:lstStyle/>
                    <a:p>
                      <a:r>
                        <a:rPr sz="1100">
                          <a:solidFill>
                            <a:srgbClr val="5B5F6E"/>
                          </a:solidFill>
                          <a:latin typeface="Calibri"/>
                        </a:rPr>
                        <a:t>2.4x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Volatility vs RI DEM</a:t>
                      </a:r>
                    </a:p>
                  </a:txBody>
                  <a:tcPr>
                    <a:solidFill>
                      <a:srgbClr val="FFFFFF"/>
                    </a:solidFill>
                  </a:tcPr>
                </a:tc>
                <a:tc>
                  <a:txBody>
                    <a:bodyPr/>
                    <a:lstStyle/>
                    <a:p>
                      <a:r>
                        <a:rPr sz="1100">
                          <a:solidFill>
                            <a:srgbClr val="5B5F6E"/>
                          </a:solidFill>
                          <a:latin typeface="Calibri"/>
                        </a:rPr>
                        <a:t>12.7% vs 15.2%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Peak sellers vs capacity</a:t>
                      </a:r>
                    </a:p>
                  </a:txBody>
                  <a:tcPr>
                    <a:solidFill>
                      <a:srgbClr val="F7F8FC"/>
                    </a:solidFill>
                  </a:tcPr>
                </a:tc>
                <a:tc>
                  <a:txBody>
                    <a:bodyPr/>
                    <a:lstStyle/>
                    <a:p>
                      <a:r>
                        <a:rPr sz="1100">
                          <a:solidFill>
                            <a:srgbClr val="5B5F6E"/>
                          </a:solidFill>
                          <a:latin typeface="Calibri"/>
                        </a:rPr>
                        <a:t>28 of 40</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Can repeated micro-level interaction produce macro-level market structure without that structure being programmed in?</a:t>
            </a:r>
          </a:p>
          <a:p>
            <a:pPr>
              <a:spcAft>
                <a:spcPts val="500"/>
              </a:spcAft>
            </a:pPr>
            <a:r>
              <a:rPr sz="1000" b="1">
                <a:solidFill>
                  <a:srgbClr val="1E2761"/>
                </a:solidFill>
                <a:latin typeface="Calibri"/>
              </a:rPr>
              <a:t>Finding: </a:t>
            </a:r>
            <a:r>
              <a:rPr sz="1000" b="0">
                <a:solidFill>
                  <a:srgbClr val="5B5F6E"/>
                </a:solidFill>
                <a:latin typeface="Calibri"/>
              </a:rPr>
              <a:t>Yes. The premium tier is competed out of existence in all eight cells, from 40% of stalls to essentially zero, and no rule anywhere reads a class label — verified by swapping the tier names and getting a bit-identical run. Free entry sets the size and the fixed cost sets the equilibrium: 24.9 sellers at a cost of 6, 12.4 at 12. The exit rule changes the churn and not the destination — the three-week rule turns over 2.4x as many firms and lands within 15% of the same count.</a:t>
            </a:r>
          </a:p>
          <a:p>
            <a:pPr>
              <a:spcAft>
                <a:spcPts val="500"/>
              </a:spcAft>
            </a:pPr>
            <a:r>
              <a:rPr sz="1000" b="1">
                <a:solidFill>
                  <a:srgbClr val="1E2761"/>
                </a:solidFill>
                <a:latin typeface="Calibri"/>
              </a:rPr>
              <a:t>Caveat: </a:t>
            </a:r>
            <a:r>
              <a:rPr sz="1000" b="0">
                <a:solidFill>
                  <a:srgbClr val="5B5F6E"/>
                </a:solidFill>
                <a:latin typeface="Calibri"/>
              </a:rPr>
              <a:t>Emergent is meant narrowly. The mechanism did not encode the outcome, but *why* the premium tier loses was fixed at Phase 2: 70% of buyers hold a budget of 3.0 against its price of 6.0, so it sells to 30% of the market while paying the same rent. The market discovered what the population already made true. Both halves of the registered mechanism were also inoperative and were replaced at the gate — exit fired on week-0 arithmetic in 100% of seeds, and the unmet-demand entry trigger was identically zero across 1,980 seller-weeks.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